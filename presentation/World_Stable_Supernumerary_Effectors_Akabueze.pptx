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da32c27-f6ee-890f-9402-6d867fd89089}">
          <p14:sldIdLst>
            <p14:sldId id="256"/>
          </p14:sldIdLst>
        </p14:section>
        <p14:section name="Problem" id="{9ba60d3f-1158-4c36-3d4e-593354ad0d71}">
          <p14:sldIdLst>
            <p14:sldId id="257"/>
            <p14:sldId id="258"/>
          </p14:sldIdLst>
        </p14:section>
        <p14:section name="Approach &amp; solution" id="{15d09fd8-e8f3-6bb1-482c-59a563289333}">
          <p14:sldIdLst>
            <p14:sldId id="259"/>
            <p14:sldId id="260"/>
            <p14:sldId id="261"/>
          </p14:sldIdLst>
        </p14:section>
        <p14:section name="Trade-offs &amp; challenges" id="{20f28bfe-a4ed-8cbe-dec3-d94de5d41e7e}">
          <p14:sldIdLst>
            <p14:sldId id="262"/>
            <p14:sldId id="263"/>
            <p14:sldId id="264"/>
          </p14:sldIdLst>
        </p14:section>
        <p14:section name="Impact" id="{ce74d203-5e2f-81ff-b4ae-cde06ee85383}">
          <p14:sldIdLst>
            <p14:sldId id="265"/>
          </p14:sldIdLst>
        </p14:section>
        <p14:section name="Close" id="{a3936084-d765-dfde-642a-e795b55618ec}">
          <p14:sldIdLst>
            <p14:sldId id="266"/>
          </p14:sldIdLst>
        </p14:section>
        <p14:section name="Backup" id="{463e4463-aa0a-5e54-7d26-8bc31f0cd4a0}">
          <p14:sldIdLst>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1" i="0" u="none" strike="noStrike">
                <a:solidFill>
                  <a:srgbClr val="5B6770"/>
                </a:solidFill>
                <a:latin typeface="+mn-lt"/>
              </a:defRPr>
            </a:pPr>
            <a:r>
              <a:rPr sz="1600" b="1" i="0" u="none" strike="noStrike">
                <a:solidFill>
                  <a:srgbClr val="5B6770"/>
                </a:solidFill>
                <a:latin typeface="+mn-lt"/>
              </a:rPr>
              <a:t>Motion removed, by walking speed</a:t>
            </a:r>
          </a:p>
        </c:rich>
      </c:tx>
      <c:layout/>
      <c:overlay val="0"/>
    </c:title>
    <c:autoTitleDeleted val="0"/>
    <c:plotArea>
      <c:layout/>
      <c:barChart>
        <c:barDir val="col"/>
        <c:grouping val="clustered"/>
        <c:varyColors val="0"/>
        <c:ser>
          <c:idx val="0"/>
          <c:order val="0"/>
          <c:tx>
            <c:strRef>
              <c:f>Sheet1!$B$1</c:f>
              <c:strCache>
                <c:ptCount val="1"/>
                <c:pt idx="0">
                  <c:v>Motion removed</c:v>
                </c:pt>
              </c:strCache>
            </c:strRef>
          </c:tx>
          <c:spPr>
            <a:solidFill>
              <a:srgbClr val="0091D4"/>
            </a:solidFill>
            <a:effectLst/>
          </c:spPr>
          <c:invertIfNegative val="0"/>
          <c:dLbls>
            <c:numFmt formatCode="0&quot;%&quot;" sourceLinked="0"/>
            <c:txPr>
              <a:bodyPr/>
              <a:lstStyle/>
              <a:p>
                <a:pPr>
                  <a:defRPr b="1" i="0" strike="noStrike" sz="2800" u="none">
                    <a:solidFill>
                      <a:srgbClr val="002147"/>
                    </a:solidFill>
                    <a:latin typeface="+mn-lt"/>
                  </a:defRPr>
                </a:pPr>
              </a:p>
            </c:txPr>
            <c:showLegendKey val="0"/>
            <c:showVal val="1"/>
            <c:showCatName val="0"/>
            <c:showSerName val="0"/>
            <c:showPercent val="0"/>
            <c:showBubbleSize val="0"/>
            <c:showLeaderLines val="0"/>
          </c:dLbls>
          <c:cat>
            <c:multiLvlStrRef>
              <c:f>Sheet1!$A$2:$A$4</c:f>
              <c:multiLvlStrCache>
                <c:ptCount val="3"/>
                <c:lvl>
                  <c:pt idx="0">
                    <c:v>0.5 m/s</c:v>
                  </c:pt>
                  <c:pt idx="1">
                    <c:v>1.0 m/s</c:v>
                  </c:pt>
                  <c:pt idx="2">
                    <c:v>1.5 m/s</c:v>
                  </c:pt>
                </c:lvl>
              </c:multiLvlStrCache>
            </c:multiLvlStrRef>
          </c:cat>
          <c:val>
            <c:numRef>
              <c:f>Sheet1!$B$2:$B$4</c:f>
              <c:numCache>
                <c:formatCode>General</c:formatCode>
                <c:ptCount val="3"/>
                <c:pt idx="0">
                  <c:v>71</c:v>
                </c:pt>
                <c:pt idx="1">
                  <c:v>63</c:v>
                </c:pt>
                <c:pt idx="2">
                  <c:v>56</c:v>
                </c:pt>
              </c:numCache>
            </c:numRef>
          </c:val>
        </c:ser>
        <c:dLbls>
          <c:numFmt formatCode="0&quot;%&quot;" sourceLinked="0"/>
          <c:txPr>
            <a:bodyPr/>
            <a:lstStyle/>
            <a:p>
              <a:pPr>
                <a:defRPr b="1" i="0" strike="noStrike" sz="2800" u="none">
                  <a:solidFill>
                    <a:srgbClr val="00214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AA3A8"/>
            </a:solidFill>
            <a:prstDash val="solid"/>
            <a:round/>
          </a:ln>
        </c:spPr>
        <c:txPr>
          <a:bodyPr/>
          <a:lstStyle/>
          <a:p>
            <a:pPr>
              <a:defRPr sz="1800" b="0" i="0" u="none" strike="noStrike">
                <a:solidFill>
                  <a:srgbClr val="1B26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0:35] Imagine wearing two extra robot arms on your back and asking them to hold something still while you walk. Every step moves them six to seven centimetres. That was my MSc project at Imperial, in the MUVE Lab. I'm Christian Akabueze. In this clip the wearer twists about sixty degrees: the elbows swing, the hands stay close to where they were. I'll show you how it works, how well it works on real people, and what limits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1:15] Here's a participant on the treadmill. The two arms are Kinova Gen3 robots, seven joints each, mounted on a backpack, which I'll call the mount. Vicon motion-capture cameras track the backpack in the room. The problem is walking. Every step moves the backpack, and everything attached to it. If the arms were simply locked, the hands would move 63 to 68 millimetres RMS, at every walking speed we tried. And steps come at roughly 1.8 per second, so this is fast, repeating motion, not slow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1:45] So the goal is to hold each hand fixed in the room, not on the body. This is my simulation with the controller on: four positions of the backpack in one cycle, with the motion enlarged three times. Panel e averages the whole cycle. The backpack and upper arms blur, because they move. The hands stay sharp, because the controller cancels that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3:05] The approach is a chain of coordinate frames. Vicon measures the backpack's pose in the room. The arm base sits at a fixed, known offset on the backpack. The joint angles, through forward kinematics, place the hand relative to the base. Compose the three and I know where the hand is in the room, and how each joint moves it: the Jacobian. If you work in 3D, it's the same rigid-body maths as tracking a camera on a moving rig. Then the law. The part in brackets is a PD controller, proportional plus derivative, on the error in the room frame: how far the hand is from its spot, and how fast it is drifting. A damped pseudo-inverse of the Jacobian turns that into joint speeds, and the damping keeps it calm near awkward poses. The spare seventh joint drifts toward mid-range without moving the hand. A safety filter can also override a command that would bring the arm too close to the wearer. It was switched off in the simulation runs I'll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4:00] Before hardware, I tested my controller in MuJoCo, a physics engine. The backpack follows a walking-like motion at 1.8 hertz. Same motion three times: arms locked, my controller, and the controller plus feedforward. Watch the red target sphere in the middle row. Over eight seconds, locked arms leave 31 millimetres of error. The controller brings it to 6.7. Feedforward, which tells the controller how the backpack is moving, gets it to 2.6. In these runs the safety filter was switched off, so the numbers show the controller alone. The counters on the clip only cover the first two seconds, so they differ a little. Keep in mind: feedforward needs the backpack's velocity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5:15] Then real people. Seven participants wore the arms on an instrumented treadmill at 0.5, 1 and 1.5 metres per second. To be precise about who did what: these trials ran the lab's existing controller, at 400 hertz. It estimates the backpack's pose and velocity from Vicon with a Kalman filter. It has no feedforward. My own C++ controller wasn't used in these trials. The analysis is mine. On the left, one trial replayed: grey is where the hand would have gone with the arm locked; blue is where it went. To score a trial, I compare the two. I checked the locked model on arms that weren't being controlled: it's right to within half a percent. On the right: 71 percent of the motion removed at slow walking, 63 at normal speed, 56 at fast, means over six participants. That's over 128 walking trials, mostly one arm at a time. And on a platform that pitched and swayed, it removed 78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6:20] The lab's controller isn't public, so I wrote my own real-time controller in C++, in the HumanSL_MAIN repository. The trade-off I designed around: planning is slow and unpredictable, but the control loop has to run every 2 milliseconds without fail. So Vicon arrives at 100 hertz on its own thread and is handed over through a wait-free slot; the loop never waits on a lock. The 500 hertz core runs the kinematics and the law, clamps and integrates the joint speeds, and hands the commands to Kinova's real-time interface for both arms. Planning, with GPMP2, runs on a separate worker thread, and every plan passes one validator before it can run. A MuJoCo twin runs the same core, so I can test it without the robot. The cost: a new plan arrives a little later, because it has to pass the validator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7:05] Back to the trials, and the main challenge. Slow sway was mostly cancelled, but the bounce of each step was harder. The obvious fix: turn up the velocity gain. In a pilot with one wearer I raised it from 0.8 to 2.6. The model predicted the response near 1 hertz would fall by 38 percent. It fell by 9. And across six people, the measured amplitude matches a model with no velocity term at all. So the velocity term was barely acting. More tuning would not fix that; I needed to know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8:25] I traced the velocity signal end to end. The Kalman filter's estimate of the backpack's velocity lags the real motion by 36 to 46 milliseconds. The measurement is already about 10 milliseconds old when it arrives, and the joints take about 15 to respond. In total, the controller acts on a velocity that is 61 to 71 milliseconds late. Why does that matter so much? A late estimate has the right size but the wrong timing, so subtracting it does not cancel the true velocity. What's left over is two times the sine of half the phase lag, and the phase lag is omega times d. Steps come at 1.8 hertz. At 60 milliseconds late, the velocity is off by two-thirds of its own size. And this is not a fit: with the measured delay and nothing fitted, the model matches the hardware better than the no-velocity model in six of six people. In simulation, past about 30 milliseconds of delay, the velocity term does worse than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9:10] So, the impact. On real arms worn by seven people, the arm removes about two-thirds of walking motion: 56 to 71 percent, depending on speed. When tuning stopped helping, I found the cause in the data: a 61 to 71 millisecond delay. That sets the next step. First a faster velocity estimate, then feedforward on the real arms. In simulation, with no delay, feedforward cut the error from 6.7 to 2.6 millimetres. Confirming the delay directly means changing the estimator on hardware, which is the next experiment. The lesson that transfers beyond robotics: measure the latency budget before you tune the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9:20] Thank you. Everything is on GitHub: results, simulation and figures in msc_project, and the C++ controller in HumanSL_MAIN.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The per-cycle loop as implemented in simulation, 500 times a second. Dashed orange is feedforward, simulation only. The safety-filter step keeps 13 spheres per arm outside a cylinder around the wearer; it was inactive in the reported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Frequency response at 1 metre per second, median of six participants. Blue is measured. The dotted model with no velocity term sits on it; the dash-dot model with the logged gains predicts more rejection than the arm reached; green adds a late velocity signal with the delay fitted per person, 65 to 90 milliseconds; plugging in the measured 61 to 71 instead gives almost the same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Simulation, right arm at 1.8 hertz, with the backpack-velocity signal delayed on purpose. Each 10 milliseconds of delay costs the feedforward about 1 millimetre. Past about 30 milliseconds the velocity-gain term alone is worse than no velocity term; at 60 milliseconds both sit at 8.2 to 8.6 millimetres. Grey band: the 61 to 71 milliseconds measured on hardware. The simulation's gains are stiffer than the hardware's, so compare the trend, not the millimetres.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Three limits from the trial data. In 12 of 128 walking trials the motion planner moved the reference more than 100 millimetres from the target, and those trials had the most hand motion, so that is a planner setting. At 1.5 metres per second a commanded joint speed was at its limit 32 percent of the time, mostly in the wrist, against about 10 percent at slower speeds. And the hand sat a constant 18 to 21 millimetres from its goal; that offset follows the disagreement between the arm's kinematic model and Vicon, so it is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Five participants also stood on the treadmill platform while it pitched and swayed. The arm removed 78 percent of the motion. Pitch steps moved the locked point 94 millimetres RMS and the hand 14; sway steps 81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The rig: two Kinova Gen3 seven-joint arms on a backpack, with Vicon cameras around the instrumented treadmill.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2147"/>
        </a:solidFill>
      </p:bgPr>
    </p:bg>
    <p:spTree>
      <p:nvGrpSpPr>
        <p:cNvPr id="1" name=""/>
        <p:cNvGrpSpPr/>
        <p:nvPr/>
      </p:nvGrpSpPr>
      <p:grpSpPr>
        <a:xfrm>
          <a:off x="0" y="0"/>
          <a:ext cx="0" cy="0"/>
          <a:chOff x="0" y="0"/>
          <a:chExt cx="0" cy="0"/>
        </a:xfrm>
      </p:grpSpPr>
      <p:sp>
        <p:nvSpPr>
          <p:cNvPr id="2" name="Text 0"/>
          <p:cNvSpPr/>
          <p:nvPr/>
        </p:nvSpPr>
        <p:spPr>
          <a:xfrm>
            <a:off x="8534095" y="384048"/>
            <a:ext cx="3108960" cy="365760"/>
          </a:xfrm>
          <a:prstGeom prst="rect">
            <a:avLst/>
          </a:prstGeom>
          <a:noFill/>
          <a:ln/>
        </p:spPr>
        <p:txBody>
          <a:bodyPr wrap="square" lIns="0" tIns="0" rIns="0" bIns="0" rtlCol="0" anchor="ctr"/>
          <a:lstStyle/>
          <a:p>
            <a:pPr algn="r" indent="0" marL="0">
              <a:buNone/>
            </a:pPr>
            <a:r>
              <a:rPr lang="en-US" sz="1600" b="1" dirty="0">
                <a:solidFill>
                  <a:schemeClr val="bg1"/>
                </a:solidFill>
                <a:latin typeface="Arial" pitchFamily="34" charset="0"/>
                <a:ea typeface="Arial" pitchFamily="34" charset="-122"/>
                <a:cs typeface="Arial" pitchFamily="34" charset="-120"/>
              </a:rPr>
              <a:t>Imperial College London</a:t>
            </a:r>
            <a:endParaRPr lang="en-US" sz="1600" dirty="0"/>
          </a:p>
        </p:txBody>
      </p:sp>
      <p:sp>
        <p:nvSpPr>
          <p:cNvPr id="3" name="Text 1"/>
          <p:cNvSpPr/>
          <p:nvPr>
            <p:ph idx="101" type="title" hasCustomPrompt="1"/>
          </p:nvPr>
        </p:nvSpPr>
        <p:spPr>
          <a:xfrm>
            <a:off x="548640" y="914400"/>
            <a:ext cx="11094415" cy="100584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34095" y="384048"/>
            <a:ext cx="3108960" cy="365760"/>
          </a:xfrm>
          <a:prstGeom prst="rect">
            <a:avLst/>
          </a:prstGeom>
          <a:noFill/>
          <a:ln/>
        </p:spPr>
        <p:txBody>
          <a:bodyPr wrap="square" lIns="0" tIns="0" rIns="0" bIns="0" rtlCol="0" anchor="ctr"/>
          <a:lstStyle/>
          <a:p>
            <a:pPr algn="r" indent="0" marL="0">
              <a:buNone/>
            </a:pPr>
            <a:r>
              <a:rPr lang="en-US" sz="1600" b="1" dirty="0">
                <a:solidFill>
                  <a:schemeClr val="tx2"/>
                </a:solidFill>
                <a:latin typeface="Arial" pitchFamily="34" charset="0"/>
                <a:ea typeface="Arial" pitchFamily="34" charset="-122"/>
                <a:cs typeface="Arial" pitchFamily="34" charset="-120"/>
              </a:rPr>
              <a:t>Imperial College London</a:t>
            </a:r>
            <a:endParaRPr lang="en-US" sz="1600" dirty="0"/>
          </a:p>
        </p:txBody>
      </p:sp>
      <p:sp>
        <p:nvSpPr>
          <p:cNvPr id="3" name="Text 1"/>
          <p:cNvSpPr/>
          <p:nvPr>
            <p:ph idx="101" type="title" hasCustomPrompt="1"/>
          </p:nvPr>
        </p:nvSpPr>
        <p:spPr>
          <a:xfrm>
            <a:off x="548640" y="868680"/>
            <a:ext cx="11094415" cy="73152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02147"/>
        </a:solidFill>
      </p:bgPr>
    </p:bg>
    <p:spTree>
      <p:nvGrpSpPr>
        <p:cNvPr id="1" name=""/>
        <p:cNvGrpSpPr/>
        <p:nvPr/>
      </p:nvGrpSpPr>
      <p:grpSpPr>
        <a:xfrm>
          <a:off x="0" y="0"/>
          <a:ext cx="0" cy="0"/>
          <a:chOff x="0" y="0"/>
          <a:chExt cx="0" cy="0"/>
        </a:xfrm>
      </p:grpSpPr>
      <p:sp>
        <p:nvSpPr>
          <p:cNvPr id="2" name="Text 0"/>
          <p:cNvSpPr/>
          <p:nvPr/>
        </p:nvSpPr>
        <p:spPr>
          <a:xfrm>
            <a:off x="8534095" y="384048"/>
            <a:ext cx="3108960" cy="365760"/>
          </a:xfrm>
          <a:prstGeom prst="rect">
            <a:avLst/>
          </a:prstGeom>
          <a:noFill/>
          <a:ln/>
        </p:spPr>
        <p:txBody>
          <a:bodyPr wrap="square" lIns="0" tIns="0" rIns="0" bIns="0" rtlCol="0" anchor="ctr"/>
          <a:lstStyle/>
          <a:p>
            <a:pPr algn="r" indent="0" marL="0">
              <a:buNone/>
            </a:pPr>
            <a:r>
              <a:rPr lang="en-US" sz="1600" b="1" dirty="0">
                <a:solidFill>
                  <a:schemeClr val="bg1"/>
                </a:solidFill>
                <a:latin typeface="Arial" pitchFamily="34" charset="0"/>
                <a:ea typeface="Arial" pitchFamily="34" charset="-122"/>
                <a:cs typeface="Arial" pitchFamily="34" charset="-120"/>
              </a:rPr>
              <a:t>Imperial College London</a:t>
            </a:r>
            <a:endParaRPr lang="en-US" sz="1600" dirty="0"/>
          </a:p>
        </p:txBody>
      </p:sp>
      <p:sp>
        <p:nvSpPr>
          <p:cNvPr id="3" name="Text 1"/>
          <p:cNvSpPr/>
          <p:nvPr>
            <p:ph idx="101" type="title" hasCustomPrompt="1"/>
          </p:nvPr>
        </p:nvSpPr>
        <p:spPr>
          <a:xfrm>
            <a:off x="548640" y="868680"/>
            <a:ext cx="11094415" cy="914400"/>
          </a:xfrm>
          <a:prstGeom prst="rect">
            <a:avLst/>
          </a:prstGeom>
          <a:noFill/>
          <a:ln/>
        </p:spPr>
        <p:txBody>
          <a:bodyPr wrap="square" rtlCol="0"/>
          <a:lstStyle>
            <a:lvl1pPr algn="ctr" indent="0" marL="0">
              <a:buNone/>
              <a:defRPr lang="en-US" sz="4400" b="1" dirty="0">
                <a:solidFill>
                  <a:schemeClr val="bg1"/>
                </a:solidFill>
                <a:latin typeface="Arial" pitchFamily="34" charset="0"/>
                <a:ea typeface="Arial" pitchFamily="34" charset="-122"/>
                <a:cs typeface="Arial"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fechachris4/msc_project" TargetMode="External"/><Relationship Id="rId1" Type="http://schemas.openxmlformats.org/officeDocument/2006/relationships/image" Target="../media/image-1-1.gif"/><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gif"/><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fechachris4/msc_project" TargetMode="External"/><Relationship Id="rId3" Type="http://schemas.openxmlformats.org/officeDocument/2006/relationships/hyperlink" Target="https://github.com/fechachris4/msc_project" TargetMode="External"/><Relationship Id="rId5" Type="http://schemas.openxmlformats.org/officeDocument/2006/relationships/hyperlink" Target="https://github.com/fechachris4/HumanSL_MAIN" TargetMode="External"/><Relationship Id="rId6" Type="http://schemas.openxmlformats.org/officeDocument/2006/relationships/hyperlink" Target="https://github.com/fechachris4/HumanSL_MAIN" TargetMode="External"/><Relationship Id="rId7" Type="http://schemas.openxmlformats.org/officeDocument/2006/relationships/hyperlink" Target="mailto:fecha412@gmail.com" TargetMode="External"/><Relationship Id="rId1" Type="http://schemas.openxmlformats.org/officeDocument/2006/relationships/image" Target="../media/image-11-1.png"/><Relationship Id="rId4" Type="http://schemas.openxmlformats.org/officeDocument/2006/relationships/image" Target="../media/image-11-2.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914400"/>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World-Stable Supernumerary Effectors for Human</a:t>
            </a:r>
            <a:endParaRPr lang="en-US" sz="3200" dirty="0"/>
          </a:p>
          <a:p>
            <a:pPr algn="l" indent="0" marL="0">
              <a:buNone/>
            </a:pPr>
            <a:r>
              <a:rPr lang="en-US" sz="3200" b="1" dirty="0">
                <a:solidFill>
                  <a:schemeClr val="bg1"/>
                </a:solidFill>
                <a:latin typeface="Arial" pitchFamily="34" charset="0"/>
                <a:ea typeface="Arial" pitchFamily="34" charset="-122"/>
                <a:cs typeface="Arial" pitchFamily="34" charset="-120"/>
              </a:rPr>
              <a:t>Augmentation Under Locomotion-Scale Base Motion</a:t>
            </a:r>
            <a:endParaRPr lang="en-US" sz="3200" dirty="0"/>
          </a:p>
        </p:txBody>
      </p:sp>
      <p:sp>
        <p:nvSpPr>
          <p:cNvPr id="3" name="Subtitle"/>
          <p:cNvSpPr txBox="1"/>
          <p:nvPr/>
        </p:nvSpPr>
        <p:spPr>
          <a:xfrm>
            <a:off x="548640" y="2075688"/>
            <a:ext cx="11094415" cy="411480"/>
          </a:xfrm>
          <a:prstGeom prst="rect">
            <a:avLst/>
          </a:prstGeom>
          <a:noFill/>
          <a:ln/>
        </p:spPr>
        <p:txBody>
          <a:bodyPr wrap="square" lIns="0" tIns="0" rIns="0" bIns="0" rtlCol="0" anchor="t"/>
          <a:lstStyle/>
          <a:p>
            <a:pPr indent="0" marL="0">
              <a:buNone/>
            </a:pPr>
            <a:r>
              <a:rPr lang="en-US" sz="2400" dirty="0">
                <a:solidFill>
                  <a:schemeClr val="bg1"/>
                </a:solidFill>
              </a:rPr>
              <a:t>Keeping a wearable robot's hands still while the wearer walks</a:t>
            </a:r>
            <a:endParaRPr lang="en-US" sz="2400" dirty="0"/>
          </a:p>
        </p:txBody>
      </p:sp>
      <p:sp>
        <p:nvSpPr>
          <p:cNvPr id="4" name="Frame hw_turn.gif"/>
          <p:cNvSpPr/>
          <p:nvPr/>
        </p:nvSpPr>
        <p:spPr>
          <a:xfrm>
            <a:off x="6659575" y="2633015"/>
            <a:ext cx="4983480" cy="3448202"/>
          </a:xfrm>
          <a:prstGeom prst="roundRect">
            <a:avLst>
              <a:gd name="adj" fmla="val 3182"/>
            </a:avLst>
          </a:prstGeom>
          <a:solidFill>
            <a:schemeClr val="bg1"/>
          </a:solidFill>
          <a:ln w="9525">
            <a:solidFill>
              <a:srgbClr val="FFFFFF"/>
            </a:solidFill>
            <a:prstDash val="solid"/>
          </a:ln>
          <a:effectLst>
            <a:outerShdw sx="100000" sy="100000" kx="0" ky="0" algn="bl" rotWithShape="0" blurRad="127000" dist="38100" dir="5400000">
              <a:srgbClr val="000000">
                <a:alpha val="18000"/>
              </a:srgbClr>
            </a:outerShdw>
          </a:effectLst>
        </p:spPr>
      </p:sp>
      <p:pic>
        <p:nvPicPr>
          <p:cNvPr id="5" name="hw_turn.gif" descr="The wearer twists his torso; the robot hands stay close to where they were">    </p:cNvPr>
          <p:cNvPicPr>
            <a:picLocks noChangeAspect="1"/>
          </p:cNvPicPr>
          <p:nvPr/>
        </p:nvPicPr>
        <p:blipFill>
          <a:blip r:embed="rId1"/>
          <a:stretch>
            <a:fillRect/>
          </a:stretch>
        </p:blipFill>
        <p:spPr>
          <a:xfrm>
            <a:off x="6732727" y="2706167"/>
            <a:ext cx="4837176" cy="3301898"/>
          </a:xfrm>
          <a:prstGeom prst="rect">
            <a:avLst/>
          </a:prstGeom>
        </p:spPr>
      </p:pic>
      <p:sp>
        <p:nvSpPr>
          <p:cNvPr id="6" name="Caption"/>
          <p:cNvSpPr txBox="1"/>
          <p:nvPr/>
        </p:nvSpPr>
        <p:spPr>
          <a:xfrm>
            <a:off x="6659575" y="6172657"/>
            <a:ext cx="4983480" cy="320040"/>
          </a:xfrm>
          <a:prstGeom prst="rect">
            <a:avLst/>
          </a:prstGeom>
          <a:noFill/>
          <a:ln/>
        </p:spPr>
        <p:txBody>
          <a:bodyPr wrap="square" lIns="0" tIns="0" rIns="0" bIns="0" rtlCol="0" anchor="t"/>
          <a:lstStyle/>
          <a:p>
            <a:pPr indent="0" marL="0">
              <a:buNone/>
            </a:pPr>
            <a:r>
              <a:rPr lang="en-US" sz="1400" dirty="0">
                <a:solidFill>
                  <a:schemeClr val="bg2"/>
                </a:solidFill>
              </a:rPr>
              <a:t>Watch the hands, not the elbows.</a:t>
            </a:r>
            <a:endParaRPr lang="en-US" sz="1400" dirty="0"/>
          </a:p>
        </p:txBody>
      </p:sp>
      <p:sp>
        <p:nvSpPr>
          <p:cNvPr id="7" name="Presenter"/>
          <p:cNvSpPr txBox="1"/>
          <p:nvPr/>
        </p:nvSpPr>
        <p:spPr>
          <a:xfrm>
            <a:off x="548640" y="3351276"/>
            <a:ext cx="5745175" cy="1188720"/>
          </a:xfrm>
          <a:prstGeom prst="rect">
            <a:avLst/>
          </a:prstGeom>
          <a:noFill/>
          <a:ln/>
        </p:spPr>
        <p:txBody>
          <a:bodyPr wrap="square" lIns="0" tIns="0" rIns="0" bIns="0" rtlCol="0" anchor="t"/>
          <a:lstStyle/>
          <a:p>
            <a:pPr indent="0" marL="0">
              <a:spcAft>
                <a:spcPts val="400"/>
              </a:spcAft>
              <a:buNone/>
            </a:pPr>
            <a:r>
              <a:rPr lang="en-US" sz="2400" b="1" dirty="0">
                <a:solidFill>
                  <a:schemeClr val="bg1"/>
                </a:solidFill>
              </a:rPr>
              <a:t>Christian Akabueze</a:t>
            </a:r>
            <a:endParaRPr lang="en-US" sz="1800" dirty="0"/>
          </a:p>
          <a:p>
            <a:pPr indent="0" marL="0">
              <a:spcAft>
                <a:spcPts val="400"/>
              </a:spcAft>
              <a:buNone/>
            </a:pPr>
            <a:r>
              <a:rPr lang="en-US" sz="2000" dirty="0">
                <a:solidFill>
                  <a:schemeClr val="bg2"/>
                </a:solidFill>
              </a:rPr>
              <a:t>MSc Human and Biological Robotics</a:t>
            </a:r>
            <a:endParaRPr lang="en-US" sz="1800" dirty="0"/>
          </a:p>
          <a:p>
            <a:pPr indent="0" marL="0">
              <a:spcAft>
                <a:spcPts val="400"/>
              </a:spcAft>
              <a:buNone/>
            </a:pPr>
            <a:r>
              <a:rPr lang="en-US" sz="2000" dirty="0">
                <a:solidFill>
                  <a:schemeClr val="bg2"/>
                </a:solidFill>
              </a:rPr>
              <a:t>Imperial College London · MUVE Lab · 2026</a:t>
            </a:r>
            <a:endParaRPr lang="en-US" sz="1800" dirty="0"/>
          </a:p>
        </p:txBody>
      </p:sp>
      <p:sp>
        <p:nvSpPr>
          <p:cNvPr id="8" name="GitHub link"/>
          <p:cNvSpPr txBox="1"/>
          <p:nvPr/>
        </p:nvSpPr>
        <p:spPr>
          <a:xfrm>
            <a:off x="548640" y="5042916"/>
            <a:ext cx="5745175" cy="320040"/>
          </a:xfrm>
          <a:prstGeom prst="rect">
            <a:avLst/>
          </a:prstGeom>
          <a:noFill/>
          <a:ln/>
        </p:spPr>
        <p:txBody>
          <a:bodyPr wrap="square" lIns="0" tIns="0" rIns="0" bIns="0" rtlCol="0" anchor="t"/>
          <a:lstStyle/>
          <a:p>
            <a:pPr indent="0" marL="0">
              <a:buNone/>
            </a:pPr>
            <a:r>
              <a:rPr lang="en-US" sz="1800" u="sng" dirty="0">
                <a:solidFill>
                  <a:schemeClr val="accent2"/>
                </a:solidFill>
                <a:hlinkClick r:id="rId2" invalidUrl="" action="" tgtFrame="" tooltip="Project repository" history="1" highlightClick="0" endSnd="0">
                  <a:extLst>
                    <a:ext uri="{A12FA001-AC4F-418D-AE19-62706E023703}">
                      <ahyp:hlinkClr xmlns:ahyp="http://schemas.microsoft.com/office/drawing/2018/hyperlinkcolor" val="tx"/>
                    </a:ext>
                  </a:extLst>
                </a:hlinkClick>
              </a:rPr>
              <a:t>github.com/fechachris4/msc_project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402336"/>
            <a:ext cx="1338682"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PROBLEM</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Every step moves your extra hands</a:t>
            </a:r>
            <a:endParaRPr lang="en-US" sz="3200" dirty="0"/>
          </a:p>
        </p:txBody>
      </p:sp>
      <p:sp>
        <p:nvSpPr>
          <p:cNvPr id="4" name="Frame hw_walk.gif"/>
          <p:cNvSpPr/>
          <p:nvPr/>
        </p:nvSpPr>
        <p:spPr>
          <a:xfrm>
            <a:off x="548640" y="1755648"/>
            <a:ext cx="2673747" cy="4645152"/>
          </a:xfrm>
          <a:prstGeom prst="roundRect">
            <a:avLst>
              <a:gd name="adj" fmla="val 4104"/>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5" name="hw_walk.gif" descr="A participant walking on the treadmill with both arms on">    </p:cNvPr>
          <p:cNvPicPr>
            <a:picLocks noChangeAspect="1"/>
          </p:cNvPicPr>
          <p:nvPr/>
        </p:nvPicPr>
        <p:blipFill>
          <a:blip r:embed="rId1"/>
          <a:stretch>
            <a:fillRect/>
          </a:stretch>
        </p:blipFill>
        <p:spPr>
          <a:xfrm>
            <a:off x="621792" y="1828800"/>
            <a:ext cx="2527443" cy="4498848"/>
          </a:xfrm>
          <a:prstGeom prst="rect">
            <a:avLst/>
          </a:prstGeom>
        </p:spPr>
      </p:pic>
      <p:sp>
        <p:nvSpPr>
          <p:cNvPr id="6" name="Caption"/>
          <p:cNvSpPr txBox="1"/>
          <p:nvPr/>
        </p:nvSpPr>
        <p:spPr>
          <a:xfrm>
            <a:off x="4045347" y="6108192"/>
            <a:ext cx="7597709" cy="320040"/>
          </a:xfrm>
          <a:prstGeom prst="rect">
            <a:avLst/>
          </a:prstGeom>
          <a:noFill/>
          <a:ln/>
        </p:spPr>
        <p:txBody>
          <a:bodyPr wrap="square" lIns="0" tIns="0" rIns="0" bIns="0" rtlCol="0" anchor="t"/>
          <a:lstStyle/>
          <a:p>
            <a:pPr indent="0" marL="0">
              <a:buNone/>
            </a:pPr>
            <a:r>
              <a:rPr lang="en-US" sz="1400" dirty="0">
                <a:solidFill>
                  <a:schemeClr val="accent4"/>
                </a:solidFill>
              </a:rPr>
              <a:t>Walking on the treadmill, both arms on.</a:t>
            </a:r>
            <a:endParaRPr lang="en-US" sz="1400" dirty="0"/>
          </a:p>
        </p:txBody>
      </p:sp>
      <p:sp>
        <p:nvSpPr>
          <p:cNvPr id="7" name="Stat 1"/>
          <p:cNvSpPr txBox="1"/>
          <p:nvPr/>
        </p:nvSpPr>
        <p:spPr>
          <a:xfrm>
            <a:off x="4045347" y="2478024"/>
            <a:ext cx="7597709" cy="1051560"/>
          </a:xfrm>
          <a:prstGeom prst="rect">
            <a:avLst/>
          </a:prstGeom>
          <a:noFill/>
          <a:ln/>
        </p:spPr>
        <p:txBody>
          <a:bodyPr wrap="square" lIns="0" tIns="0" rIns="0" bIns="0" rtlCol="0" anchor="ctr"/>
          <a:lstStyle/>
          <a:p>
            <a:pPr indent="0" marL="0">
              <a:buNone/>
            </a:pPr>
            <a:r>
              <a:rPr lang="en-US" sz="8000" b="1" dirty="0">
                <a:solidFill>
                  <a:schemeClr val="accent1"/>
                </a:solidFill>
              </a:rPr>
              <a:t>63–68 mm</a:t>
            </a:r>
            <a:endParaRPr lang="en-US" sz="8000" dirty="0"/>
          </a:p>
        </p:txBody>
      </p:sp>
      <p:sp>
        <p:nvSpPr>
          <p:cNvPr id="8" name="Stat 1 label"/>
          <p:cNvSpPr txBox="1"/>
          <p:nvPr/>
        </p:nvSpPr>
        <p:spPr>
          <a:xfrm>
            <a:off x="4045347" y="3593592"/>
            <a:ext cx="7597709" cy="411480"/>
          </a:xfrm>
          <a:prstGeom prst="rect">
            <a:avLst/>
          </a:prstGeom>
          <a:noFill/>
          <a:ln/>
        </p:spPr>
        <p:txBody>
          <a:bodyPr wrap="square" lIns="0" tIns="0" rIns="0" bIns="0" rtlCol="0" anchor="t"/>
          <a:lstStyle/>
          <a:p>
            <a:pPr indent="0" marL="0">
              <a:buNone/>
            </a:pPr>
            <a:r>
              <a:rPr lang="en-US" sz="2200" dirty="0">
                <a:solidFill>
                  <a:schemeClr val="tx1"/>
                </a:solidFill>
              </a:rPr>
              <a:t>hand motion if the arm were locked (RMS)</a:t>
            </a:r>
            <a:endParaRPr lang="en-US" sz="2200" dirty="0"/>
          </a:p>
        </p:txBody>
      </p:sp>
      <p:sp>
        <p:nvSpPr>
          <p:cNvPr id="9" name="Stat 2"/>
          <p:cNvSpPr txBox="1"/>
          <p:nvPr/>
        </p:nvSpPr>
        <p:spPr>
          <a:xfrm>
            <a:off x="4045347" y="4078224"/>
            <a:ext cx="7597709" cy="1051560"/>
          </a:xfrm>
          <a:prstGeom prst="rect">
            <a:avLst/>
          </a:prstGeom>
          <a:noFill/>
          <a:ln/>
        </p:spPr>
        <p:txBody>
          <a:bodyPr wrap="square" lIns="0" tIns="0" rIns="0" bIns="0" rtlCol="0" anchor="ctr"/>
          <a:lstStyle/>
          <a:p>
            <a:pPr indent="0" marL="0">
              <a:buNone/>
            </a:pPr>
            <a:r>
              <a:rPr lang="en-US" sz="8000" b="1" dirty="0">
                <a:solidFill>
                  <a:schemeClr val="accent1"/>
                </a:solidFill>
              </a:rPr>
              <a:t>~1.8 Hz</a:t>
            </a:r>
            <a:endParaRPr lang="en-US" sz="8000" dirty="0"/>
          </a:p>
        </p:txBody>
      </p:sp>
      <p:sp>
        <p:nvSpPr>
          <p:cNvPr id="10" name="Stat 2 label"/>
          <p:cNvSpPr txBox="1"/>
          <p:nvPr/>
        </p:nvSpPr>
        <p:spPr>
          <a:xfrm>
            <a:off x="4045347" y="5193792"/>
            <a:ext cx="7597709" cy="411480"/>
          </a:xfrm>
          <a:prstGeom prst="rect">
            <a:avLst/>
          </a:prstGeom>
          <a:noFill/>
          <a:ln/>
        </p:spPr>
        <p:txBody>
          <a:bodyPr wrap="square" lIns="0" tIns="0" rIns="0" bIns="0" rtlCol="0" anchor="t"/>
          <a:lstStyle/>
          <a:p>
            <a:pPr indent="0" marL="0">
              <a:buNone/>
            </a:pPr>
            <a:r>
              <a:rPr lang="en-US" sz="2200" dirty="0">
                <a:solidFill>
                  <a:schemeClr val="tx1"/>
                </a:solidFill>
              </a:rPr>
              <a:t>how often steps come: fast, repeating motion</a:t>
            </a:r>
            <a:endParaRPr lang="en-US" sz="2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txBox="1"/>
          <p:nvPr/>
        </p:nvSpPr>
        <p:spPr>
          <a:xfrm>
            <a:off x="548640" y="402336"/>
            <a:ext cx="1338682"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PROBLEM</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Goal: fix the hand in the room, not on the body</a:t>
            </a:r>
            <a:endParaRPr lang="en-US" sz="3200" dirty="0"/>
          </a:p>
        </p:txBody>
      </p:sp>
      <p:pic>
        <p:nvPicPr>
          <p:cNvPr id="4" name="Task illustration" descr="Four backpack positions in one cycle and the average, where the hands stay sharp">    </p:cNvPr>
          <p:cNvPicPr>
            <a:picLocks noChangeAspect="1"/>
          </p:cNvPicPr>
          <p:nvPr/>
        </p:nvPicPr>
        <p:blipFill>
          <a:blip r:embed="rId1"/>
          <a:stretch>
            <a:fillRect/>
          </a:stretch>
        </p:blipFill>
        <p:spPr>
          <a:xfrm>
            <a:off x="548640" y="2308893"/>
            <a:ext cx="11094415" cy="2377375"/>
          </a:xfrm>
          <a:prstGeom prst="rect">
            <a:avLst/>
          </a:prstGeom>
        </p:spPr>
      </p:pic>
      <p:sp>
        <p:nvSpPr>
          <p:cNvPr id="5" name="Caption"/>
          <p:cNvSpPr txBox="1"/>
          <p:nvPr/>
        </p:nvSpPr>
        <p:spPr>
          <a:xfrm>
            <a:off x="548640" y="4823427"/>
            <a:ext cx="11094415" cy="685800"/>
          </a:xfrm>
          <a:prstGeom prst="rect">
            <a:avLst/>
          </a:prstGeom>
          <a:noFill/>
          <a:ln/>
        </p:spPr>
        <p:txBody>
          <a:bodyPr wrap="square" lIns="0" tIns="0" rIns="0" bIns="0" rtlCol="0" anchor="t"/>
          <a:lstStyle/>
          <a:p>
            <a:pPr indent="0" marL="0">
              <a:buNone/>
            </a:pPr>
            <a:r>
              <a:rPr lang="en-US" sz="1800" dirty="0">
                <a:solidFill>
                  <a:schemeClr val="accent4"/>
                </a:solidFill>
              </a:rPr>
              <a:t>(e) one cycle averaged: the backpack blurs, the hands stay sharp.</a:t>
            </a:r>
            <a:endParaRPr lang="en-US" sz="1800" dirty="0"/>
          </a:p>
          <a:p>
            <a:pPr indent="0" marL="0">
              <a:buNone/>
            </a:pPr>
            <a:r>
              <a:rPr lang="en-US" sz="1800" dirty="0">
                <a:solidFill>
                  <a:schemeClr val="accent4"/>
                </a:solidFill>
              </a:rPr>
              <a:t>Simulation, controller on. Motion enlarged 3×.</a:t>
            </a:r>
            <a:endParaRPr lang="en-US" sz="18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48640" y="402336"/>
            <a:ext cx="3006547"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APPROACH &amp; SOLUTION</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Measure the backpack, cancel it through the arm</a:t>
            </a:r>
            <a:endParaRPr lang="en-US" sz="3200" dirty="0"/>
          </a:p>
        </p:txBody>
      </p:sp>
      <p:sp>
        <p:nvSpPr>
          <p:cNvPr id="4" name="Frame World"/>
          <p:cNvSpPr txBox="1"/>
          <p:nvPr/>
        </p:nvSpPr>
        <p:spPr>
          <a:xfrm>
            <a:off x="548640" y="1828800"/>
            <a:ext cx="1920240" cy="914400"/>
          </a:xfrm>
          <a:prstGeom prst="roundRect">
            <a:avLst>
              <a:gd name="adj" fmla="val 10000"/>
            </a:avLst>
          </a:prstGeom>
          <a:solidFill>
            <a:schemeClr val="tx2"/>
          </a:solidFill>
          <a:ln/>
        </p:spPr>
        <p:txBody>
          <a:bodyPr wrap="square" lIns="508" tIns="508" rIns="508" bIns="508" rtlCol="0" anchor="ctr"/>
          <a:lstStyle/>
          <a:p>
            <a:pPr algn="ctr" indent="0" marL="0">
              <a:buNone/>
            </a:pPr>
            <a:r>
              <a:rPr lang="en-US" sz="2000" b="1" dirty="0">
                <a:solidFill>
                  <a:schemeClr val="bg1"/>
                </a:solidFill>
              </a:rPr>
              <a:t>World</a:t>
            </a:r>
            <a:endParaRPr lang="en-US" sz="1800" dirty="0"/>
          </a:p>
          <a:p>
            <a:pPr algn="ctr" indent="0" marL="0">
              <a:buNone/>
            </a:pPr>
            <a:r>
              <a:rPr lang="en-US" sz="1600" b="1" dirty="0">
                <a:solidFill>
                  <a:schemeClr val="bg1"/>
                </a:solidFill>
              </a:rPr>
              <a:t>(the room)</a:t>
            </a:r>
            <a:endParaRPr lang="en-US" sz="1800" dirty="0"/>
          </a:p>
        </p:txBody>
      </p:sp>
      <p:sp>
        <p:nvSpPr>
          <p:cNvPr id="5" name="Frame Backpack"/>
          <p:cNvSpPr txBox="1"/>
          <p:nvPr/>
        </p:nvSpPr>
        <p:spPr>
          <a:xfrm>
            <a:off x="3606698" y="1828800"/>
            <a:ext cx="1920240" cy="914400"/>
          </a:xfrm>
          <a:prstGeom prst="roundRect">
            <a:avLst>
              <a:gd name="adj" fmla="val 10000"/>
            </a:avLst>
          </a:prstGeom>
          <a:solidFill>
            <a:schemeClr val="tx2"/>
          </a:solidFill>
          <a:ln/>
        </p:spPr>
        <p:txBody>
          <a:bodyPr wrap="square" lIns="508" tIns="508" rIns="508" bIns="508" rtlCol="0" anchor="ctr"/>
          <a:lstStyle/>
          <a:p>
            <a:pPr algn="ctr" indent="0" marL="0">
              <a:buNone/>
            </a:pPr>
            <a:r>
              <a:rPr lang="en-US" sz="2000" b="1" dirty="0">
                <a:solidFill>
                  <a:schemeClr val="bg1"/>
                </a:solidFill>
              </a:rPr>
              <a:t>Backpack</a:t>
            </a:r>
            <a:endParaRPr lang="en-US" sz="1800" dirty="0"/>
          </a:p>
          <a:p>
            <a:pPr algn="ctr" indent="0" marL="0">
              <a:buNone/>
            </a:pPr>
            <a:r>
              <a:rPr lang="en-US" sz="1600" b="1" dirty="0">
                <a:solidFill>
                  <a:schemeClr val="bg1"/>
                </a:solidFill>
              </a:rPr>
              <a:t>(mount)</a:t>
            </a:r>
            <a:endParaRPr lang="en-US" sz="1800" dirty="0"/>
          </a:p>
        </p:txBody>
      </p:sp>
      <p:sp>
        <p:nvSpPr>
          <p:cNvPr id="6" name="Frame Arm base"/>
          <p:cNvSpPr txBox="1"/>
          <p:nvPr/>
        </p:nvSpPr>
        <p:spPr>
          <a:xfrm>
            <a:off x="6664757" y="1828800"/>
            <a:ext cx="1920240" cy="914400"/>
          </a:xfrm>
          <a:prstGeom prst="roundRect">
            <a:avLst>
              <a:gd name="adj" fmla="val 10000"/>
            </a:avLst>
          </a:prstGeom>
          <a:solidFill>
            <a:schemeClr val="tx2"/>
          </a:solidFill>
          <a:ln/>
        </p:spPr>
        <p:txBody>
          <a:bodyPr wrap="square" lIns="508" tIns="508" rIns="508" bIns="508" rtlCol="0" anchor="ctr"/>
          <a:lstStyle/>
          <a:p>
            <a:pPr algn="ctr" indent="0" marL="0">
              <a:buNone/>
            </a:pPr>
            <a:r>
              <a:rPr lang="en-US" sz="2000" b="1" dirty="0">
                <a:solidFill>
                  <a:schemeClr val="bg1"/>
                </a:solidFill>
              </a:rPr>
              <a:t>Arm base</a:t>
            </a:r>
            <a:endParaRPr lang="en-US" sz="1800" dirty="0"/>
          </a:p>
        </p:txBody>
      </p:sp>
      <p:sp>
        <p:nvSpPr>
          <p:cNvPr id="7" name="Frame Hand"/>
          <p:cNvSpPr txBox="1"/>
          <p:nvPr/>
        </p:nvSpPr>
        <p:spPr>
          <a:xfrm>
            <a:off x="9722815" y="1828800"/>
            <a:ext cx="1920240" cy="914400"/>
          </a:xfrm>
          <a:prstGeom prst="roundRect">
            <a:avLst>
              <a:gd name="adj" fmla="val 10000"/>
            </a:avLst>
          </a:prstGeom>
          <a:solidFill>
            <a:schemeClr val="tx2"/>
          </a:solidFill>
          <a:ln/>
        </p:spPr>
        <p:txBody>
          <a:bodyPr wrap="square" lIns="508" tIns="508" rIns="508" bIns="508" rtlCol="0" anchor="ctr"/>
          <a:lstStyle/>
          <a:p>
            <a:pPr algn="ctr" indent="0" marL="0">
              <a:buNone/>
            </a:pPr>
            <a:r>
              <a:rPr lang="en-US" sz="2000" b="1" dirty="0">
                <a:solidFill>
                  <a:schemeClr val="bg1"/>
                </a:solidFill>
              </a:rPr>
              <a:t>Hand</a:t>
            </a:r>
            <a:endParaRPr lang="en-US" sz="1800" dirty="0"/>
          </a:p>
          <a:p>
            <a:pPr algn="ctr" indent="0" marL="0">
              <a:buNone/>
            </a:pPr>
            <a:r>
              <a:rPr lang="en-US" sz="1600" b="1" dirty="0">
                <a:solidFill>
                  <a:schemeClr val="bg1"/>
                </a:solidFill>
              </a:rPr>
              <a:t>(end-effector)</a:t>
            </a:r>
            <a:endParaRPr lang="en-US" sz="1800" dirty="0"/>
          </a:p>
        </p:txBody>
      </p:sp>
      <p:sp>
        <p:nvSpPr>
          <p:cNvPr id="8" name="Shape 6"/>
          <p:cNvSpPr/>
          <p:nvPr/>
        </p:nvSpPr>
        <p:spPr>
          <a:xfrm>
            <a:off x="2542032" y="2286000"/>
            <a:ext cx="991514" cy="0"/>
          </a:xfrm>
          <a:prstGeom prst="line">
            <a:avLst/>
          </a:prstGeom>
          <a:noFill/>
          <a:ln w="28575">
            <a:solidFill>
              <a:schemeClr val="tx2"/>
            </a:solidFill>
            <a:prstDash val="solid"/>
            <a:tailEnd type="triangle"/>
          </a:ln>
        </p:spPr>
      </p:sp>
      <p:sp>
        <p:nvSpPr>
          <p:cNvPr id="9" name="Edge Vicon motion capture"/>
          <p:cNvSpPr txBox="1"/>
          <p:nvPr/>
        </p:nvSpPr>
        <p:spPr>
          <a:xfrm>
            <a:off x="1620469" y="2926080"/>
            <a:ext cx="2834640" cy="713232"/>
          </a:xfrm>
          <a:prstGeom prst="roundRect">
            <a:avLst>
              <a:gd name="adj" fmla="val 15385"/>
            </a:avLst>
          </a:prstGeom>
          <a:solidFill>
            <a:schemeClr val="accent2"/>
          </a:solidFill>
          <a:ln/>
        </p:spPr>
        <p:txBody>
          <a:bodyPr wrap="square" lIns="508" tIns="508" rIns="508" bIns="508" rtlCol="0" anchor="ctr"/>
          <a:lstStyle/>
          <a:p>
            <a:pPr algn="ctr" indent="0" marL="0">
              <a:buNone/>
            </a:pPr>
            <a:r>
              <a:rPr lang="en-US" sz="1600" b="1" dirty="0">
                <a:solidFill>
                  <a:schemeClr val="bg1"/>
                </a:solidFill>
              </a:rPr>
              <a:t>Vicon motion capture</a:t>
            </a:r>
            <a:endParaRPr lang="en-US" sz="1800" dirty="0"/>
          </a:p>
          <a:p>
            <a:pPr algn="ctr" indent="0" marL="0">
              <a:buNone/>
            </a:pPr>
            <a:r>
              <a:rPr lang="en-US" sz="1400" b="1" dirty="0">
                <a:solidFill>
                  <a:schemeClr val="bg1"/>
                </a:solidFill>
              </a:rPr>
              <a:t>measured live</a:t>
            </a:r>
            <a:endParaRPr lang="en-US" sz="1800" dirty="0"/>
          </a:p>
        </p:txBody>
      </p:sp>
      <p:sp>
        <p:nvSpPr>
          <p:cNvPr id="10" name="Shape 8"/>
          <p:cNvSpPr/>
          <p:nvPr/>
        </p:nvSpPr>
        <p:spPr>
          <a:xfrm>
            <a:off x="5600090" y="2286000"/>
            <a:ext cx="991514" cy="0"/>
          </a:xfrm>
          <a:prstGeom prst="line">
            <a:avLst/>
          </a:prstGeom>
          <a:noFill/>
          <a:ln w="28575">
            <a:solidFill>
              <a:schemeClr val="tx2"/>
            </a:solidFill>
            <a:prstDash val="solid"/>
            <a:tailEnd type="triangle"/>
          </a:ln>
        </p:spPr>
      </p:sp>
      <p:sp>
        <p:nvSpPr>
          <p:cNvPr id="11" name="Edge Fixed mount offset"/>
          <p:cNvSpPr txBox="1"/>
          <p:nvPr/>
        </p:nvSpPr>
        <p:spPr>
          <a:xfrm>
            <a:off x="4678528" y="2926080"/>
            <a:ext cx="2834640" cy="713232"/>
          </a:xfrm>
          <a:prstGeom prst="roundRect">
            <a:avLst>
              <a:gd name="adj" fmla="val 15385"/>
            </a:avLst>
          </a:prstGeom>
          <a:solidFill>
            <a:schemeClr val="bg2"/>
          </a:solidFill>
          <a:ln/>
        </p:spPr>
        <p:txBody>
          <a:bodyPr wrap="square" lIns="508" tIns="508" rIns="508" bIns="508" rtlCol="0" anchor="ctr"/>
          <a:lstStyle/>
          <a:p>
            <a:pPr algn="ctr" indent="0" marL="0">
              <a:buNone/>
            </a:pPr>
            <a:r>
              <a:rPr lang="en-US" sz="1600" b="1" dirty="0">
                <a:solidFill>
                  <a:schemeClr val="tx2"/>
                </a:solidFill>
              </a:rPr>
              <a:t>Fixed mount offset</a:t>
            </a:r>
            <a:endParaRPr lang="en-US" sz="1800" dirty="0"/>
          </a:p>
          <a:p>
            <a:pPr algn="ctr" indent="0" marL="0">
              <a:buNone/>
            </a:pPr>
            <a:r>
              <a:rPr lang="en-US" sz="1400" b="1" dirty="0">
                <a:solidFill>
                  <a:schemeClr val="tx2"/>
                </a:solidFill>
              </a:rPr>
              <a:t>known</a:t>
            </a:r>
            <a:endParaRPr lang="en-US" sz="1800" dirty="0"/>
          </a:p>
        </p:txBody>
      </p:sp>
      <p:sp>
        <p:nvSpPr>
          <p:cNvPr id="12" name="Shape 10"/>
          <p:cNvSpPr/>
          <p:nvPr/>
        </p:nvSpPr>
        <p:spPr>
          <a:xfrm>
            <a:off x="8658149" y="2286000"/>
            <a:ext cx="991514" cy="0"/>
          </a:xfrm>
          <a:prstGeom prst="line">
            <a:avLst/>
          </a:prstGeom>
          <a:noFill/>
          <a:ln w="28575">
            <a:solidFill>
              <a:schemeClr val="tx2"/>
            </a:solidFill>
            <a:prstDash val="solid"/>
            <a:tailEnd type="triangle"/>
          </a:ln>
        </p:spPr>
      </p:sp>
      <p:sp>
        <p:nvSpPr>
          <p:cNvPr id="13" name="Edge Joint angles → kinematics"/>
          <p:cNvSpPr txBox="1"/>
          <p:nvPr/>
        </p:nvSpPr>
        <p:spPr>
          <a:xfrm>
            <a:off x="7736586" y="2926080"/>
            <a:ext cx="2834640" cy="713232"/>
          </a:xfrm>
          <a:prstGeom prst="roundRect">
            <a:avLst>
              <a:gd name="adj" fmla="val 15385"/>
            </a:avLst>
          </a:prstGeom>
          <a:solidFill>
            <a:schemeClr val="accent5"/>
          </a:solidFill>
          <a:ln/>
        </p:spPr>
        <p:txBody>
          <a:bodyPr wrap="square" lIns="508" tIns="508" rIns="508" bIns="508" rtlCol="0" anchor="ctr"/>
          <a:lstStyle/>
          <a:p>
            <a:pPr algn="ctr" indent="0" marL="0">
              <a:buNone/>
            </a:pPr>
            <a:r>
              <a:rPr lang="en-US" sz="1600" b="1" dirty="0">
                <a:solidFill>
                  <a:schemeClr val="tx2"/>
                </a:solidFill>
              </a:rPr>
              <a:t>Joint angles → kinematics</a:t>
            </a:r>
            <a:endParaRPr lang="en-US" sz="1800" dirty="0"/>
          </a:p>
          <a:p>
            <a:pPr algn="ctr" indent="0" marL="0">
              <a:buNone/>
            </a:pPr>
            <a:r>
              <a:rPr lang="en-US" sz="1400" b="1" dirty="0">
                <a:solidFill>
                  <a:schemeClr val="tx2"/>
                </a:solidFill>
              </a:rPr>
              <a:t>computed</a:t>
            </a:r>
            <a:endParaRPr lang="en-US" sz="1800" dirty="0"/>
          </a:p>
        </p:txBody>
      </p:sp>
      <p:sp>
        <p:nvSpPr>
          <p:cNvPr id="14" name="Equation card"/>
          <p:cNvSpPr/>
          <p:nvPr/>
        </p:nvSpPr>
        <p:spPr>
          <a:xfrm>
            <a:off x="548640" y="3840480"/>
            <a:ext cx="11094415" cy="822960"/>
          </a:xfrm>
          <a:prstGeom prst="roundRect">
            <a:avLst>
              <a:gd name="adj" fmla="val 15556"/>
            </a:avLst>
          </a:prstGeom>
          <a:solidFill>
            <a:schemeClr val="bg2"/>
          </a:solidFill>
          <a:ln/>
        </p:spPr>
      </p:sp>
      <p:sp>
        <p:nvSpPr>
          <p:cNvPr id="15" name="Control law"/>
          <p:cNvSpPr txBox="1"/>
          <p:nvPr/>
        </p:nvSpPr>
        <p:spPr>
          <a:xfrm>
            <a:off x="548640" y="3840480"/>
            <a:ext cx="11094415" cy="822960"/>
          </a:xfrm>
          <a:prstGeom prst="rect">
            <a:avLst/>
          </a:prstGeom>
          <a:noFill/>
          <a:ln/>
        </p:spPr>
        <p:txBody>
          <a:bodyPr wrap="square" lIns="0" tIns="0" rIns="0" bIns="0" rtlCol="0" anchor="ctr"/>
          <a:lstStyle/>
          <a:p>
            <a:pPr algn="ctr" indent="0" marL="0">
              <a:buNone/>
            </a:pPr>
            <a:r>
              <a:rPr lang="en-US" sz="3200" b="1" dirty="0">
                <a:solidFill>
                  <a:schemeClr val="tx2"/>
                </a:solidFill>
              </a:rPr>
              <a:t>q̇ = </a:t>
            </a:r>
            <a:pPr algn="ctr" indent="0" marL="0">
              <a:buNone/>
            </a:pPr>
            <a:r>
              <a:rPr lang="en-US" sz="3200" b="1" dirty="0">
                <a:solidFill>
                  <a:schemeClr val="accent1"/>
                </a:solidFill>
              </a:rPr>
              <a:t>J</a:t>
            </a:r>
            <a:pPr algn="ctr" indent="0" marL="0">
              <a:buNone/>
            </a:pPr>
            <a:r>
              <a:rPr lang="en-US" sz="3200" b="1" baseline="30000" dirty="0">
                <a:solidFill>
                  <a:schemeClr val="accent1"/>
                </a:solidFill>
              </a:rPr>
              <a:t>+</a:t>
            </a:r>
            <a:pPr algn="ctr" indent="0" marL="0">
              <a:buNone/>
            </a:pPr>
            <a:r>
              <a:rPr lang="en-US" sz="3200" b="1" baseline="-40000" dirty="0">
                <a:solidFill>
                  <a:schemeClr val="accent1"/>
                </a:solidFill>
              </a:rPr>
              <a:t>λ</a:t>
            </a:r>
            <a:pPr algn="ctr" indent="0" marL="0">
              <a:buNone/>
            </a:pPr>
            <a:r>
              <a:rPr lang="en-US" sz="3200" b="1" dirty="0">
                <a:solidFill>
                  <a:schemeClr val="accent2"/>
                </a:solidFill>
              </a:rPr>
              <a:t> (K</a:t>
            </a:r>
            <a:pPr algn="ctr" indent="0" marL="0">
              <a:buNone/>
            </a:pPr>
            <a:r>
              <a:rPr lang="en-US" sz="3200" b="1" baseline="-40000" dirty="0">
                <a:solidFill>
                  <a:schemeClr val="accent2"/>
                </a:solidFill>
              </a:rPr>
              <a:t>p</a:t>
            </a:r>
            <a:pPr algn="ctr" indent="0" marL="0">
              <a:buNone/>
            </a:pPr>
            <a:r>
              <a:rPr lang="en-US" sz="3200" b="1" dirty="0">
                <a:solidFill>
                  <a:schemeClr val="accent2"/>
                </a:solidFill>
              </a:rPr>
              <a:t>·e + K</a:t>
            </a:r>
            <a:pPr algn="ctr" indent="0" marL="0">
              <a:buNone/>
            </a:pPr>
            <a:r>
              <a:rPr lang="en-US" sz="3200" b="1" baseline="-40000" dirty="0">
                <a:solidFill>
                  <a:schemeClr val="accent2"/>
                </a:solidFill>
              </a:rPr>
              <a:t>d</a:t>
            </a:r>
            <a:pPr algn="ctr" indent="0" marL="0">
              <a:buNone/>
            </a:pPr>
            <a:r>
              <a:rPr lang="en-US" sz="3200" b="1" dirty="0">
                <a:solidFill>
                  <a:schemeClr val="accent2"/>
                </a:solidFill>
              </a:rPr>
              <a:t>·ė)</a:t>
            </a:r>
            <a:pPr algn="ctr" indent="0" marL="0">
              <a:buNone/>
            </a:pPr>
            <a:r>
              <a:rPr lang="en-US" sz="3200" b="1" dirty="0">
                <a:solidFill>
                  <a:schemeClr val="tx2"/>
                </a:solidFill>
              </a:rPr>
              <a:t>  +  </a:t>
            </a:r>
            <a:pPr algn="ctr" indent="0" marL="0">
              <a:buNone/>
            </a:pPr>
            <a:r>
              <a:rPr lang="en-US" sz="3200" b="1" dirty="0">
                <a:solidFill>
                  <a:schemeClr val="accent4"/>
                </a:solidFill>
              </a:rPr>
              <a:t>(I − J</a:t>
            </a:r>
            <a:pPr algn="ctr" indent="0" marL="0">
              <a:buNone/>
            </a:pPr>
            <a:r>
              <a:rPr lang="en-US" sz="3200" b="1" baseline="30000" dirty="0">
                <a:solidFill>
                  <a:schemeClr val="accent4"/>
                </a:solidFill>
              </a:rPr>
              <a:t>+</a:t>
            </a:r>
            <a:pPr algn="ctr" indent="0" marL="0">
              <a:buNone/>
            </a:pPr>
            <a:r>
              <a:rPr lang="en-US" sz="3200" b="1" dirty="0">
                <a:solidFill>
                  <a:schemeClr val="accent4"/>
                </a:solidFill>
              </a:rPr>
              <a:t>J)·q̇</a:t>
            </a:r>
            <a:pPr algn="ctr" indent="0" marL="0">
              <a:buNone/>
            </a:pPr>
            <a:r>
              <a:rPr lang="en-US" sz="3200" b="1" baseline="-40000" dirty="0">
                <a:solidFill>
                  <a:schemeClr val="accent4"/>
                </a:solidFill>
              </a:rPr>
              <a:t>0</a:t>
            </a:r>
            <a:endParaRPr lang="en-US" sz="3200" dirty="0"/>
          </a:p>
        </p:txBody>
      </p:sp>
      <p:sp>
        <p:nvSpPr>
          <p:cNvPr id="16" name="Term 1"/>
          <p:cNvSpPr txBox="1"/>
          <p:nvPr/>
        </p:nvSpPr>
        <p:spPr>
          <a:xfrm>
            <a:off x="822960" y="4846320"/>
            <a:ext cx="2651760" cy="420624"/>
          </a:xfrm>
          <a:prstGeom prst="rect">
            <a:avLst/>
          </a:prstGeom>
          <a:noFill/>
          <a:ln/>
        </p:spPr>
        <p:txBody>
          <a:bodyPr wrap="square" lIns="0" tIns="0" rIns="0" bIns="0" rtlCol="0" anchor="ctr"/>
          <a:lstStyle/>
          <a:p>
            <a:pPr indent="0" marL="0">
              <a:buNone/>
            </a:pPr>
            <a:r>
              <a:rPr lang="en-US" sz="2000" b="1" dirty="0">
                <a:solidFill>
                  <a:schemeClr val="accent2"/>
                </a:solidFill>
              </a:rPr>
              <a:t>K</a:t>
            </a:r>
            <a:pPr indent="0" marL="0">
              <a:buNone/>
            </a:pPr>
            <a:r>
              <a:rPr lang="en-US" sz="2000" b="1" baseline="-40000" dirty="0">
                <a:solidFill>
                  <a:schemeClr val="accent2"/>
                </a:solidFill>
              </a:rPr>
              <a:t>p</a:t>
            </a:r>
            <a:pPr indent="0" marL="0">
              <a:buNone/>
            </a:pPr>
            <a:r>
              <a:rPr lang="en-US" sz="2000" b="1" dirty="0">
                <a:solidFill>
                  <a:schemeClr val="accent2"/>
                </a:solidFill>
              </a:rPr>
              <a:t>·e + K</a:t>
            </a:r>
            <a:pPr indent="0" marL="0">
              <a:buNone/>
            </a:pPr>
            <a:r>
              <a:rPr lang="en-US" sz="2000" b="1" baseline="-40000" dirty="0">
                <a:solidFill>
                  <a:schemeClr val="accent2"/>
                </a:solidFill>
              </a:rPr>
              <a:t>d</a:t>
            </a:r>
            <a:pPr indent="0" marL="0">
              <a:buNone/>
            </a:pPr>
            <a:r>
              <a:rPr lang="en-US" sz="2000" b="1" dirty="0">
                <a:solidFill>
                  <a:schemeClr val="accent2"/>
                </a:solidFill>
              </a:rPr>
              <a:t>·ė</a:t>
            </a:r>
            <a:endParaRPr lang="en-US" sz="2000" dirty="0"/>
          </a:p>
        </p:txBody>
      </p:sp>
      <p:sp>
        <p:nvSpPr>
          <p:cNvPr id="17" name="Gloss 1"/>
          <p:cNvSpPr txBox="1"/>
          <p:nvPr/>
        </p:nvSpPr>
        <p:spPr>
          <a:xfrm>
            <a:off x="3566160" y="4846320"/>
            <a:ext cx="8076895" cy="420624"/>
          </a:xfrm>
          <a:prstGeom prst="rect">
            <a:avLst/>
          </a:prstGeom>
          <a:noFill/>
          <a:ln/>
        </p:spPr>
        <p:txBody>
          <a:bodyPr wrap="square" lIns="0" tIns="0" rIns="0" bIns="0" rtlCol="0" anchor="ctr"/>
          <a:lstStyle/>
          <a:p>
            <a:pPr indent="0" marL="0">
              <a:buNone/>
            </a:pPr>
            <a:r>
              <a:rPr lang="en-US" sz="2000" dirty="0">
                <a:solidFill>
                  <a:schemeClr val="tx1"/>
                </a:solidFill>
              </a:rPr>
              <a:t>push the hand back to its spot in the room</a:t>
            </a:r>
            <a:endParaRPr lang="en-US" sz="2000" dirty="0"/>
          </a:p>
        </p:txBody>
      </p:sp>
      <p:sp>
        <p:nvSpPr>
          <p:cNvPr id="18" name="Term 2"/>
          <p:cNvSpPr txBox="1"/>
          <p:nvPr/>
        </p:nvSpPr>
        <p:spPr>
          <a:xfrm>
            <a:off x="822960" y="5321808"/>
            <a:ext cx="2651760" cy="420624"/>
          </a:xfrm>
          <a:prstGeom prst="rect">
            <a:avLst/>
          </a:prstGeom>
          <a:noFill/>
          <a:ln/>
        </p:spPr>
        <p:txBody>
          <a:bodyPr wrap="square" lIns="0" tIns="0" rIns="0" bIns="0" rtlCol="0" anchor="ctr"/>
          <a:lstStyle/>
          <a:p>
            <a:pPr indent="0" marL="0">
              <a:buNone/>
            </a:pPr>
            <a:r>
              <a:rPr lang="en-US" sz="2000" b="1" dirty="0">
                <a:solidFill>
                  <a:schemeClr val="accent1"/>
                </a:solidFill>
              </a:rPr>
              <a:t>J</a:t>
            </a:r>
            <a:pPr indent="0" marL="0">
              <a:buNone/>
            </a:pPr>
            <a:r>
              <a:rPr lang="en-US" sz="2000" b="1" baseline="30000" dirty="0">
                <a:solidFill>
                  <a:schemeClr val="accent1"/>
                </a:solidFill>
              </a:rPr>
              <a:t>+</a:t>
            </a:r>
            <a:pPr indent="0" marL="0">
              <a:buNone/>
            </a:pPr>
            <a:r>
              <a:rPr lang="en-US" sz="2000" b="1" baseline="-40000" dirty="0">
                <a:solidFill>
                  <a:schemeClr val="accent1"/>
                </a:solidFill>
              </a:rPr>
              <a:t>λ</a:t>
            </a:r>
            <a:endParaRPr lang="en-US" sz="2000" dirty="0"/>
          </a:p>
        </p:txBody>
      </p:sp>
      <p:sp>
        <p:nvSpPr>
          <p:cNvPr id="19" name="Gloss 2"/>
          <p:cNvSpPr txBox="1"/>
          <p:nvPr/>
        </p:nvSpPr>
        <p:spPr>
          <a:xfrm>
            <a:off x="3566160" y="5321808"/>
            <a:ext cx="8076895" cy="420624"/>
          </a:xfrm>
          <a:prstGeom prst="rect">
            <a:avLst/>
          </a:prstGeom>
          <a:noFill/>
          <a:ln/>
        </p:spPr>
        <p:txBody>
          <a:bodyPr wrap="square" lIns="0" tIns="0" rIns="0" bIns="0" rtlCol="0" anchor="ctr"/>
          <a:lstStyle/>
          <a:p>
            <a:pPr indent="0" marL="0">
              <a:buNone/>
            </a:pPr>
            <a:r>
              <a:rPr lang="en-US" sz="2000" dirty="0">
                <a:solidFill>
                  <a:schemeClr val="tx1"/>
                </a:solidFill>
              </a:rPr>
              <a:t>→ joint speeds, damped near awkward poses</a:t>
            </a:r>
            <a:endParaRPr lang="en-US" sz="2000" dirty="0"/>
          </a:p>
        </p:txBody>
      </p:sp>
      <p:sp>
        <p:nvSpPr>
          <p:cNvPr id="20" name="Term 3"/>
          <p:cNvSpPr txBox="1"/>
          <p:nvPr/>
        </p:nvSpPr>
        <p:spPr>
          <a:xfrm>
            <a:off x="822960" y="5797296"/>
            <a:ext cx="2651760" cy="420624"/>
          </a:xfrm>
          <a:prstGeom prst="rect">
            <a:avLst/>
          </a:prstGeom>
          <a:noFill/>
          <a:ln/>
        </p:spPr>
        <p:txBody>
          <a:bodyPr wrap="square" lIns="0" tIns="0" rIns="0" bIns="0" rtlCol="0" anchor="ctr"/>
          <a:lstStyle/>
          <a:p>
            <a:pPr indent="0" marL="0">
              <a:buNone/>
            </a:pPr>
            <a:r>
              <a:rPr lang="en-US" sz="2000" b="1" dirty="0">
                <a:solidFill>
                  <a:schemeClr val="accent4"/>
                </a:solidFill>
              </a:rPr>
              <a:t>(I − J</a:t>
            </a:r>
            <a:pPr indent="0" marL="0">
              <a:buNone/>
            </a:pPr>
            <a:r>
              <a:rPr lang="en-US" sz="2000" b="1" baseline="30000" dirty="0">
                <a:solidFill>
                  <a:schemeClr val="accent4"/>
                </a:solidFill>
              </a:rPr>
              <a:t>+</a:t>
            </a:r>
            <a:pPr indent="0" marL="0">
              <a:buNone/>
            </a:pPr>
            <a:r>
              <a:rPr lang="en-US" sz="2000" b="1" dirty="0">
                <a:solidFill>
                  <a:schemeClr val="accent4"/>
                </a:solidFill>
              </a:rPr>
              <a:t>J)·q̇</a:t>
            </a:r>
            <a:pPr indent="0" marL="0">
              <a:buNone/>
            </a:pPr>
            <a:r>
              <a:rPr lang="en-US" sz="2000" b="1" baseline="-40000" dirty="0">
                <a:solidFill>
                  <a:schemeClr val="accent4"/>
                </a:solidFill>
              </a:rPr>
              <a:t>0</a:t>
            </a:r>
            <a:endParaRPr lang="en-US" sz="2000" dirty="0"/>
          </a:p>
        </p:txBody>
      </p:sp>
      <p:sp>
        <p:nvSpPr>
          <p:cNvPr id="21" name="Gloss 3"/>
          <p:cNvSpPr txBox="1"/>
          <p:nvPr/>
        </p:nvSpPr>
        <p:spPr>
          <a:xfrm>
            <a:off x="3566160" y="5797296"/>
            <a:ext cx="8076895" cy="420624"/>
          </a:xfrm>
          <a:prstGeom prst="rect">
            <a:avLst/>
          </a:prstGeom>
          <a:noFill/>
          <a:ln/>
        </p:spPr>
        <p:txBody>
          <a:bodyPr wrap="square" lIns="0" tIns="0" rIns="0" bIns="0" rtlCol="0" anchor="ctr"/>
          <a:lstStyle/>
          <a:p>
            <a:pPr indent="0" marL="0">
              <a:buNone/>
            </a:pPr>
            <a:r>
              <a:rPr lang="en-US" sz="2000" dirty="0">
                <a:solidFill>
                  <a:schemeClr val="tx1"/>
                </a:solidFill>
              </a:rPr>
              <a:t>spare 7th joint drifts to mid-range</a:t>
            </a:r>
            <a:endParaRPr lang="en-US" sz="20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txBox="1"/>
          <p:nvPr/>
        </p:nvSpPr>
        <p:spPr>
          <a:xfrm>
            <a:off x="548640" y="402336"/>
            <a:ext cx="3006547"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APPROACH &amp; SOLUTION</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Simulation first: my controller in a physics engine</a:t>
            </a:r>
            <a:endParaRPr lang="en-US" sz="3200" dirty="0"/>
          </a:p>
        </p:txBody>
      </p:sp>
      <p:sp>
        <p:nvSpPr>
          <p:cNvPr id="4" name="Frame hold_pose.gif"/>
          <p:cNvSpPr/>
          <p:nvPr/>
        </p:nvSpPr>
        <p:spPr>
          <a:xfrm>
            <a:off x="548640" y="1783080"/>
            <a:ext cx="6864668" cy="4023360"/>
          </a:xfrm>
          <a:prstGeom prst="roundRect">
            <a:avLst>
              <a:gd name="adj" fmla="val 2727"/>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5" name="hold_pose.gif" descr="Simulation: arms locked, reactive controller, controller with feedforward">    </p:cNvPr>
          <p:cNvPicPr>
            <a:picLocks noChangeAspect="1"/>
          </p:cNvPicPr>
          <p:nvPr/>
        </p:nvPicPr>
        <p:blipFill>
          <a:blip r:embed="rId1"/>
          <a:stretch>
            <a:fillRect/>
          </a:stretch>
        </p:blipFill>
        <p:spPr>
          <a:xfrm>
            <a:off x="621792" y="1856232"/>
            <a:ext cx="6718364" cy="3877056"/>
          </a:xfrm>
          <a:prstGeom prst="rect">
            <a:avLst/>
          </a:prstGeom>
        </p:spPr>
      </p:pic>
      <p:sp>
        <p:nvSpPr>
          <p:cNvPr id="6" name="Caption"/>
          <p:cNvSpPr txBox="1"/>
          <p:nvPr/>
        </p:nvSpPr>
        <p:spPr>
          <a:xfrm>
            <a:off x="548640" y="5934456"/>
            <a:ext cx="6864668" cy="320040"/>
          </a:xfrm>
          <a:prstGeom prst="rect">
            <a:avLst/>
          </a:prstGeom>
          <a:noFill/>
          <a:ln/>
        </p:spPr>
        <p:txBody>
          <a:bodyPr wrap="square" lIns="0" tIns="0" rIns="0" bIns="0" rtlCol="0" anchor="t"/>
          <a:lstStyle/>
          <a:p>
            <a:pPr indent="0" marL="0">
              <a:buNone/>
            </a:pPr>
            <a:r>
              <a:rPr lang="en-US" sz="1400" dirty="0">
                <a:solidFill>
                  <a:schemeClr val="accent4"/>
                </a:solidFill>
              </a:rPr>
              <a:t>Same motion (1.8 Hz), three controllers. Watch the red target, middle row.</a:t>
            </a:r>
            <a:endParaRPr lang="en-US" sz="1400" dirty="0"/>
          </a:p>
        </p:txBody>
      </p:sp>
      <p:sp>
        <p:nvSpPr>
          <p:cNvPr id="7" name="Text 4"/>
          <p:cNvSpPr txBox="1"/>
          <p:nvPr/>
        </p:nvSpPr>
        <p:spPr>
          <a:xfrm>
            <a:off x="8001000" y="1783080"/>
            <a:ext cx="3642055" cy="365760"/>
          </a:xfrm>
          <a:prstGeom prst="rect">
            <a:avLst/>
          </a:prstGeom>
          <a:noFill/>
          <a:ln/>
        </p:spPr>
        <p:txBody>
          <a:bodyPr wrap="square" lIns="0" tIns="0" rIns="0" bIns="0" rtlCol="0" anchor="t"/>
          <a:lstStyle/>
          <a:p>
            <a:pPr indent="0" marL="0">
              <a:buNone/>
            </a:pPr>
            <a:r>
              <a:rPr lang="en-US" sz="1800" b="1" dirty="0">
                <a:solidFill>
                  <a:schemeClr val="accent4"/>
                </a:solidFill>
              </a:rPr>
              <a:t>Hand error over 8 s (RMS)</a:t>
            </a:r>
            <a:endParaRPr lang="en-US" sz="1800" dirty="0"/>
          </a:p>
        </p:txBody>
      </p:sp>
      <p:sp>
        <p:nvSpPr>
          <p:cNvPr id="8" name="Sim stat 1"/>
          <p:cNvSpPr txBox="1"/>
          <p:nvPr/>
        </p:nvSpPr>
        <p:spPr>
          <a:xfrm>
            <a:off x="8001000" y="2240280"/>
            <a:ext cx="3642055" cy="731520"/>
          </a:xfrm>
          <a:prstGeom prst="rect">
            <a:avLst/>
          </a:prstGeom>
          <a:noFill/>
          <a:ln/>
        </p:spPr>
        <p:txBody>
          <a:bodyPr wrap="square" lIns="0" tIns="0" rIns="0" bIns="0" rtlCol="0" anchor="ctr"/>
          <a:lstStyle/>
          <a:p>
            <a:pPr indent="0" marL="0">
              <a:buNone/>
            </a:pPr>
            <a:r>
              <a:rPr lang="en-US" sz="5400" b="1" dirty="0">
                <a:solidFill>
                  <a:schemeClr val="accent4"/>
                </a:solidFill>
              </a:rPr>
              <a:t>31.0 mm</a:t>
            </a:r>
            <a:endParaRPr lang="en-US" sz="5400" dirty="0"/>
          </a:p>
        </p:txBody>
      </p:sp>
      <p:sp>
        <p:nvSpPr>
          <p:cNvPr id="9" name="Sim stat 1 label"/>
          <p:cNvSpPr txBox="1"/>
          <p:nvPr/>
        </p:nvSpPr>
        <p:spPr>
          <a:xfrm>
            <a:off x="8001000" y="2971800"/>
            <a:ext cx="3642055" cy="347472"/>
          </a:xfrm>
          <a:prstGeom prst="rect">
            <a:avLst/>
          </a:prstGeom>
          <a:noFill/>
          <a:ln/>
        </p:spPr>
        <p:txBody>
          <a:bodyPr wrap="square" lIns="0" tIns="0" rIns="0" bIns="0" rtlCol="0" anchor="t"/>
          <a:lstStyle/>
          <a:p>
            <a:pPr indent="0" marL="0">
              <a:buNone/>
            </a:pPr>
            <a:r>
              <a:rPr lang="en-US" sz="1800" dirty="0">
                <a:solidFill>
                  <a:schemeClr val="tx1"/>
                </a:solidFill>
              </a:rPr>
              <a:t>Arms locked</a:t>
            </a:r>
            <a:endParaRPr lang="en-US" sz="1800" dirty="0"/>
          </a:p>
        </p:txBody>
      </p:sp>
      <p:sp>
        <p:nvSpPr>
          <p:cNvPr id="10" name="Sim stat 2"/>
          <p:cNvSpPr txBox="1"/>
          <p:nvPr/>
        </p:nvSpPr>
        <p:spPr>
          <a:xfrm>
            <a:off x="8001000" y="3456432"/>
            <a:ext cx="3642055" cy="731520"/>
          </a:xfrm>
          <a:prstGeom prst="rect">
            <a:avLst/>
          </a:prstGeom>
          <a:noFill/>
          <a:ln/>
        </p:spPr>
        <p:txBody>
          <a:bodyPr wrap="square" lIns="0" tIns="0" rIns="0" bIns="0" rtlCol="0" anchor="ctr"/>
          <a:lstStyle/>
          <a:p>
            <a:pPr indent="0" marL="0">
              <a:buNone/>
            </a:pPr>
            <a:r>
              <a:rPr lang="en-US" sz="5400" b="1" dirty="0">
                <a:solidFill>
                  <a:schemeClr val="accent2"/>
                </a:solidFill>
              </a:rPr>
              <a:t>6.7 mm</a:t>
            </a:r>
            <a:endParaRPr lang="en-US" sz="5400" dirty="0"/>
          </a:p>
        </p:txBody>
      </p:sp>
      <p:sp>
        <p:nvSpPr>
          <p:cNvPr id="11" name="Sim stat 2 label"/>
          <p:cNvSpPr txBox="1"/>
          <p:nvPr/>
        </p:nvSpPr>
        <p:spPr>
          <a:xfrm>
            <a:off x="8001000" y="4187952"/>
            <a:ext cx="3642055" cy="347472"/>
          </a:xfrm>
          <a:prstGeom prst="rect">
            <a:avLst/>
          </a:prstGeom>
          <a:noFill/>
          <a:ln/>
        </p:spPr>
        <p:txBody>
          <a:bodyPr wrap="square" lIns="0" tIns="0" rIns="0" bIns="0" rtlCol="0" anchor="t"/>
          <a:lstStyle/>
          <a:p>
            <a:pPr indent="0" marL="0">
              <a:buNone/>
            </a:pPr>
            <a:r>
              <a:rPr lang="en-US" sz="1800" dirty="0">
                <a:solidFill>
                  <a:schemeClr val="tx1"/>
                </a:solidFill>
              </a:rPr>
              <a:t>Controller</a:t>
            </a:r>
            <a:endParaRPr lang="en-US" sz="1800" dirty="0"/>
          </a:p>
        </p:txBody>
      </p:sp>
      <p:sp>
        <p:nvSpPr>
          <p:cNvPr id="12" name="Sim stat 3"/>
          <p:cNvSpPr txBox="1"/>
          <p:nvPr/>
        </p:nvSpPr>
        <p:spPr>
          <a:xfrm>
            <a:off x="8001000" y="4672584"/>
            <a:ext cx="3642055" cy="731520"/>
          </a:xfrm>
          <a:prstGeom prst="rect">
            <a:avLst/>
          </a:prstGeom>
          <a:noFill/>
          <a:ln/>
        </p:spPr>
        <p:txBody>
          <a:bodyPr wrap="square" lIns="0" tIns="0" rIns="0" bIns="0" rtlCol="0" anchor="ctr"/>
          <a:lstStyle/>
          <a:p>
            <a:pPr indent="0" marL="0">
              <a:buNone/>
            </a:pPr>
            <a:r>
              <a:rPr lang="en-US" sz="5400" b="1" dirty="0">
                <a:solidFill>
                  <a:schemeClr val="accent3"/>
                </a:solidFill>
              </a:rPr>
              <a:t>2.6 mm</a:t>
            </a:r>
            <a:endParaRPr lang="en-US" sz="5400" dirty="0"/>
          </a:p>
        </p:txBody>
      </p:sp>
      <p:sp>
        <p:nvSpPr>
          <p:cNvPr id="13" name="Sim stat 3 label"/>
          <p:cNvSpPr txBox="1"/>
          <p:nvPr/>
        </p:nvSpPr>
        <p:spPr>
          <a:xfrm>
            <a:off x="8001000" y="5404104"/>
            <a:ext cx="3642055" cy="347472"/>
          </a:xfrm>
          <a:prstGeom prst="rect">
            <a:avLst/>
          </a:prstGeom>
          <a:noFill/>
          <a:ln/>
        </p:spPr>
        <p:txBody>
          <a:bodyPr wrap="square" lIns="0" tIns="0" rIns="0" bIns="0" rtlCol="0" anchor="t"/>
          <a:lstStyle/>
          <a:p>
            <a:pPr indent="0" marL="0">
              <a:buNone/>
            </a:pPr>
            <a:r>
              <a:rPr lang="en-US" sz="1800" dirty="0">
                <a:solidFill>
                  <a:schemeClr val="tx1"/>
                </a:solidFill>
              </a:rPr>
              <a:t>+ feedforward</a:t>
            </a:r>
            <a:endParaRPr lang="en-US" sz="18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txBox="1"/>
          <p:nvPr/>
        </p:nvSpPr>
        <p:spPr>
          <a:xfrm>
            <a:off x="548640" y="402336"/>
            <a:ext cx="3006547"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APPROACH &amp; SOLUTION</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7 people: about two-thirds of walking motion removed</a:t>
            </a:r>
            <a:endParaRPr lang="en-US" sz="3200" dirty="0"/>
          </a:p>
        </p:txBody>
      </p:sp>
      <p:sp>
        <p:nvSpPr>
          <p:cNvPr id="4" name="Provenance"/>
          <p:cNvSpPr txBox="1"/>
          <p:nvPr/>
        </p:nvSpPr>
        <p:spPr>
          <a:xfrm>
            <a:off x="548640" y="1627632"/>
            <a:ext cx="11094415" cy="365760"/>
          </a:xfrm>
          <a:prstGeom prst="rect">
            <a:avLst/>
          </a:prstGeom>
          <a:noFill/>
          <a:ln/>
        </p:spPr>
        <p:txBody>
          <a:bodyPr wrap="square" lIns="0" tIns="0" rIns="0" bIns="0" rtlCol="0" anchor="t"/>
          <a:lstStyle/>
          <a:p>
            <a:pPr indent="0" marL="0">
              <a:buNone/>
            </a:pPr>
            <a:r>
              <a:rPr lang="en-US" sz="1800" dirty="0">
                <a:solidFill>
                  <a:schemeClr val="tx2"/>
                </a:solidFill>
              </a:rPr>
              <a:t>Trials ran the lab's 400 Hz controller (Kalman-filtered Vicon). The analysis is mine.</a:t>
            </a:r>
            <a:endParaRPr lang="en-US" sz="1800" dirty="0"/>
          </a:p>
        </p:txBody>
      </p:sp>
      <p:sp>
        <p:nvSpPr>
          <p:cNvPr id="5" name="Frame hw_replay.gif"/>
          <p:cNvSpPr/>
          <p:nvPr/>
        </p:nvSpPr>
        <p:spPr>
          <a:xfrm>
            <a:off x="548640" y="2286000"/>
            <a:ext cx="6632143" cy="2800232"/>
          </a:xfrm>
          <a:prstGeom prst="roundRect">
            <a:avLst>
              <a:gd name="adj" fmla="val 3919"/>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6" name="hw_replay.gif" descr="One trial replayed: locked-arm path in grey, measured hand in blue">    </p:cNvPr>
          <p:cNvPicPr>
            <a:picLocks noChangeAspect="1"/>
          </p:cNvPicPr>
          <p:nvPr/>
        </p:nvPicPr>
        <p:blipFill>
          <a:blip r:embed="rId1"/>
          <a:stretch>
            <a:fillRect/>
          </a:stretch>
        </p:blipFill>
        <p:spPr>
          <a:xfrm>
            <a:off x="621792" y="2359152"/>
            <a:ext cx="6485839" cy="2653928"/>
          </a:xfrm>
          <a:prstGeom prst="rect">
            <a:avLst/>
          </a:prstGeom>
        </p:spPr>
      </p:pic>
      <p:sp>
        <p:nvSpPr>
          <p:cNvPr id="7" name="Caption"/>
          <p:cNvSpPr txBox="1"/>
          <p:nvPr/>
        </p:nvSpPr>
        <p:spPr>
          <a:xfrm>
            <a:off x="548640" y="5195960"/>
            <a:ext cx="6632143" cy="320040"/>
          </a:xfrm>
          <a:prstGeom prst="rect">
            <a:avLst/>
          </a:prstGeom>
          <a:noFill/>
          <a:ln/>
        </p:spPr>
        <p:txBody>
          <a:bodyPr wrap="square" lIns="0" tIns="0" rIns="0" bIns="0" rtlCol="0" anchor="t"/>
          <a:lstStyle/>
          <a:p>
            <a:pPr indent="0" marL="0">
              <a:buNone/>
            </a:pPr>
            <a:r>
              <a:rPr lang="en-US" sz="1400" dirty="0">
                <a:solidFill>
                  <a:schemeClr val="accent4"/>
                </a:solidFill>
              </a:rPr>
              <a:t>Grey: where the hand would go if the arm were locked. Blue: where it went.</a:t>
            </a:r>
            <a:endParaRPr lang="en-US" sz="1400" dirty="0"/>
          </a:p>
        </p:txBody>
      </p:sp>
      <p:graphicFrame>
        <p:nvGraphicFramePr>
          <p:cNvPr id="8" name="Results chart" descr="Bar chart: 71, 63 and 56 percent of backpack motion removed at 0.5, 1.0 and 1.5 m/s"/>
          <p:cNvGraphicFramePr/>
          <p:nvPr/>
        </p:nvGraphicFramePr>
        <p:xfrm>
          <a:off x="7345375" y="2103120"/>
          <a:ext cx="4297680" cy="3593592"/>
        </p:xfrm>
        <a:graphic xmlns:a="http://schemas.openxmlformats.org/drawingml/2006/main">
          <a:graphicData uri="http://schemas.openxmlformats.org/drawingml/2006/chart">
            <c:chart xmlns:c="http://schemas.openxmlformats.org/drawingml/2006/chart" r:id="rId2"/>
          </a:graphicData>
        </a:graphic>
      </p:graphicFrame>
      <p:sp>
        <p:nvSpPr>
          <p:cNvPr id="9" name="Chart note"/>
          <p:cNvSpPr txBox="1"/>
          <p:nvPr/>
        </p:nvSpPr>
        <p:spPr>
          <a:xfrm>
            <a:off x="7482535" y="5715000"/>
            <a:ext cx="4160520" cy="548640"/>
          </a:xfrm>
          <a:prstGeom prst="rect">
            <a:avLst/>
          </a:prstGeom>
          <a:noFill/>
          <a:ln/>
        </p:spPr>
        <p:txBody>
          <a:bodyPr wrap="square" lIns="0" tIns="0" rIns="0" bIns="0" rtlCol="0" anchor="t"/>
          <a:lstStyle/>
          <a:p>
            <a:pPr indent="0" marL="0">
              <a:buNone/>
            </a:pPr>
            <a:r>
              <a:rPr lang="en-US" sz="1600" dirty="0">
                <a:solidFill>
                  <a:schemeClr val="accent4"/>
                </a:solidFill>
              </a:rPr>
              <a:t>Mean of 6 people (4 at 1.5 m/s) · 128 trials, mostly one arm</a:t>
            </a:r>
            <a:endParaRPr lang="en-US" sz="16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txBox="1"/>
          <p:nvPr/>
        </p:nvSpPr>
        <p:spPr>
          <a:xfrm>
            <a:off x="548640" y="402336"/>
            <a:ext cx="3562502"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TRADE-OFFS &amp; CHALLENGES</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Trade-off: planning can never block the 2 ms loop</a:t>
            </a:r>
            <a:endParaRPr lang="en-US" sz="3200" dirty="0"/>
          </a:p>
        </p:txBody>
      </p:sp>
      <p:sp>
        <p:nvSpPr>
          <p:cNvPr id="4" name="Real-time band"/>
          <p:cNvSpPr/>
          <p:nvPr/>
        </p:nvSpPr>
        <p:spPr>
          <a:xfrm>
            <a:off x="548640" y="1783080"/>
            <a:ext cx="11094415" cy="1965960"/>
          </a:xfrm>
          <a:prstGeom prst="roundRect">
            <a:avLst>
              <a:gd name="adj" fmla="val 6512"/>
            </a:avLst>
          </a:prstGeom>
          <a:solidFill>
            <a:schemeClr val="bg2"/>
          </a:solidFill>
          <a:ln/>
        </p:spPr>
      </p:sp>
      <p:sp>
        <p:nvSpPr>
          <p:cNvPr id="5" name="Text 3"/>
          <p:cNvSpPr txBox="1"/>
          <p:nvPr/>
        </p:nvSpPr>
        <p:spPr>
          <a:xfrm>
            <a:off x="777240" y="1874520"/>
            <a:ext cx="4572000" cy="292608"/>
          </a:xfrm>
          <a:prstGeom prst="rect">
            <a:avLst/>
          </a:prstGeom>
          <a:noFill/>
          <a:ln/>
        </p:spPr>
        <p:txBody>
          <a:bodyPr wrap="square" lIns="0" tIns="0" rIns="0" bIns="0" rtlCol="0" anchor="t"/>
          <a:lstStyle/>
          <a:p>
            <a:pPr indent="0" marL="0">
              <a:buNone/>
            </a:pPr>
            <a:r>
              <a:rPr lang="en-US" sz="1400" b="1" spc="100" kern="0" dirty="0">
                <a:solidFill>
                  <a:schemeClr val="accent4"/>
                </a:solidFill>
              </a:rPr>
              <a:t>REAL-TIME PATH · EVERY 2 ms</a:t>
            </a:r>
            <a:endParaRPr lang="en-US" sz="1400" dirty="0"/>
          </a:p>
        </p:txBody>
      </p:sp>
      <p:sp>
        <p:nvSpPr>
          <p:cNvPr id="6" name="Vicon thread"/>
          <p:cNvSpPr txBox="1"/>
          <p:nvPr/>
        </p:nvSpPr>
        <p:spPr>
          <a:xfrm>
            <a:off x="777240" y="2240280"/>
            <a:ext cx="1463040" cy="1325880"/>
          </a:xfrm>
          <a:prstGeom prst="roundRect">
            <a:avLst>
              <a:gd name="adj" fmla="val 6897"/>
            </a:avLst>
          </a:prstGeom>
          <a:solidFill>
            <a:schemeClr val="bg1"/>
          </a:solidFill>
          <a:ln/>
          <a:effectLst>
            <a:outerShdw sx="100000" sy="100000" kx="0" ky="0" algn="bl" rotWithShape="0" blurRad="127000" dist="38100" dir="5400000">
              <a:srgbClr val="000000">
                <a:alpha val="18000"/>
              </a:srgbClr>
            </a:outerShdw>
          </a:effectLst>
        </p:spPr>
        <p:txBody>
          <a:bodyPr wrap="square" lIns="508" tIns="508" rIns="508" bIns="508" rtlCol="0" anchor="ctr"/>
          <a:lstStyle/>
          <a:p>
            <a:pPr algn="ctr" indent="0" marL="0">
              <a:buNone/>
            </a:pPr>
            <a:r>
              <a:rPr lang="en-US" sz="1800" b="1" dirty="0">
                <a:solidFill>
                  <a:schemeClr val="tx2"/>
                </a:solidFill>
              </a:rPr>
              <a:t>Vicon thread</a:t>
            </a:r>
            <a:endParaRPr lang="en-US" sz="1800" dirty="0"/>
          </a:p>
          <a:p>
            <a:pPr algn="ctr" indent="0" marL="0">
              <a:buNone/>
            </a:pPr>
            <a:r>
              <a:rPr lang="en-US" sz="1800" b="1" dirty="0">
                <a:solidFill>
                  <a:schemeClr val="tx2"/>
                </a:solidFill>
              </a:rPr>
              <a:t>100 Hz</a:t>
            </a:r>
            <a:endParaRPr lang="en-US" sz="1800" dirty="0"/>
          </a:p>
        </p:txBody>
      </p:sp>
      <p:sp>
        <p:nvSpPr>
          <p:cNvPr id="7" name="Wait-free slot"/>
          <p:cNvSpPr txBox="1"/>
          <p:nvPr/>
        </p:nvSpPr>
        <p:spPr>
          <a:xfrm>
            <a:off x="2514600" y="2240280"/>
            <a:ext cx="1234440" cy="1325880"/>
          </a:xfrm>
          <a:prstGeom prst="roundRect">
            <a:avLst>
              <a:gd name="adj" fmla="val 7407"/>
            </a:avLst>
          </a:prstGeom>
          <a:solidFill>
            <a:schemeClr val="bg1"/>
          </a:solidFill>
          <a:ln/>
          <a:effectLst>
            <a:outerShdw sx="100000" sy="100000" kx="0" ky="0" algn="bl" rotWithShape="0" blurRad="127000" dist="38100" dir="5400000">
              <a:srgbClr val="000000">
                <a:alpha val="18000"/>
              </a:srgbClr>
            </a:outerShdw>
          </a:effectLst>
        </p:spPr>
        <p:txBody>
          <a:bodyPr wrap="square" lIns="508" tIns="508" rIns="508" bIns="508" rtlCol="0" anchor="ctr"/>
          <a:lstStyle/>
          <a:p>
            <a:pPr algn="ctr" indent="0" marL="0">
              <a:buNone/>
            </a:pPr>
            <a:r>
              <a:rPr lang="en-US" sz="1800" b="1" dirty="0">
                <a:solidFill>
                  <a:schemeClr val="tx2"/>
                </a:solidFill>
              </a:rPr>
              <a:t>Wait-free</a:t>
            </a:r>
            <a:endParaRPr lang="en-US" sz="1800" dirty="0"/>
          </a:p>
          <a:p>
            <a:pPr algn="ctr" indent="0" marL="0">
              <a:buNone/>
            </a:pPr>
            <a:r>
              <a:rPr lang="en-US" sz="1800" b="1" dirty="0">
                <a:solidFill>
                  <a:schemeClr val="tx2"/>
                </a:solidFill>
              </a:rPr>
              <a:t>slot</a:t>
            </a:r>
            <a:endParaRPr lang="en-US" sz="1800" dirty="0"/>
          </a:p>
        </p:txBody>
      </p:sp>
      <p:sp>
        <p:nvSpPr>
          <p:cNvPr id="8" name="Control core"/>
          <p:cNvSpPr/>
          <p:nvPr/>
        </p:nvSpPr>
        <p:spPr>
          <a:xfrm>
            <a:off x="4023360" y="2240280"/>
            <a:ext cx="4434840" cy="1325880"/>
          </a:xfrm>
          <a:prstGeom prst="roundRect">
            <a:avLst>
              <a:gd name="adj" fmla="val 6897"/>
            </a:avLst>
          </a:prstGeom>
          <a:solidFill>
            <a:schemeClr val="tx2"/>
          </a:solidFill>
          <a:ln/>
          <a:effectLst>
            <a:outerShdw sx="100000" sy="100000" kx="0" ky="0" algn="bl" rotWithShape="0" blurRad="127000" dist="38100" dir="5400000">
              <a:srgbClr val="000000">
                <a:alpha val="18000"/>
              </a:srgbClr>
            </a:outerShdw>
          </a:effectLst>
        </p:spPr>
      </p:sp>
      <p:sp>
        <p:nvSpPr>
          <p:cNvPr id="9" name="Text 7"/>
          <p:cNvSpPr txBox="1"/>
          <p:nvPr/>
        </p:nvSpPr>
        <p:spPr>
          <a:xfrm>
            <a:off x="4023360" y="2331720"/>
            <a:ext cx="4434840" cy="384048"/>
          </a:xfrm>
          <a:prstGeom prst="rect">
            <a:avLst/>
          </a:prstGeom>
          <a:noFill/>
          <a:ln/>
        </p:spPr>
        <p:txBody>
          <a:bodyPr wrap="square" lIns="0" tIns="0" rIns="0" bIns="0" rtlCol="0" anchor="t"/>
          <a:lstStyle/>
          <a:p>
            <a:pPr algn="ctr" indent="0" marL="0">
              <a:buNone/>
            </a:pPr>
            <a:r>
              <a:rPr lang="en-US" sz="2000" b="1" dirty="0">
                <a:solidFill>
                  <a:schemeClr val="bg1"/>
                </a:solidFill>
              </a:rPr>
              <a:t>500 Hz control core</a:t>
            </a:r>
            <a:endParaRPr lang="en-US" sz="2000" dirty="0"/>
          </a:p>
        </p:txBody>
      </p:sp>
      <p:sp>
        <p:nvSpPr>
          <p:cNvPr id="10" name="Core Kinematics"/>
          <p:cNvSpPr txBox="1"/>
          <p:nvPr/>
        </p:nvSpPr>
        <p:spPr>
          <a:xfrm>
            <a:off x="4133088" y="2807208"/>
            <a:ext cx="1280160" cy="658368"/>
          </a:xfrm>
          <a:prstGeom prst="roundRect">
            <a:avLst>
              <a:gd name="adj" fmla="val 13889"/>
            </a:avLst>
          </a:prstGeom>
          <a:solidFill>
            <a:schemeClr val="accent5"/>
          </a:solidFill>
          <a:ln/>
        </p:spPr>
        <p:txBody>
          <a:bodyPr wrap="square" lIns="508" tIns="508" rIns="508" bIns="508" rtlCol="0" anchor="ctr"/>
          <a:lstStyle/>
          <a:p>
            <a:pPr algn="ctr" indent="0" marL="0">
              <a:buNone/>
            </a:pPr>
            <a:r>
              <a:rPr lang="en-US" sz="1600" b="1" dirty="0">
                <a:solidFill>
                  <a:schemeClr val="tx2"/>
                </a:solidFill>
              </a:rPr>
              <a:t>Kinematics</a:t>
            </a:r>
            <a:endParaRPr lang="en-US" sz="1600" dirty="0"/>
          </a:p>
        </p:txBody>
      </p:sp>
      <p:sp>
        <p:nvSpPr>
          <p:cNvPr id="11" name="Shape 9"/>
          <p:cNvSpPr/>
          <p:nvPr/>
        </p:nvSpPr>
        <p:spPr>
          <a:xfrm>
            <a:off x="5440680" y="3136392"/>
            <a:ext cx="132588" cy="0"/>
          </a:xfrm>
          <a:prstGeom prst="line">
            <a:avLst/>
          </a:prstGeom>
          <a:noFill/>
          <a:ln w="22225">
            <a:solidFill>
              <a:schemeClr val="bg1"/>
            </a:solidFill>
            <a:prstDash val="solid"/>
            <a:tailEnd type="triangle"/>
          </a:ln>
        </p:spPr>
      </p:sp>
      <p:sp>
        <p:nvSpPr>
          <p:cNvPr id="12" name="Core Control law"/>
          <p:cNvSpPr txBox="1"/>
          <p:nvPr/>
        </p:nvSpPr>
        <p:spPr>
          <a:xfrm>
            <a:off x="5600700" y="2807208"/>
            <a:ext cx="1280160" cy="658368"/>
          </a:xfrm>
          <a:prstGeom prst="roundRect">
            <a:avLst>
              <a:gd name="adj" fmla="val 13889"/>
            </a:avLst>
          </a:prstGeom>
          <a:solidFill>
            <a:schemeClr val="accent5"/>
          </a:solidFill>
          <a:ln/>
        </p:spPr>
        <p:txBody>
          <a:bodyPr wrap="square" lIns="508" tIns="508" rIns="508" bIns="508" rtlCol="0" anchor="ctr"/>
          <a:lstStyle/>
          <a:p>
            <a:pPr algn="ctr" indent="0" marL="0">
              <a:buNone/>
            </a:pPr>
            <a:r>
              <a:rPr lang="en-US" sz="1600" b="1" dirty="0">
                <a:solidFill>
                  <a:schemeClr val="tx2"/>
                </a:solidFill>
              </a:rPr>
              <a:t>Control law</a:t>
            </a:r>
            <a:endParaRPr lang="en-US" sz="1600" dirty="0"/>
          </a:p>
        </p:txBody>
      </p:sp>
      <p:sp>
        <p:nvSpPr>
          <p:cNvPr id="13" name="Shape 11"/>
          <p:cNvSpPr/>
          <p:nvPr/>
        </p:nvSpPr>
        <p:spPr>
          <a:xfrm>
            <a:off x="6908292" y="3136392"/>
            <a:ext cx="132588" cy="0"/>
          </a:xfrm>
          <a:prstGeom prst="line">
            <a:avLst/>
          </a:prstGeom>
          <a:noFill/>
          <a:ln w="22225">
            <a:solidFill>
              <a:schemeClr val="bg1"/>
            </a:solidFill>
            <a:prstDash val="solid"/>
            <a:tailEnd type="triangle"/>
          </a:ln>
        </p:spPr>
      </p:sp>
      <p:sp>
        <p:nvSpPr>
          <p:cNvPr id="14" name="Core Clamp + integrate"/>
          <p:cNvSpPr txBox="1"/>
          <p:nvPr/>
        </p:nvSpPr>
        <p:spPr>
          <a:xfrm>
            <a:off x="7068312" y="2807208"/>
            <a:ext cx="1280160" cy="658368"/>
          </a:xfrm>
          <a:prstGeom prst="roundRect">
            <a:avLst>
              <a:gd name="adj" fmla="val 13889"/>
            </a:avLst>
          </a:prstGeom>
          <a:solidFill>
            <a:schemeClr val="accent5"/>
          </a:solidFill>
          <a:ln/>
        </p:spPr>
        <p:txBody>
          <a:bodyPr wrap="square" lIns="508" tIns="508" rIns="508" bIns="508" rtlCol="0" anchor="ctr"/>
          <a:lstStyle/>
          <a:p>
            <a:pPr algn="ctr" indent="0" marL="0">
              <a:buNone/>
            </a:pPr>
            <a:r>
              <a:rPr lang="en-US" sz="1600" b="1" dirty="0">
                <a:solidFill>
                  <a:schemeClr val="tx2"/>
                </a:solidFill>
              </a:rPr>
              <a:t>Clamp + integrate</a:t>
            </a:r>
            <a:endParaRPr lang="en-US" sz="1600" dirty="0"/>
          </a:p>
        </p:txBody>
      </p:sp>
      <p:sp>
        <p:nvSpPr>
          <p:cNvPr id="15" name="Kortex"/>
          <p:cNvSpPr txBox="1"/>
          <p:nvPr/>
        </p:nvSpPr>
        <p:spPr>
          <a:xfrm>
            <a:off x="8732520" y="2240280"/>
            <a:ext cx="1600200" cy="1325880"/>
          </a:xfrm>
          <a:prstGeom prst="roundRect">
            <a:avLst>
              <a:gd name="adj" fmla="val 6897"/>
            </a:avLst>
          </a:prstGeom>
          <a:solidFill>
            <a:schemeClr val="bg1"/>
          </a:solidFill>
          <a:ln/>
          <a:effectLst>
            <a:outerShdw sx="100000" sy="100000" kx="0" ky="0" algn="bl" rotWithShape="0" blurRad="127000" dist="38100" dir="5400000">
              <a:srgbClr val="000000">
                <a:alpha val="18000"/>
              </a:srgbClr>
            </a:outerShdw>
          </a:effectLst>
        </p:spPr>
        <p:txBody>
          <a:bodyPr wrap="square" lIns="508" tIns="508" rIns="508" bIns="508" rtlCol="0" anchor="ctr"/>
          <a:lstStyle/>
          <a:p>
            <a:pPr algn="ctr" indent="0" marL="0">
              <a:buNone/>
            </a:pPr>
            <a:r>
              <a:rPr lang="en-US" sz="1800" b="1" dirty="0">
                <a:solidFill>
                  <a:schemeClr val="tx2"/>
                </a:solidFill>
              </a:rPr>
              <a:t>Kortex cyclic</a:t>
            </a:r>
            <a:endParaRPr lang="en-US" sz="1800" dirty="0"/>
          </a:p>
          <a:p>
            <a:pPr algn="ctr" indent="0" marL="0">
              <a:buNone/>
            </a:pPr>
            <a:r>
              <a:rPr lang="en-US" sz="1800" b="1" dirty="0">
                <a:solidFill>
                  <a:schemeClr val="tx2"/>
                </a:solidFill>
              </a:rPr>
              <a:t>exchange</a:t>
            </a:r>
            <a:endParaRPr lang="en-US" sz="1800" dirty="0"/>
          </a:p>
        </p:txBody>
      </p:sp>
      <p:sp>
        <p:nvSpPr>
          <p:cNvPr id="16" name="Arms"/>
          <p:cNvSpPr txBox="1"/>
          <p:nvPr/>
        </p:nvSpPr>
        <p:spPr>
          <a:xfrm>
            <a:off x="10607040" y="2240280"/>
            <a:ext cx="868680" cy="1325880"/>
          </a:xfrm>
          <a:prstGeom prst="roundRect">
            <a:avLst>
              <a:gd name="adj" fmla="val 10526"/>
            </a:avLst>
          </a:prstGeom>
          <a:solidFill>
            <a:schemeClr val="bg1"/>
          </a:solidFill>
          <a:ln/>
          <a:effectLst>
            <a:outerShdw sx="100000" sy="100000" kx="0" ky="0" algn="bl" rotWithShape="0" blurRad="127000" dist="38100" dir="5400000">
              <a:srgbClr val="000000">
                <a:alpha val="18000"/>
              </a:srgbClr>
            </a:outerShdw>
          </a:effectLst>
        </p:spPr>
        <p:txBody>
          <a:bodyPr wrap="square" lIns="508" tIns="508" rIns="508" bIns="508" rtlCol="0" anchor="ctr"/>
          <a:lstStyle/>
          <a:p>
            <a:pPr algn="ctr" indent="0" marL="0">
              <a:buNone/>
            </a:pPr>
            <a:r>
              <a:rPr lang="en-US" sz="1800" b="1" dirty="0">
                <a:solidFill>
                  <a:schemeClr val="tx2"/>
                </a:solidFill>
              </a:rPr>
              <a:t>Both</a:t>
            </a:r>
            <a:endParaRPr lang="en-US" sz="1800" dirty="0"/>
          </a:p>
          <a:p>
            <a:pPr algn="ctr" indent="0" marL="0">
              <a:buNone/>
            </a:pPr>
            <a:r>
              <a:rPr lang="en-US" sz="1800" b="1" dirty="0">
                <a:solidFill>
                  <a:schemeClr val="tx2"/>
                </a:solidFill>
              </a:rPr>
              <a:t>arms</a:t>
            </a:r>
            <a:endParaRPr lang="en-US" sz="1800" dirty="0"/>
          </a:p>
        </p:txBody>
      </p:sp>
      <p:sp>
        <p:nvSpPr>
          <p:cNvPr id="17" name="Shape 15"/>
          <p:cNvSpPr/>
          <p:nvPr/>
        </p:nvSpPr>
        <p:spPr>
          <a:xfrm>
            <a:off x="2276856" y="2903220"/>
            <a:ext cx="201168" cy="0"/>
          </a:xfrm>
          <a:prstGeom prst="line">
            <a:avLst/>
          </a:prstGeom>
          <a:noFill/>
          <a:ln w="28575">
            <a:solidFill>
              <a:schemeClr val="tx2"/>
            </a:solidFill>
            <a:prstDash val="solid"/>
            <a:tailEnd type="triangle"/>
          </a:ln>
        </p:spPr>
      </p:sp>
      <p:sp>
        <p:nvSpPr>
          <p:cNvPr id="18" name="Shape 16"/>
          <p:cNvSpPr/>
          <p:nvPr/>
        </p:nvSpPr>
        <p:spPr>
          <a:xfrm>
            <a:off x="3785616" y="2903220"/>
            <a:ext cx="201168" cy="0"/>
          </a:xfrm>
          <a:prstGeom prst="line">
            <a:avLst/>
          </a:prstGeom>
          <a:noFill/>
          <a:ln w="28575">
            <a:solidFill>
              <a:schemeClr val="tx2"/>
            </a:solidFill>
            <a:prstDash val="solid"/>
            <a:tailEnd type="triangle"/>
          </a:ln>
        </p:spPr>
      </p:sp>
      <p:sp>
        <p:nvSpPr>
          <p:cNvPr id="19" name="Shape 17"/>
          <p:cNvSpPr/>
          <p:nvPr/>
        </p:nvSpPr>
        <p:spPr>
          <a:xfrm>
            <a:off x="8494776" y="2903220"/>
            <a:ext cx="201168" cy="0"/>
          </a:xfrm>
          <a:prstGeom prst="line">
            <a:avLst/>
          </a:prstGeom>
          <a:noFill/>
          <a:ln w="28575">
            <a:solidFill>
              <a:schemeClr val="tx2"/>
            </a:solidFill>
            <a:prstDash val="solid"/>
            <a:tailEnd type="triangle"/>
          </a:ln>
        </p:spPr>
      </p:sp>
      <p:sp>
        <p:nvSpPr>
          <p:cNvPr id="20" name="Shape 18"/>
          <p:cNvSpPr/>
          <p:nvPr/>
        </p:nvSpPr>
        <p:spPr>
          <a:xfrm>
            <a:off x="10369296" y="2903220"/>
            <a:ext cx="201168" cy="0"/>
          </a:xfrm>
          <a:prstGeom prst="line">
            <a:avLst/>
          </a:prstGeom>
          <a:noFill/>
          <a:ln w="28575">
            <a:solidFill>
              <a:schemeClr val="tx2"/>
            </a:solidFill>
            <a:prstDash val="solid"/>
            <a:tailEnd type="triangle"/>
          </a:ln>
        </p:spPr>
      </p:sp>
      <p:sp>
        <p:nvSpPr>
          <p:cNvPr id="21" name="Planner thread"/>
          <p:cNvSpPr/>
          <p:nvPr/>
        </p:nvSpPr>
        <p:spPr>
          <a:xfrm>
            <a:off x="2651760" y="4160520"/>
            <a:ext cx="6995160" cy="1051560"/>
          </a:xfrm>
          <a:prstGeom prst="roundRect">
            <a:avLst>
              <a:gd name="adj" fmla="val 10435"/>
            </a:avLst>
          </a:prstGeom>
          <a:solidFill>
            <a:schemeClr val="bg1"/>
          </a:solidFill>
          <a:ln w="15875">
            <a:solidFill>
              <a:srgbClr val="9AA3A8"/>
            </a:solidFill>
            <a:prstDash val="dash"/>
          </a:ln>
        </p:spPr>
      </p:sp>
      <p:sp>
        <p:nvSpPr>
          <p:cNvPr id="22" name="Planner label"/>
          <p:cNvSpPr txBox="1"/>
          <p:nvPr/>
        </p:nvSpPr>
        <p:spPr>
          <a:xfrm>
            <a:off x="548640" y="4160520"/>
            <a:ext cx="1920240" cy="1051560"/>
          </a:xfrm>
          <a:prstGeom prst="rect">
            <a:avLst/>
          </a:prstGeom>
          <a:noFill/>
          <a:ln/>
        </p:spPr>
        <p:txBody>
          <a:bodyPr wrap="square" lIns="0" tIns="0" rIns="0" bIns="0" rtlCol="0" anchor="ctr"/>
          <a:lstStyle/>
          <a:p>
            <a:pPr algn="r" indent="0" marL="0">
              <a:buNone/>
            </a:pPr>
            <a:r>
              <a:rPr lang="en-US" sz="1400" b="1" spc="100" kern="0" dirty="0">
                <a:solidFill>
                  <a:schemeClr val="accent4"/>
                </a:solidFill>
              </a:rPr>
              <a:t>PLANNER THREAD</a:t>
            </a:r>
            <a:endParaRPr lang="en-US" sz="1400" dirty="0"/>
          </a:p>
          <a:p>
            <a:pPr algn="r" indent="0" marL="0">
              <a:buNone/>
            </a:pPr>
            <a:r>
              <a:rPr lang="en-US" sz="1400" b="1" spc="100" kern="0" dirty="0">
                <a:solidFill>
                  <a:schemeClr val="accent4"/>
                </a:solidFill>
              </a:rPr>
              <a:t>NOT REAL-TIME</a:t>
            </a:r>
            <a:endParaRPr lang="en-US" sz="1400" dirty="0"/>
          </a:p>
        </p:txBody>
      </p:sp>
      <p:sp>
        <p:nvSpPr>
          <p:cNvPr id="23" name="Planner GPMP2 planner"/>
          <p:cNvSpPr txBox="1"/>
          <p:nvPr/>
        </p:nvSpPr>
        <p:spPr>
          <a:xfrm>
            <a:off x="2834640" y="4320540"/>
            <a:ext cx="2057400" cy="731520"/>
          </a:xfrm>
          <a:prstGeom prst="roundRect">
            <a:avLst>
              <a:gd name="adj" fmla="val 12500"/>
            </a:avLst>
          </a:prstGeom>
          <a:solidFill>
            <a:schemeClr val="accent5"/>
          </a:solidFill>
          <a:ln/>
        </p:spPr>
        <p:txBody>
          <a:bodyPr wrap="square" lIns="508" tIns="508" rIns="508" bIns="508" rtlCol="0" anchor="ctr"/>
          <a:lstStyle/>
          <a:p>
            <a:pPr algn="ctr" indent="0" marL="0">
              <a:buNone/>
            </a:pPr>
            <a:r>
              <a:rPr lang="en-US" sz="1800" b="1" dirty="0">
                <a:solidFill>
                  <a:schemeClr val="tx2"/>
                </a:solidFill>
              </a:rPr>
              <a:t>GPMP2 planner</a:t>
            </a:r>
            <a:endParaRPr lang="en-US" sz="1800" dirty="0"/>
          </a:p>
        </p:txBody>
      </p:sp>
      <p:sp>
        <p:nvSpPr>
          <p:cNvPr id="24" name="Shape 22"/>
          <p:cNvSpPr/>
          <p:nvPr/>
        </p:nvSpPr>
        <p:spPr>
          <a:xfrm>
            <a:off x="4928616" y="4686300"/>
            <a:ext cx="155448" cy="0"/>
          </a:xfrm>
          <a:prstGeom prst="line">
            <a:avLst/>
          </a:prstGeom>
          <a:noFill/>
          <a:ln w="25400">
            <a:solidFill>
              <a:schemeClr val="tx2"/>
            </a:solidFill>
            <a:prstDash val="solid"/>
            <a:tailEnd type="triangle"/>
          </a:ln>
        </p:spPr>
      </p:sp>
      <p:sp>
        <p:nvSpPr>
          <p:cNvPr id="25" name="Planner Validator"/>
          <p:cNvSpPr txBox="1"/>
          <p:nvPr/>
        </p:nvSpPr>
        <p:spPr>
          <a:xfrm>
            <a:off x="5120640" y="4320540"/>
            <a:ext cx="2057400" cy="731520"/>
          </a:xfrm>
          <a:prstGeom prst="roundRect">
            <a:avLst>
              <a:gd name="adj" fmla="val 12500"/>
            </a:avLst>
          </a:prstGeom>
          <a:solidFill>
            <a:schemeClr val="accent5"/>
          </a:solidFill>
          <a:ln/>
        </p:spPr>
        <p:txBody>
          <a:bodyPr wrap="square" lIns="508" tIns="508" rIns="508" bIns="508" rtlCol="0" anchor="ctr"/>
          <a:lstStyle/>
          <a:p>
            <a:pPr algn="ctr" indent="0" marL="0">
              <a:buNone/>
            </a:pPr>
            <a:r>
              <a:rPr lang="en-US" sz="1800" b="1" dirty="0">
                <a:solidFill>
                  <a:schemeClr val="tx2"/>
                </a:solidFill>
              </a:rPr>
              <a:t>Validator</a:t>
            </a:r>
            <a:endParaRPr lang="en-US" sz="1800" dirty="0"/>
          </a:p>
        </p:txBody>
      </p:sp>
      <p:sp>
        <p:nvSpPr>
          <p:cNvPr id="26" name="Shape 24"/>
          <p:cNvSpPr/>
          <p:nvPr/>
        </p:nvSpPr>
        <p:spPr>
          <a:xfrm>
            <a:off x="7214616" y="4686300"/>
            <a:ext cx="155448" cy="0"/>
          </a:xfrm>
          <a:prstGeom prst="line">
            <a:avLst/>
          </a:prstGeom>
          <a:noFill/>
          <a:ln w="25400">
            <a:solidFill>
              <a:schemeClr val="tx2"/>
            </a:solidFill>
            <a:prstDash val="solid"/>
            <a:tailEnd type="triangle"/>
          </a:ln>
        </p:spPr>
      </p:sp>
      <p:sp>
        <p:nvSpPr>
          <p:cNvPr id="27" name="Planner Trajectory mailbox"/>
          <p:cNvSpPr txBox="1"/>
          <p:nvPr/>
        </p:nvSpPr>
        <p:spPr>
          <a:xfrm>
            <a:off x="7406640" y="4320540"/>
            <a:ext cx="2057400" cy="731520"/>
          </a:xfrm>
          <a:prstGeom prst="roundRect">
            <a:avLst>
              <a:gd name="adj" fmla="val 12500"/>
            </a:avLst>
          </a:prstGeom>
          <a:solidFill>
            <a:schemeClr val="accent5"/>
          </a:solidFill>
          <a:ln/>
        </p:spPr>
        <p:txBody>
          <a:bodyPr wrap="square" lIns="508" tIns="508" rIns="508" bIns="508" rtlCol="0" anchor="ctr"/>
          <a:lstStyle/>
          <a:p>
            <a:pPr algn="ctr" indent="0" marL="0">
              <a:buNone/>
            </a:pPr>
            <a:r>
              <a:rPr lang="en-US" sz="1800" b="1" dirty="0">
                <a:solidFill>
                  <a:schemeClr val="tx2"/>
                </a:solidFill>
              </a:rPr>
              <a:t>Trajectory mailbox</a:t>
            </a:r>
            <a:endParaRPr lang="en-US" sz="1800" dirty="0"/>
          </a:p>
        </p:txBody>
      </p:sp>
      <p:sp>
        <p:nvSpPr>
          <p:cNvPr id="28" name="Shape 26"/>
          <p:cNvSpPr/>
          <p:nvPr/>
        </p:nvSpPr>
        <p:spPr>
          <a:xfrm>
            <a:off x="4526280" y="3602736"/>
            <a:ext cx="0" cy="681228"/>
          </a:xfrm>
          <a:prstGeom prst="line">
            <a:avLst/>
          </a:prstGeom>
          <a:noFill/>
          <a:ln w="25400">
            <a:solidFill>
              <a:schemeClr val="tx2"/>
            </a:solidFill>
            <a:prstDash val="solid"/>
            <a:tailEnd type="triangle"/>
          </a:ln>
        </p:spPr>
      </p:sp>
      <p:sp>
        <p:nvSpPr>
          <p:cNvPr id="29" name="Text 27"/>
          <p:cNvSpPr txBox="1"/>
          <p:nvPr/>
        </p:nvSpPr>
        <p:spPr>
          <a:xfrm>
            <a:off x="2834640" y="3799332"/>
            <a:ext cx="1554480" cy="310896"/>
          </a:xfrm>
          <a:prstGeom prst="rect">
            <a:avLst/>
          </a:prstGeom>
          <a:noFill/>
          <a:ln/>
        </p:spPr>
        <p:txBody>
          <a:bodyPr wrap="square" lIns="0" tIns="0" rIns="0" bIns="0" rtlCol="0" anchor="t"/>
          <a:lstStyle/>
          <a:p>
            <a:pPr algn="r" indent="0" marL="0">
              <a:buNone/>
            </a:pPr>
            <a:r>
              <a:rPr lang="en-US" sz="1600" dirty="0">
                <a:solidFill>
                  <a:schemeClr val="accent4"/>
                </a:solidFill>
              </a:rPr>
              <a:t>plan request</a:t>
            </a:r>
            <a:endParaRPr lang="en-US" sz="1600" dirty="0"/>
          </a:p>
        </p:txBody>
      </p:sp>
      <p:sp>
        <p:nvSpPr>
          <p:cNvPr id="30" name="Shape 28"/>
          <p:cNvSpPr/>
          <p:nvPr/>
        </p:nvSpPr>
        <p:spPr>
          <a:xfrm flipV="1">
            <a:off x="8092440" y="3602736"/>
            <a:ext cx="0" cy="681228"/>
          </a:xfrm>
          <a:prstGeom prst="line">
            <a:avLst/>
          </a:prstGeom>
          <a:noFill/>
          <a:ln w="25400">
            <a:solidFill>
              <a:schemeClr val="tx2"/>
            </a:solidFill>
            <a:prstDash val="solid"/>
            <a:tailEnd type="triangle"/>
          </a:ln>
        </p:spPr>
      </p:sp>
      <p:sp>
        <p:nvSpPr>
          <p:cNvPr id="31" name="Text 29"/>
          <p:cNvSpPr txBox="1"/>
          <p:nvPr/>
        </p:nvSpPr>
        <p:spPr>
          <a:xfrm>
            <a:off x="8229600" y="3799332"/>
            <a:ext cx="2194560" cy="310896"/>
          </a:xfrm>
          <a:prstGeom prst="rect">
            <a:avLst/>
          </a:prstGeom>
          <a:noFill/>
          <a:ln/>
        </p:spPr>
        <p:txBody>
          <a:bodyPr wrap="square" lIns="0" tIns="0" rIns="0" bIns="0" rtlCol="0" anchor="t"/>
          <a:lstStyle/>
          <a:p>
            <a:pPr indent="0" marL="0">
              <a:buNone/>
            </a:pPr>
            <a:r>
              <a:rPr lang="en-US" sz="1600" dirty="0">
                <a:solidFill>
                  <a:schemeClr val="accent4"/>
                </a:solidFill>
              </a:rPr>
              <a:t>checked trajectory</a:t>
            </a:r>
            <a:endParaRPr lang="en-US" sz="1600" dirty="0"/>
          </a:p>
        </p:txBody>
      </p:sp>
      <p:sp>
        <p:nvSpPr>
          <p:cNvPr id="32" name="Gain and cost"/>
          <p:cNvSpPr txBox="1"/>
          <p:nvPr/>
        </p:nvSpPr>
        <p:spPr>
          <a:xfrm>
            <a:off x="548640" y="5513832"/>
            <a:ext cx="11094415" cy="566928"/>
          </a:xfrm>
          <a:prstGeom prst="rect">
            <a:avLst/>
          </a:prstGeom>
          <a:noFill/>
          <a:ln/>
        </p:spPr>
        <p:txBody>
          <a:bodyPr wrap="square" lIns="0" tIns="0" rIns="0" bIns="0" rtlCol="0" anchor="t"/>
          <a:lstStyle/>
          <a:p>
            <a:pPr indent="0" marL="0">
              <a:buNone/>
            </a:pPr>
            <a:r>
              <a:rPr lang="en-US" sz="1800" b="1" dirty="0">
                <a:solidFill>
                  <a:schemeClr val="tx2"/>
                </a:solidFill>
              </a:rPr>
              <a:t>Gain: </a:t>
            </a:r>
            <a:pPr indent="0" marL="0">
              <a:buNone/>
            </a:pPr>
            <a:r>
              <a:rPr lang="en-US" sz="1800" dirty="0">
                <a:solidFill>
                  <a:schemeClr val="tx1"/>
                </a:solidFill>
              </a:rPr>
              <a:t>the 2 ms loop never waits on Vicon or the planner.</a:t>
            </a:r>
            <a:endParaRPr lang="en-US" sz="1800" dirty="0"/>
          </a:p>
          <a:p>
            <a:pPr indent="0" marL="0">
              <a:buNone/>
            </a:pPr>
            <a:r>
              <a:rPr lang="en-US" sz="1800" b="1" dirty="0">
                <a:solidFill>
                  <a:schemeClr val="tx2"/>
                </a:solidFill>
              </a:rPr>
              <a:t>Cost: </a:t>
            </a:r>
            <a:pPr indent="0" marL="0">
              <a:buNone/>
            </a:pPr>
            <a:r>
              <a:rPr lang="en-US" sz="1800" dirty="0">
                <a:solidFill>
                  <a:schemeClr val="tx1"/>
                </a:solidFill>
              </a:rPr>
              <a:t>a new plan starts later, only after it passes the validator.</a:t>
            </a:r>
            <a:endParaRPr lang="en-US" sz="1800" dirty="0"/>
          </a:p>
        </p:txBody>
      </p:sp>
      <p:sp>
        <p:nvSpPr>
          <p:cNvPr id="33" name="Caption"/>
          <p:cNvSpPr txBox="1"/>
          <p:nvPr/>
        </p:nvSpPr>
        <p:spPr>
          <a:xfrm>
            <a:off x="548640" y="6117336"/>
            <a:ext cx="11094415" cy="256032"/>
          </a:xfrm>
          <a:prstGeom prst="rect">
            <a:avLst/>
          </a:prstGeom>
          <a:noFill/>
          <a:ln/>
        </p:spPr>
        <p:txBody>
          <a:bodyPr wrap="square" lIns="0" tIns="0" rIns="0" bIns="0" rtlCol="0" anchor="t"/>
          <a:lstStyle/>
          <a:p>
            <a:pPr indent="0" marL="0">
              <a:buNone/>
            </a:pPr>
            <a:r>
              <a:rPr lang="en-US" sz="1400" dirty="0">
                <a:solidFill>
                  <a:schemeClr val="accent4"/>
                </a:solidFill>
              </a:rPr>
              <a:t>My C++ controller (HumanSL_MAIN); a MuJoCo twin runs the same core.</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txBox="1"/>
          <p:nvPr/>
        </p:nvSpPr>
        <p:spPr>
          <a:xfrm>
            <a:off x="548640" y="402336"/>
            <a:ext cx="3562502"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TRADE-OFFS &amp; CHALLENGES</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Turning up the gain barely helped</a:t>
            </a:r>
            <a:endParaRPr lang="en-US" sz="3200" dirty="0"/>
          </a:p>
        </p:txBody>
      </p:sp>
      <p:sp>
        <p:nvSpPr>
          <p:cNvPr id="4" name="Compare 1"/>
          <p:cNvSpPr txBox="1"/>
          <p:nvPr/>
        </p:nvSpPr>
        <p:spPr>
          <a:xfrm>
            <a:off x="1661008" y="2194560"/>
            <a:ext cx="3840480" cy="1417320"/>
          </a:xfrm>
          <a:prstGeom prst="rect">
            <a:avLst/>
          </a:prstGeom>
          <a:noFill/>
          <a:ln/>
        </p:spPr>
        <p:txBody>
          <a:bodyPr wrap="square" lIns="0" tIns="0" rIns="0" bIns="0" rtlCol="0" anchor="ctr"/>
          <a:lstStyle/>
          <a:p>
            <a:pPr algn="ctr" indent="0" marL="0">
              <a:buNone/>
            </a:pPr>
            <a:r>
              <a:rPr lang="en-US" sz="9600" b="1" dirty="0">
                <a:solidFill>
                  <a:schemeClr val="accent4"/>
                </a:solidFill>
              </a:rPr>
              <a:t>38%</a:t>
            </a:r>
            <a:endParaRPr lang="en-US" sz="9600" dirty="0"/>
          </a:p>
        </p:txBody>
      </p:sp>
      <p:sp>
        <p:nvSpPr>
          <p:cNvPr id="5" name="Compare 1 label"/>
          <p:cNvSpPr txBox="1"/>
          <p:nvPr/>
        </p:nvSpPr>
        <p:spPr>
          <a:xfrm>
            <a:off x="1661008" y="3657600"/>
            <a:ext cx="3840480" cy="411480"/>
          </a:xfrm>
          <a:prstGeom prst="rect">
            <a:avLst/>
          </a:prstGeom>
          <a:noFill/>
          <a:ln/>
        </p:spPr>
        <p:txBody>
          <a:bodyPr wrap="square" lIns="0" tIns="0" rIns="0" bIns="0" rtlCol="0" anchor="t"/>
          <a:lstStyle/>
          <a:p>
            <a:pPr algn="ctr" indent="0" marL="0">
              <a:buNone/>
            </a:pPr>
            <a:r>
              <a:rPr lang="en-US" sz="2200" dirty="0">
                <a:solidFill>
                  <a:schemeClr val="tx1"/>
                </a:solidFill>
              </a:rPr>
              <a:t>predicted drop near 1 Hz</a:t>
            </a:r>
            <a:endParaRPr lang="en-US" sz="2200" dirty="0"/>
          </a:p>
        </p:txBody>
      </p:sp>
      <p:sp>
        <p:nvSpPr>
          <p:cNvPr id="6" name="Compare 2"/>
          <p:cNvSpPr txBox="1"/>
          <p:nvPr/>
        </p:nvSpPr>
        <p:spPr>
          <a:xfrm>
            <a:off x="6690208" y="2194560"/>
            <a:ext cx="3840480" cy="1417320"/>
          </a:xfrm>
          <a:prstGeom prst="rect">
            <a:avLst/>
          </a:prstGeom>
          <a:noFill/>
          <a:ln/>
        </p:spPr>
        <p:txBody>
          <a:bodyPr wrap="square" lIns="0" tIns="0" rIns="0" bIns="0" rtlCol="0" anchor="ctr"/>
          <a:lstStyle/>
          <a:p>
            <a:pPr algn="ctr" indent="0" marL="0">
              <a:buNone/>
            </a:pPr>
            <a:r>
              <a:rPr lang="en-US" sz="9600" b="1" dirty="0">
                <a:solidFill>
                  <a:schemeClr val="accent3"/>
                </a:solidFill>
              </a:rPr>
              <a:t>9%</a:t>
            </a:r>
            <a:endParaRPr lang="en-US" sz="9600" dirty="0"/>
          </a:p>
        </p:txBody>
      </p:sp>
      <p:sp>
        <p:nvSpPr>
          <p:cNvPr id="7" name="Compare 2 label"/>
          <p:cNvSpPr txBox="1"/>
          <p:nvPr/>
        </p:nvSpPr>
        <p:spPr>
          <a:xfrm>
            <a:off x="6690208" y="3657600"/>
            <a:ext cx="3840480" cy="411480"/>
          </a:xfrm>
          <a:prstGeom prst="rect">
            <a:avLst/>
          </a:prstGeom>
          <a:noFill/>
          <a:ln/>
        </p:spPr>
        <p:txBody>
          <a:bodyPr wrap="square" lIns="0" tIns="0" rIns="0" bIns="0" rtlCol="0" anchor="t"/>
          <a:lstStyle/>
          <a:p>
            <a:pPr algn="ctr" indent="0" marL="0">
              <a:buNone/>
            </a:pPr>
            <a:r>
              <a:rPr lang="en-US" sz="2200" dirty="0">
                <a:solidFill>
                  <a:schemeClr val="tx1"/>
                </a:solidFill>
              </a:rPr>
              <a:t>measured drop near 1 Hz</a:t>
            </a:r>
            <a:endParaRPr lang="en-US" sz="2200" dirty="0"/>
          </a:p>
        </p:txBody>
      </p:sp>
      <p:sp>
        <p:nvSpPr>
          <p:cNvPr id="8" name="Text 6"/>
          <p:cNvSpPr txBox="1"/>
          <p:nvPr/>
        </p:nvSpPr>
        <p:spPr>
          <a:xfrm>
            <a:off x="5547208" y="2194560"/>
            <a:ext cx="1097280" cy="1417320"/>
          </a:xfrm>
          <a:prstGeom prst="rect">
            <a:avLst/>
          </a:prstGeom>
          <a:noFill/>
          <a:ln/>
        </p:spPr>
        <p:txBody>
          <a:bodyPr wrap="square" lIns="0" tIns="0" rIns="0" bIns="0" rtlCol="0" anchor="ctr"/>
          <a:lstStyle/>
          <a:p>
            <a:pPr algn="ctr" indent="0" marL="0">
              <a:buNone/>
            </a:pPr>
            <a:r>
              <a:rPr lang="en-US" sz="2800" dirty="0">
                <a:solidFill>
                  <a:schemeClr val="accent4"/>
                </a:solidFill>
              </a:rPr>
              <a:t>vs</a:t>
            </a:r>
            <a:endParaRPr lang="en-US" sz="2800" dirty="0"/>
          </a:p>
        </p:txBody>
      </p:sp>
      <p:sp>
        <p:nvSpPr>
          <p:cNvPr id="9" name="Pilot"/>
          <p:cNvSpPr txBox="1"/>
          <p:nvPr/>
        </p:nvSpPr>
        <p:spPr>
          <a:xfrm>
            <a:off x="548640" y="4526280"/>
            <a:ext cx="11094415" cy="411480"/>
          </a:xfrm>
          <a:prstGeom prst="rect">
            <a:avLst/>
          </a:prstGeom>
          <a:noFill/>
          <a:ln/>
        </p:spPr>
        <p:txBody>
          <a:bodyPr wrap="square" lIns="0" tIns="0" rIns="0" bIns="0" rtlCol="0" anchor="t"/>
          <a:lstStyle/>
          <a:p>
            <a:pPr algn="ctr" indent="0" marL="0">
              <a:buNone/>
            </a:pPr>
            <a:r>
              <a:rPr lang="en-US" sz="2200" dirty="0">
                <a:solidFill>
                  <a:schemeClr val="accent4"/>
                </a:solidFill>
              </a:rPr>
              <a:t>Pilot, one wearer: velocity gain Kd raised 0.8 → 2.6</a:t>
            </a:r>
            <a:endParaRPr lang="en-US" sz="2200" dirty="0"/>
          </a:p>
        </p:txBody>
      </p:sp>
      <p:sp>
        <p:nvSpPr>
          <p:cNvPr id="10" name="Takeaway"/>
          <p:cNvSpPr txBox="1"/>
          <p:nvPr/>
        </p:nvSpPr>
        <p:spPr>
          <a:xfrm>
            <a:off x="548640" y="5212080"/>
            <a:ext cx="11094415" cy="640080"/>
          </a:xfrm>
          <a:prstGeom prst="rect">
            <a:avLst/>
          </a:prstGeom>
          <a:noFill/>
          <a:ln/>
        </p:spPr>
        <p:txBody>
          <a:bodyPr wrap="square" lIns="0" tIns="0" rIns="0" bIns="0" rtlCol="0" anchor="ctr"/>
          <a:lstStyle/>
          <a:p>
            <a:pPr algn="ctr" indent="0" marL="0">
              <a:buNone/>
            </a:pPr>
            <a:r>
              <a:rPr lang="en-US" sz="3200" b="1" dirty="0">
                <a:solidFill>
                  <a:schemeClr val="tx2"/>
                </a:solidFill>
              </a:rPr>
              <a:t>The velocity term was barely acting. Why?</a:t>
            </a:r>
            <a:endParaRPr lang="en-US" sz="3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txBox="1"/>
          <p:nvPr/>
        </p:nvSpPr>
        <p:spPr>
          <a:xfrm>
            <a:off x="548640" y="402336"/>
            <a:ext cx="3562502"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TRADE-OFFS &amp; CHALLENGES</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The cause: the velocity arrives 61–71 ms late</a:t>
            </a:r>
            <a:endParaRPr lang="en-US" sz="3200" dirty="0"/>
          </a:p>
        </p:txBody>
      </p:sp>
      <p:sp>
        <p:nvSpPr>
          <p:cNvPr id="4" name="Kalman lag (36 ms)"/>
          <p:cNvSpPr/>
          <p:nvPr/>
        </p:nvSpPr>
        <p:spPr>
          <a:xfrm>
            <a:off x="548640" y="2103120"/>
            <a:ext cx="4136797" cy="1005840"/>
          </a:xfrm>
          <a:prstGeom prst="rect">
            <a:avLst/>
          </a:prstGeom>
          <a:solidFill>
            <a:schemeClr val="accent3"/>
          </a:solidFill>
          <a:ln/>
        </p:spPr>
      </p:sp>
      <p:pic>
        <p:nvPicPr>
          <p:cNvPr id="5" name="Kalman lag fade (36-46 ms)" descr="Kalman lag range, 36 to 46 ms">    </p:cNvPr>
          <p:cNvPicPr>
            <a:picLocks noChangeAspect="1"/>
          </p:cNvPicPr>
          <p:nvPr/>
        </p:nvPicPr>
        <p:blipFill>
          <a:blip r:embed="rId1"/>
          <a:stretch>
            <a:fillRect/>
          </a:stretch>
        </p:blipFill>
        <p:spPr>
          <a:xfrm>
            <a:off x="4667149" y="2103120"/>
            <a:ext cx="1144030" cy="1005840"/>
          </a:xfrm>
          <a:prstGeom prst="rect">
            <a:avLst/>
          </a:prstGeom>
        </p:spPr>
      </p:pic>
      <p:sp>
        <p:nvSpPr>
          <p:cNvPr id="6" name="Kalman label"/>
          <p:cNvSpPr txBox="1"/>
          <p:nvPr/>
        </p:nvSpPr>
        <p:spPr>
          <a:xfrm>
            <a:off x="548640" y="2103120"/>
            <a:ext cx="5262539" cy="1005840"/>
          </a:xfrm>
          <a:prstGeom prst="rect">
            <a:avLst/>
          </a:prstGeom>
          <a:noFill/>
          <a:ln/>
        </p:spPr>
        <p:txBody>
          <a:bodyPr wrap="square" lIns="0" tIns="0" rIns="0" bIns="0" rtlCol="0" anchor="ctr"/>
          <a:lstStyle/>
          <a:p>
            <a:pPr algn="ctr" indent="0" marL="0">
              <a:buNone/>
            </a:pPr>
            <a:r>
              <a:rPr lang="en-US" sz="2000" b="1" dirty="0">
                <a:solidFill>
                  <a:schemeClr val="bg1"/>
                </a:solidFill>
              </a:rPr>
              <a:t>Kalman filter 36–46 ms</a:t>
            </a:r>
            <a:endParaRPr lang="en-US" sz="2000" dirty="0"/>
          </a:p>
        </p:txBody>
      </p:sp>
      <p:sp>
        <p:nvSpPr>
          <p:cNvPr id="7" name="Delay segment sensing"/>
          <p:cNvSpPr/>
          <p:nvPr/>
        </p:nvSpPr>
        <p:spPr>
          <a:xfrm>
            <a:off x="5811179" y="2103120"/>
            <a:ext cx="1144030" cy="1005840"/>
          </a:xfrm>
          <a:prstGeom prst="rect">
            <a:avLst/>
          </a:prstGeom>
          <a:solidFill>
            <a:schemeClr val="accent3">
              <a:alpha val="75000"/>
            </a:schemeClr>
          </a:solidFill>
          <a:ln/>
        </p:spPr>
      </p:sp>
      <p:sp>
        <p:nvSpPr>
          <p:cNvPr id="8" name="Delay divider 1"/>
          <p:cNvSpPr/>
          <p:nvPr/>
        </p:nvSpPr>
        <p:spPr>
          <a:xfrm>
            <a:off x="5811179" y="2103120"/>
            <a:ext cx="0" cy="1005840"/>
          </a:xfrm>
          <a:prstGeom prst="line">
            <a:avLst/>
          </a:prstGeom>
          <a:noFill/>
          <a:ln w="31750">
            <a:solidFill>
              <a:schemeClr val="bg1"/>
            </a:solidFill>
            <a:prstDash val="solid"/>
          </a:ln>
        </p:spPr>
      </p:sp>
      <p:sp>
        <p:nvSpPr>
          <p:cNvPr id="9" name="Text 6"/>
          <p:cNvSpPr txBox="1"/>
          <p:nvPr/>
        </p:nvSpPr>
        <p:spPr>
          <a:xfrm>
            <a:off x="5811179" y="2103120"/>
            <a:ext cx="1144030" cy="1005840"/>
          </a:xfrm>
          <a:prstGeom prst="rect">
            <a:avLst/>
          </a:prstGeom>
          <a:noFill/>
          <a:ln/>
        </p:spPr>
        <p:txBody>
          <a:bodyPr wrap="square" lIns="0" tIns="0" rIns="0" bIns="0" rtlCol="0" anchor="ctr"/>
          <a:lstStyle/>
          <a:p>
            <a:pPr algn="ctr" indent="0" marL="0">
              <a:buNone/>
            </a:pPr>
            <a:r>
              <a:rPr lang="en-US" sz="2000" b="1" dirty="0">
                <a:solidFill>
                  <a:schemeClr val="tx2"/>
                </a:solidFill>
              </a:rPr>
              <a:t>sensing</a:t>
            </a:r>
            <a:endParaRPr lang="en-US" sz="2000" dirty="0"/>
          </a:p>
          <a:p>
            <a:pPr algn="ctr" indent="0" marL="0">
              <a:buNone/>
            </a:pPr>
            <a:r>
              <a:rPr lang="en-US" sz="2000" b="1" dirty="0">
                <a:solidFill>
                  <a:schemeClr val="tx2"/>
                </a:solidFill>
              </a:rPr>
              <a:t>~10 ms</a:t>
            </a:r>
            <a:endParaRPr lang="en-US" sz="2000" dirty="0"/>
          </a:p>
        </p:txBody>
      </p:sp>
      <p:sp>
        <p:nvSpPr>
          <p:cNvPr id="10" name="Delay segment joints"/>
          <p:cNvSpPr/>
          <p:nvPr/>
        </p:nvSpPr>
        <p:spPr>
          <a:xfrm>
            <a:off x="6955210" y="2103120"/>
            <a:ext cx="1716045" cy="1005840"/>
          </a:xfrm>
          <a:prstGeom prst="rect">
            <a:avLst/>
          </a:prstGeom>
          <a:solidFill>
            <a:schemeClr val="accent3">
              <a:alpha val="55000"/>
            </a:schemeClr>
          </a:solidFill>
          <a:ln/>
        </p:spPr>
      </p:sp>
      <p:sp>
        <p:nvSpPr>
          <p:cNvPr id="11" name="Delay divider 2"/>
          <p:cNvSpPr/>
          <p:nvPr/>
        </p:nvSpPr>
        <p:spPr>
          <a:xfrm>
            <a:off x="6955210" y="2103120"/>
            <a:ext cx="0" cy="1005840"/>
          </a:xfrm>
          <a:prstGeom prst="line">
            <a:avLst/>
          </a:prstGeom>
          <a:noFill/>
          <a:ln w="31750">
            <a:solidFill>
              <a:schemeClr val="bg1"/>
            </a:solidFill>
            <a:prstDash val="solid"/>
          </a:ln>
        </p:spPr>
      </p:sp>
      <p:sp>
        <p:nvSpPr>
          <p:cNvPr id="12" name="Text 9"/>
          <p:cNvSpPr txBox="1"/>
          <p:nvPr/>
        </p:nvSpPr>
        <p:spPr>
          <a:xfrm>
            <a:off x="6955210" y="2103120"/>
            <a:ext cx="1716045" cy="1005840"/>
          </a:xfrm>
          <a:prstGeom prst="rect">
            <a:avLst/>
          </a:prstGeom>
          <a:noFill/>
          <a:ln/>
        </p:spPr>
        <p:txBody>
          <a:bodyPr wrap="square" lIns="0" tIns="0" rIns="0" bIns="0" rtlCol="0" anchor="ctr"/>
          <a:lstStyle/>
          <a:p>
            <a:pPr algn="ctr" indent="0" marL="0">
              <a:buNone/>
            </a:pPr>
            <a:r>
              <a:rPr lang="en-US" sz="2000" b="1" dirty="0">
                <a:solidFill>
                  <a:schemeClr val="tx2"/>
                </a:solidFill>
              </a:rPr>
              <a:t>joints</a:t>
            </a:r>
            <a:endParaRPr lang="en-US" sz="2000" dirty="0"/>
          </a:p>
          <a:p>
            <a:pPr algn="ctr" indent="0" marL="0">
              <a:buNone/>
            </a:pPr>
            <a:r>
              <a:rPr lang="en-US" sz="2000" b="1" dirty="0">
                <a:solidFill>
                  <a:schemeClr val="tx2"/>
                </a:solidFill>
              </a:rPr>
              <a:t>~15 ms</a:t>
            </a:r>
            <a:endParaRPr lang="en-US" sz="2000" dirty="0"/>
          </a:p>
        </p:txBody>
      </p:sp>
      <p:sp>
        <p:nvSpPr>
          <p:cNvPr id="13" name="Delay total"/>
          <p:cNvSpPr txBox="1"/>
          <p:nvPr/>
        </p:nvSpPr>
        <p:spPr>
          <a:xfrm>
            <a:off x="8899855" y="2103120"/>
            <a:ext cx="2743200" cy="1005840"/>
          </a:xfrm>
          <a:prstGeom prst="rect">
            <a:avLst/>
          </a:prstGeom>
          <a:noFill/>
          <a:ln/>
        </p:spPr>
        <p:txBody>
          <a:bodyPr wrap="square" lIns="0" tIns="0" rIns="0" bIns="0" rtlCol="0" anchor="ctr"/>
          <a:lstStyle/>
          <a:p>
            <a:pPr indent="0" marL="0">
              <a:buNone/>
            </a:pPr>
            <a:r>
              <a:rPr lang="en-US" sz="3600" b="1" dirty="0">
                <a:solidFill>
                  <a:schemeClr val="accent3"/>
                </a:solidFill>
              </a:rPr>
              <a:t>= 61–71 ms</a:t>
            </a:r>
            <a:endParaRPr lang="en-US" sz="3600" dirty="0"/>
          </a:p>
        </p:txBody>
      </p:sp>
      <p:sp>
        <p:nvSpPr>
          <p:cNvPr id="14" name="Delay formula"/>
          <p:cNvSpPr txBox="1"/>
          <p:nvPr/>
        </p:nvSpPr>
        <p:spPr>
          <a:xfrm>
            <a:off x="548640" y="3657600"/>
            <a:ext cx="11094415" cy="685800"/>
          </a:xfrm>
          <a:prstGeom prst="rect">
            <a:avLst/>
          </a:prstGeom>
          <a:noFill/>
          <a:ln/>
        </p:spPr>
        <p:txBody>
          <a:bodyPr wrap="square" lIns="0" tIns="0" rIns="0" bIns="0" rtlCol="0" anchor="ctr"/>
          <a:lstStyle/>
          <a:p>
            <a:pPr indent="0" marL="0">
              <a:buNone/>
            </a:pPr>
            <a:r>
              <a:rPr lang="en-US" sz="3200" b="1" dirty="0">
                <a:solidFill>
                  <a:schemeClr val="tx2"/>
                </a:solidFill>
              </a:rPr>
              <a:t>share of velocity left uncancelled = 2·sin(</a:t>
            </a:r>
            <a:pPr indent="0" marL="0">
              <a:buNone/>
            </a:pPr>
            <a:r>
              <a:rPr lang="en-US" sz="3200" b="1" i="1" dirty="0">
                <a:solidFill>
                  <a:schemeClr val="tx2"/>
                </a:solidFill>
              </a:rPr>
              <a:t>ωd</a:t>
            </a:r>
            <a:pPr indent="0" marL="0">
              <a:buNone/>
            </a:pPr>
            <a:r>
              <a:rPr lang="en-US" sz="3200" b="1" dirty="0">
                <a:solidFill>
                  <a:schemeClr val="tx2"/>
                </a:solidFill>
              </a:rPr>
              <a:t>/2)</a:t>
            </a:r>
            <a:endParaRPr lang="en-US" sz="3200" dirty="0"/>
          </a:p>
        </p:txBody>
      </p:sp>
      <p:sp>
        <p:nvSpPr>
          <p:cNvPr id="15" name="Formula key"/>
          <p:cNvSpPr txBox="1"/>
          <p:nvPr/>
        </p:nvSpPr>
        <p:spPr>
          <a:xfrm>
            <a:off x="548640" y="4343400"/>
            <a:ext cx="11094415" cy="292608"/>
          </a:xfrm>
          <a:prstGeom prst="rect">
            <a:avLst/>
          </a:prstGeom>
          <a:noFill/>
          <a:ln/>
        </p:spPr>
        <p:txBody>
          <a:bodyPr wrap="square" lIns="0" tIns="0" rIns="0" bIns="0" rtlCol="0" anchor="t"/>
          <a:lstStyle/>
          <a:p>
            <a:pPr indent="0" marL="0">
              <a:buNone/>
            </a:pPr>
            <a:r>
              <a:rPr lang="en-US" sz="1600" dirty="0">
                <a:solidFill>
                  <a:schemeClr val="accent4"/>
                </a:solidFill>
              </a:rPr>
              <a:t>ω: step rate · d: delay</a:t>
            </a:r>
            <a:endParaRPr lang="en-US" sz="1600" dirty="0"/>
          </a:p>
        </p:txBody>
      </p:sp>
      <p:sp>
        <p:nvSpPr>
          <p:cNvPr id="16" name="Formula gloss"/>
          <p:cNvSpPr txBox="1"/>
          <p:nvPr/>
        </p:nvSpPr>
        <p:spPr>
          <a:xfrm>
            <a:off x="548640" y="4846320"/>
            <a:ext cx="11094415" cy="457200"/>
          </a:xfrm>
          <a:prstGeom prst="rect">
            <a:avLst/>
          </a:prstGeom>
          <a:noFill/>
          <a:ln/>
        </p:spPr>
        <p:txBody>
          <a:bodyPr wrap="square" lIns="0" tIns="0" rIns="0" bIns="0" rtlCol="0" anchor="t"/>
          <a:lstStyle/>
          <a:p>
            <a:pPr indent="0" marL="0">
              <a:buNone/>
            </a:pPr>
            <a:r>
              <a:rPr lang="en-US" sz="2400" dirty="0">
                <a:solidFill>
                  <a:schemeClr val="tx1"/>
                </a:solidFill>
              </a:rPr>
              <a:t>Steps at 1.8 Hz, 60 ms late: the velocity is off by </a:t>
            </a:r>
            <a:pPr indent="0" marL="0">
              <a:buNone/>
            </a:pPr>
            <a:r>
              <a:rPr lang="en-US" sz="2400" b="1" dirty="0">
                <a:solidFill>
                  <a:schemeClr val="accent3"/>
                </a:solidFill>
              </a:rPr>
              <a:t>two-thirds</a:t>
            </a:r>
            <a:pPr indent="0" marL="0">
              <a:buNone/>
            </a:pPr>
            <a:r>
              <a:rPr lang="en-US" sz="2400" dirty="0">
                <a:solidFill>
                  <a:schemeClr val="tx1"/>
                </a:solidFill>
              </a:rPr>
              <a:t> of its own size.</a:t>
            </a:r>
            <a:endParaRPr lang="en-US" sz="2400" dirty="0"/>
          </a:p>
        </p:txBody>
      </p:sp>
      <p:sp>
        <p:nvSpPr>
          <p:cNvPr id="17" name="Evidence"/>
          <p:cNvSpPr txBox="1"/>
          <p:nvPr/>
        </p:nvSpPr>
        <p:spPr>
          <a:xfrm>
            <a:off x="548640" y="5532120"/>
            <a:ext cx="11094415" cy="411480"/>
          </a:xfrm>
          <a:prstGeom prst="rect">
            <a:avLst/>
          </a:prstGeom>
          <a:noFill/>
          <a:ln/>
        </p:spPr>
        <p:txBody>
          <a:bodyPr wrap="square" lIns="0" tIns="0" rIns="0" bIns="0" rtlCol="0" anchor="t"/>
          <a:lstStyle/>
          <a:p>
            <a:pPr indent="0" marL="0">
              <a:buNone/>
            </a:pPr>
            <a:r>
              <a:rPr lang="en-US" sz="2000" dirty="0">
                <a:solidFill>
                  <a:schemeClr val="accent4"/>
                </a:solidFill>
              </a:rPr>
              <a:t>Measured delay, nothing fitted: the model matches the hardware better in 6 of 6 people.</a:t>
            </a:r>
            <a:endParaRPr lang="en-US" sz="20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txBox="1"/>
          <p:nvPr/>
        </p:nvSpPr>
        <p:spPr>
          <a:xfrm>
            <a:off x="548640" y="402336"/>
            <a:ext cx="1199693"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400" b="1" spc="200" kern="0" dirty="0">
                <a:solidFill>
                  <a:schemeClr val="bg1"/>
                </a:solidFill>
              </a:rPr>
              <a:t>IMPACT</a:t>
            </a:r>
            <a:endParaRPr lang="en-US" sz="1400" dirty="0"/>
          </a:p>
        </p:txBody>
      </p:sp>
      <p:sp>
        <p:nvSpPr>
          <p:cNvPr id="3"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Impact, and what comes next</a:t>
            </a:r>
            <a:endParaRPr lang="en-US" sz="3200" dirty="0"/>
          </a:p>
        </p:txBody>
      </p:sp>
      <p:sp>
        <p:nvSpPr>
          <p:cNvPr id="4" name="Impact card"/>
          <p:cNvSpPr/>
          <p:nvPr/>
        </p:nvSpPr>
        <p:spPr>
          <a:xfrm>
            <a:off x="548640" y="1783080"/>
            <a:ext cx="4572000" cy="4480560"/>
          </a:xfrm>
          <a:prstGeom prst="roundRect">
            <a:avLst>
              <a:gd name="adj" fmla="val 2857"/>
            </a:avLst>
          </a:prstGeom>
          <a:solidFill>
            <a:schemeClr val="tx2"/>
          </a:solidFill>
          <a:ln/>
          <a:effectLst>
            <a:outerShdw sx="100000" sy="100000" kx="0" ky="0" algn="bl" rotWithShape="0" blurRad="127000" dist="38100" dir="5400000">
              <a:srgbClr val="000000">
                <a:alpha val="18000"/>
              </a:srgbClr>
            </a:outerShdw>
          </a:effectLst>
        </p:spPr>
      </p:sp>
      <p:sp>
        <p:nvSpPr>
          <p:cNvPr id="5" name="Impact stat"/>
          <p:cNvSpPr txBox="1"/>
          <p:nvPr/>
        </p:nvSpPr>
        <p:spPr>
          <a:xfrm>
            <a:off x="960120" y="2286000"/>
            <a:ext cx="3749040" cy="1737360"/>
          </a:xfrm>
          <a:prstGeom prst="rect">
            <a:avLst/>
          </a:prstGeom>
          <a:noFill/>
          <a:ln/>
        </p:spPr>
        <p:txBody>
          <a:bodyPr wrap="square" lIns="0" tIns="0" rIns="0" bIns="0" rtlCol="0" anchor="ctr"/>
          <a:lstStyle/>
          <a:p>
            <a:pPr indent="0" marL="0">
              <a:buNone/>
            </a:pPr>
            <a:r>
              <a:rPr lang="en-US" sz="13000" b="1" dirty="0">
                <a:solidFill>
                  <a:schemeClr val="bg1"/>
                </a:solidFill>
              </a:rPr>
              <a:t>2/3</a:t>
            </a:r>
            <a:endParaRPr lang="en-US" sz="13000" dirty="0"/>
          </a:p>
        </p:txBody>
      </p:sp>
      <p:sp>
        <p:nvSpPr>
          <p:cNvPr id="6" name="Text 4"/>
          <p:cNvSpPr txBox="1"/>
          <p:nvPr/>
        </p:nvSpPr>
        <p:spPr>
          <a:xfrm>
            <a:off x="960120" y="4206240"/>
            <a:ext cx="3749040" cy="1280160"/>
          </a:xfrm>
          <a:prstGeom prst="rect">
            <a:avLst/>
          </a:prstGeom>
          <a:noFill/>
          <a:ln/>
        </p:spPr>
        <p:txBody>
          <a:bodyPr wrap="square" lIns="0" tIns="0" rIns="0" bIns="0" rtlCol="0" anchor="t"/>
          <a:lstStyle/>
          <a:p>
            <a:pPr indent="0" marL="0">
              <a:spcAft>
                <a:spcPts val="800"/>
              </a:spcAft>
              <a:buNone/>
            </a:pPr>
            <a:r>
              <a:rPr lang="en-US" sz="2200" dirty="0">
                <a:solidFill>
                  <a:schemeClr val="bg1"/>
                </a:solidFill>
              </a:rPr>
              <a:t>of walking motion removed on real arms, worn by 7 people</a:t>
            </a:r>
            <a:endParaRPr lang="en-US" sz="2400" dirty="0"/>
          </a:p>
          <a:p>
            <a:pPr indent="0" marL="0">
              <a:spcAft>
                <a:spcPts val="800"/>
              </a:spcAft>
              <a:buNone/>
            </a:pPr>
            <a:r>
              <a:rPr lang="en-US" sz="2000" dirty="0">
                <a:solidFill>
                  <a:schemeClr val="bg2"/>
                </a:solidFill>
              </a:rPr>
              <a:t>56–71%, by walking speed</a:t>
            </a:r>
            <a:endParaRPr lang="en-US" sz="2400" dirty="0"/>
          </a:p>
        </p:txBody>
      </p:sp>
      <p:sp>
        <p:nvSpPr>
          <p:cNvPr id="7" name="Dot 1"/>
          <p:cNvSpPr/>
          <p:nvPr/>
        </p:nvSpPr>
        <p:spPr>
          <a:xfrm>
            <a:off x="5669280" y="2834640"/>
            <a:ext cx="292608" cy="292608"/>
          </a:xfrm>
          <a:prstGeom prst="ellipse">
            <a:avLst/>
          </a:prstGeom>
          <a:solidFill>
            <a:schemeClr val="accent2"/>
          </a:solidFill>
          <a:ln/>
        </p:spPr>
      </p:sp>
      <p:sp>
        <p:nvSpPr>
          <p:cNvPr id="8" name="Impact line 1"/>
          <p:cNvSpPr txBox="1"/>
          <p:nvPr/>
        </p:nvSpPr>
        <p:spPr>
          <a:xfrm>
            <a:off x="6217920" y="2651760"/>
            <a:ext cx="5425135" cy="1097280"/>
          </a:xfrm>
          <a:prstGeom prst="rect">
            <a:avLst/>
          </a:prstGeom>
          <a:noFill/>
          <a:ln/>
        </p:spPr>
        <p:txBody>
          <a:bodyPr wrap="square" lIns="0" tIns="0" rIns="0" bIns="0" rtlCol="0" anchor="t"/>
          <a:lstStyle/>
          <a:p>
            <a:pPr indent="0" marL="0">
              <a:buNone/>
            </a:pPr>
            <a:r>
              <a:rPr lang="en-US" sz="2400" dirty="0">
                <a:solidFill>
                  <a:schemeClr val="tx1"/>
                </a:solidFill>
              </a:rPr>
              <a:t>Next: faster velocity estimate → feedforward on the real arms (sim: 6.7 → 2.6 mm)</a:t>
            </a:r>
            <a:endParaRPr lang="en-US" sz="2400" dirty="0"/>
          </a:p>
        </p:txBody>
      </p:sp>
      <p:sp>
        <p:nvSpPr>
          <p:cNvPr id="9" name="Dot 2"/>
          <p:cNvSpPr/>
          <p:nvPr/>
        </p:nvSpPr>
        <p:spPr>
          <a:xfrm>
            <a:off x="5669280" y="4206240"/>
            <a:ext cx="292608" cy="292608"/>
          </a:xfrm>
          <a:prstGeom prst="ellipse">
            <a:avLst/>
          </a:prstGeom>
          <a:solidFill>
            <a:schemeClr val="accent1"/>
          </a:solidFill>
          <a:ln/>
        </p:spPr>
      </p:sp>
      <p:sp>
        <p:nvSpPr>
          <p:cNvPr id="10" name="Impact line 2"/>
          <p:cNvSpPr txBox="1"/>
          <p:nvPr/>
        </p:nvSpPr>
        <p:spPr>
          <a:xfrm>
            <a:off x="6217920" y="4023360"/>
            <a:ext cx="5425135" cy="1097280"/>
          </a:xfrm>
          <a:prstGeom prst="rect">
            <a:avLst/>
          </a:prstGeom>
          <a:noFill/>
          <a:ln/>
        </p:spPr>
        <p:txBody>
          <a:bodyPr wrap="square" lIns="0" tIns="0" rIns="0" bIns="0" rtlCol="0" anchor="t"/>
          <a:lstStyle/>
          <a:p>
            <a:pPr indent="0" marL="0">
              <a:buNone/>
            </a:pPr>
            <a:r>
              <a:rPr lang="en-US" sz="2400" dirty="0">
                <a:solidFill>
                  <a:schemeClr val="tx1"/>
                </a:solidFill>
              </a:rPr>
              <a:t>Lesson: measure the latency budget before tuning gains</a:t>
            </a:r>
            <a:endParaRPr lang="en-US" sz="2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Arial" pitchFamily="34" charset="0"/>
                <a:ea typeface="Arial" pitchFamily="34" charset="-122"/>
                <a:cs typeface="Arial" pitchFamily="34" charset="-120"/>
              </a:rPr>
              <a:t>Thank you. Questions?</a:t>
            </a:r>
            <a:endParaRPr lang="en-US" sz="4400" dirty="0"/>
          </a:p>
        </p:txBody>
      </p:sp>
      <p:sp>
        <p:nvSpPr>
          <p:cNvPr id="3" name="QR card 1"/>
          <p:cNvSpPr/>
          <p:nvPr/>
        </p:nvSpPr>
        <p:spPr>
          <a:xfrm>
            <a:off x="2209648" y="2148840"/>
            <a:ext cx="2286000" cy="2286000"/>
          </a:xfrm>
          <a:prstGeom prst="roundRect">
            <a:avLst>
              <a:gd name="adj" fmla="val 5600"/>
            </a:avLst>
          </a:prstGeom>
          <a:solidFill>
            <a:schemeClr val="bg1"/>
          </a:solidFill>
          <a:ln/>
        </p:spPr>
      </p:sp>
      <p:pic>
        <p:nvPicPr>
          <p:cNvPr id="4" name="QR github.com/fechachris4/msc_project" descr="QR code for https://github.com/fechachris4/msc_project">
            <a:hlinkClick r:id="rId2" tooltip="github.com/fechachris4/msc_project"/>
          </p:cNvPr>
          <p:cNvPicPr>
            <a:picLocks noChangeAspect="1"/>
          </p:cNvPicPr>
          <p:nvPr/>
        </p:nvPicPr>
        <p:blipFill>
          <a:blip r:embed="rId1"/>
          <a:stretch>
            <a:fillRect/>
          </a:stretch>
        </p:blipFill>
        <p:spPr>
          <a:xfrm>
            <a:off x="2319376" y="2258568"/>
            <a:ext cx="2066544" cy="2066544"/>
          </a:xfrm>
          <a:prstGeom prst="rect">
            <a:avLst/>
          </a:prstGeom>
        </p:spPr>
      </p:pic>
      <p:sp>
        <p:nvSpPr>
          <p:cNvPr id="5" name="Text 2"/>
          <p:cNvSpPr txBox="1"/>
          <p:nvPr/>
        </p:nvSpPr>
        <p:spPr>
          <a:xfrm>
            <a:off x="975208" y="4572000"/>
            <a:ext cx="4754880" cy="384048"/>
          </a:xfrm>
          <a:prstGeom prst="rect">
            <a:avLst/>
          </a:prstGeom>
          <a:noFill/>
          <a:ln/>
        </p:spPr>
        <p:txBody>
          <a:bodyPr wrap="square" lIns="0" tIns="0" rIns="0" bIns="0" rtlCol="0" anchor="t"/>
          <a:lstStyle/>
          <a:p>
            <a:pPr algn="ctr" indent="0" marL="0">
              <a:buNone/>
            </a:pPr>
            <a:r>
              <a:rPr lang="en-US" sz="2000" b="1" dirty="0">
                <a:solidFill>
                  <a:schemeClr val="bg1"/>
                </a:solidFill>
              </a:rPr>
              <a:t>Results, simulation, figures</a:t>
            </a:r>
            <a:endParaRPr lang="en-US" sz="2000" dirty="0"/>
          </a:p>
        </p:txBody>
      </p:sp>
      <p:sp>
        <p:nvSpPr>
          <p:cNvPr id="6" name="Text 3"/>
          <p:cNvSpPr txBox="1"/>
          <p:nvPr/>
        </p:nvSpPr>
        <p:spPr>
          <a:xfrm>
            <a:off x="975208" y="4983480"/>
            <a:ext cx="4754880" cy="347472"/>
          </a:xfrm>
          <a:prstGeom prst="rect">
            <a:avLst/>
          </a:prstGeom>
          <a:noFill/>
          <a:ln/>
        </p:spPr>
        <p:txBody>
          <a:bodyPr wrap="square" lIns="0" tIns="0" rIns="0" bIns="0" rtlCol="0" anchor="t"/>
          <a:lstStyle/>
          <a:p>
            <a:pPr algn="ctr" indent="0" marL="0">
              <a:buNone/>
            </a:pPr>
            <a:r>
              <a:rPr lang="en-US" sz="1800" u="sng" dirty="0">
                <a:solidFill>
                  <a:schemeClr val="accent2"/>
                </a:solidFill>
                <a:hlinkClick r:id="rId3" invalidUrl="" action="" tgtFrame="" tooltip="Results, simulation, figures" history="1" highlightClick="0" endSnd="0">
                  <a:extLst>
                    <a:ext uri="{A12FA001-AC4F-418D-AE19-62706E023703}">
                      <ahyp:hlinkClr xmlns:ahyp="http://schemas.microsoft.com/office/drawing/2018/hyperlinkcolor" val="tx"/>
                    </a:ext>
                  </a:extLst>
                </a:hlinkClick>
              </a:rPr>
              <a:t>github.com/fechachris4/msc_project</a:t>
            </a:r>
            <a:endParaRPr lang="en-US" sz="1800" dirty="0"/>
          </a:p>
        </p:txBody>
      </p:sp>
      <p:sp>
        <p:nvSpPr>
          <p:cNvPr id="7" name="QR card 2"/>
          <p:cNvSpPr/>
          <p:nvPr/>
        </p:nvSpPr>
        <p:spPr>
          <a:xfrm>
            <a:off x="7696048" y="2148840"/>
            <a:ext cx="2286000" cy="2286000"/>
          </a:xfrm>
          <a:prstGeom prst="roundRect">
            <a:avLst>
              <a:gd name="adj" fmla="val 5600"/>
            </a:avLst>
          </a:prstGeom>
          <a:solidFill>
            <a:schemeClr val="bg1"/>
          </a:solidFill>
          <a:ln/>
        </p:spPr>
      </p:sp>
      <p:pic>
        <p:nvPicPr>
          <p:cNvPr id="8" name="QR github.com/fechachris4/HumanSL_MAIN" descr="QR code for https://github.com/fechachris4/HumanSL_MAIN">
            <a:hlinkClick r:id="rId5" tooltip="github.com/fechachris4/HumanSL_MAIN"/>
          </p:cNvPr>
          <p:cNvPicPr>
            <a:picLocks noChangeAspect="1"/>
          </p:cNvPicPr>
          <p:nvPr/>
        </p:nvPicPr>
        <p:blipFill>
          <a:blip r:embed="rId4"/>
          <a:stretch>
            <a:fillRect/>
          </a:stretch>
        </p:blipFill>
        <p:spPr>
          <a:xfrm>
            <a:off x="7805776" y="2258568"/>
            <a:ext cx="2066544" cy="2066544"/>
          </a:xfrm>
          <a:prstGeom prst="rect">
            <a:avLst/>
          </a:prstGeom>
        </p:spPr>
      </p:pic>
      <p:sp>
        <p:nvSpPr>
          <p:cNvPr id="9" name="Text 5"/>
          <p:cNvSpPr txBox="1"/>
          <p:nvPr/>
        </p:nvSpPr>
        <p:spPr>
          <a:xfrm>
            <a:off x="6461608" y="4572000"/>
            <a:ext cx="4754880" cy="384048"/>
          </a:xfrm>
          <a:prstGeom prst="rect">
            <a:avLst/>
          </a:prstGeom>
          <a:noFill/>
          <a:ln/>
        </p:spPr>
        <p:txBody>
          <a:bodyPr wrap="square" lIns="0" tIns="0" rIns="0" bIns="0" rtlCol="0" anchor="t"/>
          <a:lstStyle/>
          <a:p>
            <a:pPr algn="ctr" indent="0" marL="0">
              <a:buNone/>
            </a:pPr>
            <a:r>
              <a:rPr lang="en-US" sz="2000" b="1" dirty="0">
                <a:solidFill>
                  <a:schemeClr val="bg1"/>
                </a:solidFill>
              </a:rPr>
              <a:t>C++ real-time controller</a:t>
            </a:r>
            <a:endParaRPr lang="en-US" sz="2000" dirty="0"/>
          </a:p>
        </p:txBody>
      </p:sp>
      <p:sp>
        <p:nvSpPr>
          <p:cNvPr id="10" name="Text 6"/>
          <p:cNvSpPr txBox="1"/>
          <p:nvPr/>
        </p:nvSpPr>
        <p:spPr>
          <a:xfrm>
            <a:off x="6461608" y="4983480"/>
            <a:ext cx="4754880" cy="347472"/>
          </a:xfrm>
          <a:prstGeom prst="rect">
            <a:avLst/>
          </a:prstGeom>
          <a:noFill/>
          <a:ln/>
        </p:spPr>
        <p:txBody>
          <a:bodyPr wrap="square" lIns="0" tIns="0" rIns="0" bIns="0" rtlCol="0" anchor="t"/>
          <a:lstStyle/>
          <a:p>
            <a:pPr algn="ctr" indent="0" marL="0">
              <a:buNone/>
            </a:pPr>
            <a:r>
              <a:rPr lang="en-US" sz="1800" u="sng" dirty="0">
                <a:solidFill>
                  <a:schemeClr val="accent2"/>
                </a:solidFill>
                <a:hlinkClick r:id="rId6" invalidUrl="" action="" tgtFrame="" tooltip="C++ real-time controller" history="1" highlightClick="0" endSnd="0">
                  <a:extLst>
                    <a:ext uri="{A12FA001-AC4F-418D-AE19-62706E023703}">
                      <ahyp:hlinkClr xmlns:ahyp="http://schemas.microsoft.com/office/drawing/2018/hyperlinkcolor" val="tx"/>
                    </a:ext>
                  </a:extLst>
                </a:hlinkClick>
              </a:rPr>
              <a:t>github.com/fechachris4/HumanSL_MAIN</a:t>
            </a:r>
            <a:endParaRPr lang="en-US" sz="1800" dirty="0"/>
          </a:p>
        </p:txBody>
      </p:sp>
      <p:sp>
        <p:nvSpPr>
          <p:cNvPr id="11" name="Email"/>
          <p:cNvSpPr txBox="1"/>
          <p:nvPr/>
        </p:nvSpPr>
        <p:spPr>
          <a:xfrm>
            <a:off x="548640" y="5669280"/>
            <a:ext cx="11094415" cy="411480"/>
          </a:xfrm>
          <a:prstGeom prst="rect">
            <a:avLst/>
          </a:prstGeom>
          <a:noFill/>
          <a:ln/>
        </p:spPr>
        <p:txBody>
          <a:bodyPr wrap="square" lIns="0" tIns="0" rIns="0" bIns="0" rtlCol="0" anchor="t"/>
          <a:lstStyle/>
          <a:p>
            <a:pPr algn="ctr" indent="0" marL="0">
              <a:buNone/>
            </a:pPr>
            <a:r>
              <a:rPr lang="en-US" sz="2200" b="1" u="sng" dirty="0">
                <a:solidFill>
                  <a:schemeClr val="bg1"/>
                </a:solidFill>
                <a:hlinkClick r:id="rId7" invalidUrl="" action="" tgtFrame="" tooltip="" history="1" highlightClick="0" endSnd="0">
                  <a:extLst>
                    <a:ext uri="{A12FA001-AC4F-418D-AE19-62706E023703}">
                      <ahyp:hlinkClr xmlns:ahyp="http://schemas.microsoft.com/office/drawing/2018/hyperlinkcolor" val="tx"/>
                    </a:ext>
                  </a:extLst>
                </a:hlinkClick>
              </a:rPr>
              <a:t>fecha412@gmail.com</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the control loop (simulation)</a:t>
            </a:r>
            <a:endParaRPr lang="en-US" sz="3200" dirty="0"/>
          </a:p>
        </p:txBody>
      </p:sp>
      <p:sp>
        <p:nvSpPr>
          <p:cNvPr id="3" name="Frame control_loop.png"/>
          <p:cNvSpPr/>
          <p:nvPr/>
        </p:nvSpPr>
        <p:spPr>
          <a:xfrm>
            <a:off x="2806019" y="1783080"/>
            <a:ext cx="6579657" cy="4069080"/>
          </a:xfrm>
          <a:prstGeom prst="roundRect">
            <a:avLst>
              <a:gd name="adj" fmla="val 2697"/>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4" name="control_loop.png" descr="Block diagram of the control loop">    </p:cNvPr>
          <p:cNvPicPr>
            <a:picLocks noChangeAspect="1"/>
          </p:cNvPicPr>
          <p:nvPr/>
        </p:nvPicPr>
        <p:blipFill>
          <a:blip r:embed="rId1"/>
          <a:stretch>
            <a:fillRect/>
          </a:stretch>
        </p:blipFill>
        <p:spPr>
          <a:xfrm>
            <a:off x="2879171" y="1856232"/>
            <a:ext cx="6433353" cy="3922776"/>
          </a:xfrm>
          <a:prstGeom prst="rect">
            <a:avLst/>
          </a:prstGeom>
        </p:spPr>
      </p:pic>
      <p:sp>
        <p:nvSpPr>
          <p:cNvPr id="5" name="Caption"/>
          <p:cNvSpPr txBox="1"/>
          <p:nvPr/>
        </p:nvSpPr>
        <p:spPr>
          <a:xfrm>
            <a:off x="548640" y="5980176"/>
            <a:ext cx="11094415" cy="320040"/>
          </a:xfrm>
          <a:prstGeom prst="rect">
            <a:avLst/>
          </a:prstGeom>
          <a:noFill/>
          <a:ln/>
        </p:spPr>
        <p:txBody>
          <a:bodyPr wrap="square" lIns="0" tIns="0" rIns="0" bIns="0" rtlCol="0" anchor="t"/>
          <a:lstStyle/>
          <a:p>
            <a:pPr algn="ctr" indent="0" marL="0">
              <a:buNone/>
            </a:pPr>
            <a:r>
              <a:rPr lang="en-US" sz="1400" dirty="0">
                <a:solidFill>
                  <a:schemeClr val="accent4"/>
                </a:solidFill>
              </a:rPr>
              <a:t>Per cycle, every 2 ms in simulation. Orange dashes: feedforward (simulation only).</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frequency response, 1.0 m/s</a:t>
            </a:r>
            <a:endParaRPr lang="en-US" sz="3200" dirty="0"/>
          </a:p>
        </p:txBody>
      </p:sp>
      <p:sp>
        <p:nvSpPr>
          <p:cNvPr id="3" name="Frame hw_rejection_bc.png"/>
          <p:cNvSpPr/>
          <p:nvPr/>
        </p:nvSpPr>
        <p:spPr>
          <a:xfrm>
            <a:off x="3793846" y="1783080"/>
            <a:ext cx="4604004" cy="4069080"/>
          </a:xfrm>
          <a:prstGeom prst="roundRect">
            <a:avLst>
              <a:gd name="adj" fmla="val 2697"/>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4" name="hw_rejection_bc.png" descr="Frequency response at 1.0 m/s: measured and three models">    </p:cNvPr>
          <p:cNvPicPr>
            <a:picLocks noChangeAspect="1"/>
          </p:cNvPicPr>
          <p:nvPr/>
        </p:nvPicPr>
        <p:blipFill>
          <a:blip r:embed="rId1"/>
          <a:stretch>
            <a:fillRect/>
          </a:stretch>
        </p:blipFill>
        <p:spPr>
          <a:xfrm>
            <a:off x="3866998" y="1856232"/>
            <a:ext cx="4457700" cy="3922776"/>
          </a:xfrm>
          <a:prstGeom prst="rect">
            <a:avLst/>
          </a:prstGeom>
        </p:spPr>
      </p:pic>
      <p:sp>
        <p:nvSpPr>
          <p:cNvPr id="5" name="Caption"/>
          <p:cNvSpPr txBox="1"/>
          <p:nvPr/>
        </p:nvSpPr>
        <p:spPr>
          <a:xfrm>
            <a:off x="548640" y="5980176"/>
            <a:ext cx="11094415" cy="320040"/>
          </a:xfrm>
          <a:prstGeom prst="rect">
            <a:avLst/>
          </a:prstGeom>
          <a:noFill/>
          <a:ln/>
        </p:spPr>
        <p:txBody>
          <a:bodyPr wrap="square" lIns="0" tIns="0" rIns="0" bIns="0" rtlCol="0" anchor="t"/>
          <a:lstStyle/>
          <a:p>
            <a:pPr algn="ctr" indent="0" marL="0">
              <a:buNone/>
            </a:pPr>
            <a:r>
              <a:rPr lang="en-US" sz="1400" dirty="0">
                <a:solidFill>
                  <a:schemeClr val="accent4"/>
                </a:solidFill>
              </a:rPr>
              <a:t>Median of 6 people. In amplitude (top), measured follows the no-velocity model (dotted). Green: late-velocity model. Lower = more removed.</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simulation, error vs delay</a:t>
            </a:r>
            <a:endParaRPr lang="en-US" sz="3200" dirty="0"/>
          </a:p>
        </p:txBody>
      </p:sp>
      <p:sp>
        <p:nvSpPr>
          <p:cNvPr id="3" name="Frame velocity_delay.png"/>
          <p:cNvSpPr/>
          <p:nvPr/>
        </p:nvSpPr>
        <p:spPr>
          <a:xfrm>
            <a:off x="1270102" y="1783080"/>
            <a:ext cx="9651492" cy="4069080"/>
          </a:xfrm>
          <a:prstGeom prst="roundRect">
            <a:avLst>
              <a:gd name="adj" fmla="val 2697"/>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4" name="velocity_delay.png" descr="Simulation: hand error against delay on the velocity signal">    </p:cNvPr>
          <p:cNvPicPr>
            <a:picLocks noChangeAspect="1"/>
          </p:cNvPicPr>
          <p:nvPr/>
        </p:nvPicPr>
        <p:blipFill>
          <a:blip r:embed="rId1"/>
          <a:stretch>
            <a:fillRect/>
          </a:stretch>
        </p:blipFill>
        <p:spPr>
          <a:xfrm>
            <a:off x="1343254" y="1856232"/>
            <a:ext cx="9505188" cy="3922776"/>
          </a:xfrm>
          <a:prstGeom prst="rect">
            <a:avLst/>
          </a:prstGeom>
        </p:spPr>
      </p:pic>
      <p:sp>
        <p:nvSpPr>
          <p:cNvPr id="5" name="Caption"/>
          <p:cNvSpPr txBox="1"/>
          <p:nvPr/>
        </p:nvSpPr>
        <p:spPr>
          <a:xfrm>
            <a:off x="548640" y="5980176"/>
            <a:ext cx="11094415" cy="320040"/>
          </a:xfrm>
          <a:prstGeom prst="rect">
            <a:avLst/>
          </a:prstGeom>
          <a:noFill/>
          <a:ln/>
        </p:spPr>
        <p:txBody>
          <a:bodyPr wrap="square" lIns="0" tIns="0" rIns="0" bIns="0" rtlCol="0" anchor="t"/>
          <a:lstStyle/>
          <a:p>
            <a:pPr algn="ctr" indent="0" marL="0">
              <a:buNone/>
            </a:pPr>
            <a:r>
              <a:rPr lang="en-US" sz="1400" dirty="0">
                <a:solidFill>
                  <a:schemeClr val="accent4"/>
                </a:solidFill>
              </a:rPr>
              <a:t>Velocity signal delayed on purpose, 1.8 Hz. Grey band: the delay measured on hardware.</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limits the data showed</a:t>
            </a:r>
            <a:endParaRPr lang="en-US" sz="3200" dirty="0"/>
          </a:p>
        </p:txBody>
      </p:sp>
      <p:sp>
        <p:nvSpPr>
          <p:cNvPr id="3" name="Limit Re-planning"/>
          <p:cNvSpPr txBox="1"/>
          <p:nvPr/>
        </p:nvSpPr>
        <p:spPr>
          <a:xfrm>
            <a:off x="548640" y="2057400"/>
            <a:ext cx="2560320" cy="960120"/>
          </a:xfrm>
          <a:prstGeom prst="roundRect">
            <a:avLst>
              <a:gd name="adj" fmla="val 13333"/>
            </a:avLst>
          </a:prstGeom>
          <a:solidFill>
            <a:schemeClr val="bg2"/>
          </a:solidFill>
          <a:ln/>
        </p:spPr>
        <p:txBody>
          <a:bodyPr wrap="square" lIns="508" tIns="508" rIns="508" bIns="508" rtlCol="0" anchor="ctr"/>
          <a:lstStyle/>
          <a:p>
            <a:pPr algn="ctr" indent="0" marL="0">
              <a:buNone/>
            </a:pPr>
            <a:r>
              <a:rPr lang="en-US" sz="2200" b="1" dirty="0">
                <a:solidFill>
                  <a:schemeClr val="tx2"/>
                </a:solidFill>
              </a:rPr>
              <a:t>Re-planning</a:t>
            </a:r>
            <a:endParaRPr lang="en-US" sz="2200" dirty="0"/>
          </a:p>
        </p:txBody>
      </p:sp>
      <p:sp>
        <p:nvSpPr>
          <p:cNvPr id="4" name="Limit 1 text"/>
          <p:cNvSpPr txBox="1"/>
          <p:nvPr/>
        </p:nvSpPr>
        <p:spPr>
          <a:xfrm>
            <a:off x="3474720" y="2057400"/>
            <a:ext cx="8168335" cy="960120"/>
          </a:xfrm>
          <a:prstGeom prst="rect">
            <a:avLst/>
          </a:prstGeom>
          <a:noFill/>
          <a:ln/>
        </p:spPr>
        <p:txBody>
          <a:bodyPr wrap="square" lIns="0" tIns="0" rIns="0" bIns="0" rtlCol="0" anchor="ctr"/>
          <a:lstStyle/>
          <a:p>
            <a:pPr indent="0" marL="0">
              <a:buNone/>
            </a:pPr>
            <a:r>
              <a:rPr lang="en-US" sz="2200" dirty="0">
                <a:solidFill>
                  <a:schemeClr val="tx1"/>
                </a:solidFill>
              </a:rPr>
              <a:t>12 of 128 trials: the planner moved the target &gt; 100 mm; those had the most hand motion → a planner setting</a:t>
            </a:r>
            <a:endParaRPr lang="en-US" sz="2200" dirty="0"/>
          </a:p>
        </p:txBody>
      </p:sp>
      <p:sp>
        <p:nvSpPr>
          <p:cNvPr id="5" name="Limit Joint speed"/>
          <p:cNvSpPr txBox="1"/>
          <p:nvPr/>
        </p:nvSpPr>
        <p:spPr>
          <a:xfrm>
            <a:off x="548640" y="3383280"/>
            <a:ext cx="2560320" cy="960120"/>
          </a:xfrm>
          <a:prstGeom prst="roundRect">
            <a:avLst>
              <a:gd name="adj" fmla="val 13333"/>
            </a:avLst>
          </a:prstGeom>
          <a:solidFill>
            <a:schemeClr val="bg2"/>
          </a:solidFill>
          <a:ln/>
        </p:spPr>
        <p:txBody>
          <a:bodyPr wrap="square" lIns="508" tIns="508" rIns="508" bIns="508" rtlCol="0" anchor="ctr"/>
          <a:lstStyle/>
          <a:p>
            <a:pPr algn="ctr" indent="0" marL="0">
              <a:buNone/>
            </a:pPr>
            <a:r>
              <a:rPr lang="en-US" sz="2200" b="1" dirty="0">
                <a:solidFill>
                  <a:schemeClr val="tx2"/>
                </a:solidFill>
              </a:rPr>
              <a:t>Joint speed</a:t>
            </a:r>
            <a:endParaRPr lang="en-US" sz="2200" dirty="0"/>
          </a:p>
        </p:txBody>
      </p:sp>
      <p:sp>
        <p:nvSpPr>
          <p:cNvPr id="6" name="Limit 2 text"/>
          <p:cNvSpPr txBox="1"/>
          <p:nvPr/>
        </p:nvSpPr>
        <p:spPr>
          <a:xfrm>
            <a:off x="3474720" y="3383280"/>
            <a:ext cx="8168335" cy="960120"/>
          </a:xfrm>
          <a:prstGeom prst="rect">
            <a:avLst/>
          </a:prstGeom>
          <a:noFill/>
          <a:ln/>
        </p:spPr>
        <p:txBody>
          <a:bodyPr wrap="square" lIns="0" tIns="0" rIns="0" bIns="0" rtlCol="0" anchor="ctr"/>
          <a:lstStyle/>
          <a:p>
            <a:pPr indent="0" marL="0">
              <a:buNone/>
            </a:pPr>
            <a:r>
              <a:rPr lang="en-US" sz="2200" dirty="0">
                <a:solidFill>
                  <a:schemeClr val="tx1"/>
                </a:solidFill>
              </a:rPr>
              <a:t>at 1.5 m/s a joint at its limit 32% of the time, mostly wrist (~10% at slower walking speeds)</a:t>
            </a:r>
            <a:endParaRPr lang="en-US" sz="2200" dirty="0"/>
          </a:p>
        </p:txBody>
      </p:sp>
      <p:sp>
        <p:nvSpPr>
          <p:cNvPr id="7" name="Limit Fixed offset"/>
          <p:cNvSpPr txBox="1"/>
          <p:nvPr/>
        </p:nvSpPr>
        <p:spPr>
          <a:xfrm>
            <a:off x="548640" y="4709160"/>
            <a:ext cx="2560320" cy="960120"/>
          </a:xfrm>
          <a:prstGeom prst="roundRect">
            <a:avLst>
              <a:gd name="adj" fmla="val 13333"/>
            </a:avLst>
          </a:prstGeom>
          <a:solidFill>
            <a:schemeClr val="bg2"/>
          </a:solidFill>
          <a:ln/>
        </p:spPr>
        <p:txBody>
          <a:bodyPr wrap="square" lIns="508" tIns="508" rIns="508" bIns="508" rtlCol="0" anchor="ctr"/>
          <a:lstStyle/>
          <a:p>
            <a:pPr algn="ctr" indent="0" marL="0">
              <a:buNone/>
            </a:pPr>
            <a:r>
              <a:rPr lang="en-US" sz="2200" b="1" dirty="0">
                <a:solidFill>
                  <a:schemeClr val="tx2"/>
                </a:solidFill>
              </a:rPr>
              <a:t>Fixed offset</a:t>
            </a:r>
            <a:endParaRPr lang="en-US" sz="2200" dirty="0"/>
          </a:p>
        </p:txBody>
      </p:sp>
      <p:sp>
        <p:nvSpPr>
          <p:cNvPr id="8" name="Limit 3 text"/>
          <p:cNvSpPr txBox="1"/>
          <p:nvPr/>
        </p:nvSpPr>
        <p:spPr>
          <a:xfrm>
            <a:off x="3474720" y="4709160"/>
            <a:ext cx="8168335" cy="960120"/>
          </a:xfrm>
          <a:prstGeom prst="rect">
            <a:avLst/>
          </a:prstGeom>
          <a:noFill/>
          <a:ln/>
        </p:spPr>
        <p:txBody>
          <a:bodyPr wrap="square" lIns="0" tIns="0" rIns="0" bIns="0" rtlCol="0" anchor="ctr"/>
          <a:lstStyle/>
          <a:p>
            <a:pPr indent="0" marL="0">
              <a:buNone/>
            </a:pPr>
            <a:r>
              <a:rPr lang="en-US" sz="2200" dirty="0">
                <a:solidFill>
                  <a:schemeClr val="tx1"/>
                </a:solidFill>
              </a:rPr>
              <a:t>constant 18–21 mm from the goal follows model-vs-Vicon disagreement → calibration</a:t>
            </a:r>
            <a:endParaRPr lang="en-US" sz="2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pitching and swaying platform</a:t>
            </a:r>
            <a:endParaRPr lang="en-US" sz="3200" dirty="0"/>
          </a:p>
        </p:txBody>
      </p:sp>
      <p:sp>
        <p:nvSpPr>
          <p:cNvPr id="3" name="Platform stat"/>
          <p:cNvSpPr txBox="1"/>
          <p:nvPr/>
        </p:nvSpPr>
        <p:spPr>
          <a:xfrm>
            <a:off x="548640" y="2148840"/>
            <a:ext cx="4572000" cy="1463040"/>
          </a:xfrm>
          <a:prstGeom prst="rect">
            <a:avLst/>
          </a:prstGeom>
          <a:noFill/>
          <a:ln/>
        </p:spPr>
        <p:txBody>
          <a:bodyPr wrap="square" lIns="0" tIns="0" rIns="0" bIns="0" rtlCol="0" anchor="ctr"/>
          <a:lstStyle/>
          <a:p>
            <a:pPr indent="0" marL="0">
              <a:buNone/>
            </a:pPr>
            <a:r>
              <a:rPr lang="en-US" sz="11000" b="1" dirty="0">
                <a:solidFill>
                  <a:schemeClr val="accent1"/>
                </a:solidFill>
              </a:rPr>
              <a:t>78%</a:t>
            </a:r>
            <a:endParaRPr lang="en-US" sz="11000" dirty="0"/>
          </a:p>
        </p:txBody>
      </p:sp>
      <p:sp>
        <p:nvSpPr>
          <p:cNvPr id="4" name="Text 2"/>
          <p:cNvSpPr txBox="1"/>
          <p:nvPr/>
        </p:nvSpPr>
        <p:spPr>
          <a:xfrm>
            <a:off x="548640" y="3657600"/>
            <a:ext cx="5669280" cy="457200"/>
          </a:xfrm>
          <a:prstGeom prst="rect">
            <a:avLst/>
          </a:prstGeom>
          <a:noFill/>
          <a:ln/>
        </p:spPr>
        <p:txBody>
          <a:bodyPr wrap="square" lIns="0" tIns="0" rIns="0" bIns="0" rtlCol="0" anchor="t"/>
          <a:lstStyle/>
          <a:p>
            <a:pPr indent="0" marL="0">
              <a:buNone/>
            </a:pPr>
            <a:r>
              <a:rPr lang="en-US" sz="2400" dirty="0">
                <a:solidFill>
                  <a:schemeClr val="tx1"/>
                </a:solidFill>
              </a:rPr>
              <a:t>of platform motion removed (5 people)</a:t>
            </a:r>
            <a:endParaRPr lang="en-US" sz="2400" dirty="0"/>
          </a:p>
        </p:txBody>
      </p:sp>
      <p:sp>
        <p:nvSpPr>
          <p:cNvPr id="5" name="Text 3"/>
          <p:cNvSpPr txBox="1"/>
          <p:nvPr/>
        </p:nvSpPr>
        <p:spPr>
          <a:xfrm>
            <a:off x="6400800" y="2286000"/>
            <a:ext cx="5242255" cy="365760"/>
          </a:xfrm>
          <a:prstGeom prst="rect">
            <a:avLst/>
          </a:prstGeom>
          <a:noFill/>
          <a:ln/>
        </p:spPr>
        <p:txBody>
          <a:bodyPr wrap="square" lIns="0" tIns="0" rIns="0" bIns="0" rtlCol="0" anchor="t"/>
          <a:lstStyle/>
          <a:p>
            <a:pPr indent="0" marL="0">
              <a:buNone/>
            </a:pPr>
            <a:r>
              <a:rPr lang="en-US" sz="1800" b="1" dirty="0">
                <a:solidFill>
                  <a:schemeClr val="accent4"/>
                </a:solidFill>
              </a:rPr>
              <a:t>Locked arm → hand, RMS</a:t>
            </a:r>
            <a:endParaRPr lang="en-US" sz="1800" dirty="0"/>
          </a:p>
        </p:txBody>
      </p:sp>
      <p:sp>
        <p:nvSpPr>
          <p:cNvPr id="6" name="Text 4"/>
          <p:cNvSpPr txBox="1"/>
          <p:nvPr/>
        </p:nvSpPr>
        <p:spPr>
          <a:xfrm>
            <a:off x="6400800" y="2743200"/>
            <a:ext cx="5242255" cy="1280160"/>
          </a:xfrm>
          <a:prstGeom prst="rect">
            <a:avLst/>
          </a:prstGeom>
          <a:noFill/>
          <a:ln/>
        </p:spPr>
        <p:txBody>
          <a:bodyPr wrap="square" lIns="0" tIns="0" rIns="0" bIns="0" rtlCol="0" anchor="t"/>
          <a:lstStyle/>
          <a:p>
            <a:pPr indent="0" marL="0">
              <a:spcAft>
                <a:spcPts val="1000"/>
              </a:spcAft>
              <a:buNone/>
            </a:pPr>
            <a:r>
              <a:rPr lang="en-US" sz="3200" b="1" dirty="0">
                <a:solidFill>
                  <a:schemeClr val="tx2"/>
                </a:solidFill>
              </a:rPr>
              <a:t>Pitch: 94 mm → 14 mm</a:t>
            </a:r>
            <a:endParaRPr lang="en-US" sz="3200" dirty="0"/>
          </a:p>
          <a:p>
            <a:pPr indent="0" marL="0">
              <a:spcAft>
                <a:spcPts val="1000"/>
              </a:spcAft>
              <a:buNone/>
            </a:pPr>
            <a:r>
              <a:rPr lang="en-US" sz="3200" b="1" dirty="0">
                <a:solidFill>
                  <a:schemeClr val="tx2"/>
                </a:solidFill>
              </a:rPr>
              <a:t>Sway: 81 mm → 17 mm</a:t>
            </a:r>
            <a:endParaRPr lang="en-US" sz="3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Backup: the rig</a:t>
            </a:r>
            <a:endParaRPr lang="en-US" sz="3200" dirty="0"/>
          </a:p>
        </p:txBody>
      </p:sp>
      <p:sp>
        <p:nvSpPr>
          <p:cNvPr id="3" name="Frame rig.jpg"/>
          <p:cNvSpPr/>
          <p:nvPr/>
        </p:nvSpPr>
        <p:spPr>
          <a:xfrm>
            <a:off x="3483788" y="1783080"/>
            <a:ext cx="5224120" cy="4069080"/>
          </a:xfrm>
          <a:prstGeom prst="roundRect">
            <a:avLst>
              <a:gd name="adj" fmla="val 2697"/>
            </a:avLst>
          </a:prstGeom>
          <a:solidFill>
            <a:schemeClr val="bg1"/>
          </a:solidFill>
          <a:ln w="9525">
            <a:solidFill>
              <a:srgbClr val="EBEEEE"/>
            </a:solidFill>
            <a:prstDash val="solid"/>
          </a:ln>
          <a:effectLst>
            <a:outerShdw sx="100000" sy="100000" kx="0" ky="0" algn="bl" rotWithShape="0" blurRad="127000" dist="38100" dir="5400000">
              <a:srgbClr val="000000">
                <a:alpha val="18000"/>
              </a:srgbClr>
            </a:outerShdw>
          </a:effectLst>
        </p:spPr>
      </p:sp>
      <p:pic>
        <p:nvPicPr>
          <p:cNvPr id="4" name="rig.jpg" descr="Two robot arms on a backpack worn by a person on a treadmill">    </p:cNvPr>
          <p:cNvPicPr>
            <a:picLocks noChangeAspect="1"/>
          </p:cNvPicPr>
          <p:nvPr/>
        </p:nvPicPr>
        <p:blipFill>
          <a:blip r:embed="rId1"/>
          <a:stretch>
            <a:fillRect/>
          </a:stretch>
        </p:blipFill>
        <p:spPr>
          <a:xfrm>
            <a:off x="3556940" y="1856232"/>
            <a:ext cx="5077816" cy="3922776"/>
          </a:xfrm>
          <a:prstGeom prst="rect">
            <a:avLst/>
          </a:prstGeom>
        </p:spPr>
      </p:pic>
      <p:sp>
        <p:nvSpPr>
          <p:cNvPr id="5" name="Caption"/>
          <p:cNvSpPr txBox="1"/>
          <p:nvPr/>
        </p:nvSpPr>
        <p:spPr>
          <a:xfrm>
            <a:off x="548640" y="5980176"/>
            <a:ext cx="11094415" cy="320040"/>
          </a:xfrm>
          <a:prstGeom prst="rect">
            <a:avLst/>
          </a:prstGeom>
          <a:noFill/>
          <a:ln/>
        </p:spPr>
        <p:txBody>
          <a:bodyPr wrap="square" lIns="0" tIns="0" rIns="0" bIns="0" rtlCol="0" anchor="t"/>
          <a:lstStyle/>
          <a:p>
            <a:pPr algn="ctr" indent="0" marL="0">
              <a:buNone/>
            </a:pPr>
            <a:r>
              <a:rPr lang="en-US" sz="1400" dirty="0">
                <a:solidFill>
                  <a:schemeClr val="accent4"/>
                </a:solidFill>
              </a:rPr>
              <a:t>Two Kinova Gen3 arms on a backpack (mount); Vicon cameras around the treadmill.</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5B6770"/>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Imperial Lookalike">
  <a:themeElements>
    <a:clrScheme name="Imperial Lookalike">
      <a:dk1>
        <a:srgbClr val="1B2633"/>
      </a:dk1>
      <a:lt1>
        <a:srgbClr val="FFFFFF"/>
      </a:lt1>
      <a:dk2>
        <a:srgbClr val="002147"/>
      </a:dk2>
      <a:lt2>
        <a:srgbClr val="EBEEEE"/>
      </a:lt2>
      <a:accent1>
        <a:srgbClr val="003E74"/>
      </a:accent1>
      <a:accent2>
        <a:srgbClr val="0091D4"/>
      </a:accent2>
      <a:accent3>
        <a:srgbClr val="D24000"/>
      </a:accent3>
      <a:accent4>
        <a:srgbClr val="5B6770"/>
      </a:accent4>
      <a:accent5>
        <a:srgbClr val="DCEEF8"/>
      </a:accent5>
      <a:accent6>
        <a:srgbClr val="9AA3A8"/>
      </a:accent6>
      <a:hlink>
        <a:srgbClr val="0091D4"/>
      </a:hlink>
      <a:folHlink>
        <a:srgbClr val="003E74"/>
      </a:folHlink>
    </a:clrScheme>
    <a:fontScheme name="Imperial Lookalik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World-Stable Supernumerary Effectors for Human Augmentation Under Locomotion-Scale Base Motion</dc:title>
  <dc:subject>MSc project talk</dc:subject>
  <dc:creator>Christian Akabueze</dc:creator>
  <cp:lastModifiedBy>Christian Akabueze</cp:lastModifiedBy>
  <cp:revision>1</cp:revision>
  <dcterms:created xsi:type="dcterms:W3CDTF">2026-10-11T23:32:41Z</dcterms:created>
  <dcterms:modified xsi:type="dcterms:W3CDTF">2026-10-11T23:32:41Z</dcterms:modified>
</cp:coreProperties>
</file>