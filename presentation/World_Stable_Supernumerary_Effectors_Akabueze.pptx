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4e1e897c-7d45-0dae-65c3-a8055eef4e76}">
          <p14:sldIdLst>
            <p14:sldId id="256"/>
          </p14:sldIdLst>
        </p14:section>
        <p14:section name="Problem" id="{ed0ae471-2784-a217-95ab-667af15250d5}">
          <p14:sldIdLst>
            <p14:sldId id="257"/>
          </p14:sldIdLst>
        </p14:section>
        <p14:section name="Approach &amp; solution" id="{8df29484-e30c-8e00-b4cb-897d3472f179}">
          <p14:sldIdLst>
            <p14:sldId id="258"/>
            <p14:sldId id="259"/>
            <p14:sldId id="260"/>
            <p14:sldId id="261"/>
          </p14:sldIdLst>
        </p14:section>
        <p14:section name="Trade-offs &amp; challenges" id="{9ff6b7cd-4726-96f5-5ed7-43b68eaad325}">
          <p14:sldIdLst>
            <p14:sldId id="262"/>
            <p14:sldId id="263"/>
          </p14:sldIdLst>
        </p14:section>
        <p14:section name="Impact" id="{a7d56027-6f51-4d86-d42f-41df842ff222}">
          <p14:sldIdLst>
            <p14:sldId id="264"/>
          </p14:sldIdLst>
        </p14:section>
        <p14:section name="Close" id="{444d9faf-4e05-0556-5bc7-f5f75a0ee167}">
          <p14:sldIdLst>
            <p14:sldId id="265"/>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0:55] I'm Christian Akabueze. My MSc project, in the MUVE Lab at Imperial, supervised by Etienne, is titled World-Stable Supernumerary Effectors for Human Augmentation Under Locomotion-Scale Base Motion. In plain words: extra robot arms you wear, like Doctor Octopus, to help with construction work. The rig is a robotic backpack carrying two Kinova Gen3 arms. The arms are heavy, so a gravity compensator, which you can see in the background, carries their weight, with a support structure around them. What was missing was a controller that keeps the arms steady while the wearer moves. In this clip the wearer twists about sixty degrees. The elbows swing; the hands barely move. It works, mostly. This talk is about the part that didn't, and why the obvious fix did almost nothing.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1:35] Each arm has seven joints. Motion-capture cameras around the room, a Vicon system, track the backpack. An arm you wear is an extra pair of hands, until you take a step: anything it holds moves with you. With the arms locked, the hands move 63 to 68 millimetres on average, at every walking speed we tried. Steps come about 1.8 times a second, so this is fast, repeating motion, not slow drift. Remember that number, 1.8 steps a second. It comes back. So the goal is to hold each hand fixed in the room, not on the body.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2:25] The idea is a chain of coordinate frames. The cameras give me where the backpack is in the room. The arm's base sits at a fixed, known spot on the backpack. The joint angles then place the hand relative to that base. Chain the three and I know where the hand is in the room, and how each joint moves the hand. On top sits a feedback controller on the error in the room: how far the hand is from its spot, and how fast it's drifting. That gets turned into joint speeds, staying smooth near awkward poses. The same law runs in my simulation, my C++ controller, and the lab controller used in the trials.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3:05] Before hardware, I tested my Python controller in MuJoCo, a physics engine, with the backpack following a walking-like motion at 1.8 steps a second. Same motion three times. Arms locked: 31 millimetres of error. My controller: 6.7. Add feedforward, which tells the controller how the backpack is moving: 2.6. So knowing the backpack's velocity is worth a lot. Hold on to that, because on real hardware, getting that velocity on time turns out to be the hard part. The sim is stiffer than the rig, so read trends, not millimetres.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3:55] The first problem on real hardware wasn't accuracy. It was shaking. The camera signal is noisy, and fed straight in, the arm vibrated. Unusable. So I added a Kalman filter, a smoothing filter, to estimate the backpack's position and speed cleanly, and the shaking stopped. But a filter buys smoothness with time. Its estimate comes out late, so the position built from it is late too. So I fight the delay with the speed itself: if I know how fast the backpack is moving, I can predict its position a short step into the future and cancel part of the lag. The filter pushes me into the past; the prediction pulls me back toward now.</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[0:55 | 4:50] Seven participants wore the arms on a treadmill at 0.5, 1 and 1.5 metres per second. The controller ran 400 times a second on the lab machine, with no feedforward; the trial analysis is mine. To score a trial, I replay what a locked arm would have done and compare it with the real hand: the percent removed is how much less the hand moved than the locked arm would have. On arms that weren't being controlled, that locked model is right to within half a percent. Averaged over six of the seven people: 71 percent removed at slow walking, 63 at normal, 56 at fast, across 128 walking trials. On a pitching, swaying platform, 78 percent. But notice the trend. The faster you walk, the less it removes.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[0:50 | 5:40] So where does the missing third go? I split the motion by how fast it repeats. Slow sway, about once every four seconds: 85 percent cancelled. The bounce of each step, twice a second: only 29. That's a speed problem, and the textbook answer is to react harder to velocity. Turn up the velocity gain. In a pilot with one wearer, I raised it from 0.8 to 2.6, more than three times. My model said the response near the stride rate would drop by 38 percent. It dropped by 9. And across six people, the arm behaves like a model with no velocity term at all, as if the velocity wasn't there. That's when I stopped tuning and started asking why.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6:55] I traced the velocity signal end to end. Remember the prediction: it uses the velocity to pull the position back toward now. But nothing pulls the velocity itself forward. The smoothing filter's velocity estimate trails the real motion by 36 to 46 milliseconds. The camera measurement is about 10 milliseconds old, and the joints take about 15 to respond. In total, the velocity is 61 to 71 milliseconds late. A late velocity has the right size but the wrong timing, so subtracting it doesn't cancel the real one. The leftover is two times the sine of half the timing error, measured as an angle of the step cycle. At 1.8 steps a second and 60 milliseconds, that's two-thirds of the velocity, wrong. And it explains the trend: walk faster, steps come quicker, and the same delay costs more. With the measured delay and nothing fitted, the full model matches the hardware better than the no-velocity model in six of six people. Confirming it directly means changing the speed estimate on hardware. That's the next experiment.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[1:15 | 8:10] On real arms worn by seven people, the controller removes about two-thirds of walking motion: 56 to 71 percent, depending on speed. The part I'm proudest of is the diagnosis. When tuning stopped helping, I traced it in the data to a 61 to 71 millisecond delay. That sets the order of what comes next. First, a faster velocity estimate. Only then feedforward: in simulation with no delay it cut the error from 6.7 to 2.6 millimetres, but at 60 milliseconds it loses that advantage, to around 8. I also wrote my own real-time controller in C++ for this rig, built so the path planner can never block the 2 millisecond control loop. With what I know now, I can see the same weak spot there: its own smoothing filter adds about 45 milliseconds of lag at step frequency, so the speed estimate is the next piece there too. The lesson I'd carry to any robot that sees through sensors: measure every delay in the chain before you tune the gains.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[0:10 | 8:20] Thank you. The code and results are on GitHub; the links are on the slide. Happy to take questions.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TITLE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914400"/>
            <a:ext cx="11094415" cy="1005840"/>
          </a:xfrm>
          <a:prstGeom prst="rect">
            <a:avLst/>
          </a:prstGeom>
          <a:noFill/>
          <a:ln/>
        </p:spPr>
        <p:txBody>
          <a:bodyPr wrap="square" rtlCol="0"/>
          <a:lstStyle>
            <a:lvl1pPr algn="l" indent="0" marL="0">
              <a:buNone/>
              <a:defRPr lang="en-US" sz="3200" b="1" dirty="0">
                <a:solidFill>
                  <a:schemeClr val="bg1"/>
                </a:solidFill>
                <a:latin typeface="Arial" pitchFamily="34" charset="0"/>
                <a:ea typeface="Arial" pitchFamily="34" charset="-122"/>
                <a:cs typeface="Arial" pitchFamily="34" charset="-120"/>
              </a:defRPr>
            </a:lvl1pPr>
          </a:lstStyle>
          <a:p>
            <a:pPr algn="l" indent="0" marL="0">
              <a:buNone/>
            </a:pPr>
            <a:endParaRPr lang="en-US" sz="32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tx2"/>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731520"/>
          </a:xfrm>
          <a:prstGeom prst="rect">
            <a:avLst/>
          </a:prstGeom>
          <a:noFill/>
          <a:ln/>
        </p:spPr>
        <p:txBody>
          <a:bodyPr wrap="square" rtlCol="0"/>
          <a:lstStyle>
            <a:lvl1pPr algn="l" indent="0" marL="0">
              <a:buNone/>
              <a:defRPr lang="en-US" sz="3200" b="1" dirty="0">
                <a:solidFill>
                  <a:schemeClr val="tx2"/>
                </a:solidFill>
                <a:latin typeface="Arial" pitchFamily="34" charset="0"/>
                <a:ea typeface="Arial" pitchFamily="34" charset="-122"/>
                <a:cs typeface="Arial"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LOSING_DARK">
    <p:bg>
      <p:bgPr>
        <a:solidFill>
          <a:srgbClr val="002147"/>
        </a:solidFill>
      </p:bgPr>
    </p:bg>
    <p:spTree>
      <p:nvGrpSpPr>
        <p:cNvPr id="1" name=""/>
        <p:cNvGrpSpPr/>
        <p:nvPr/>
      </p:nvGrpSpPr>
      <p:grpSpPr>
        <a:xfrm>
          <a:off x="0" y="0"/>
          <a:ext cx="0" cy="0"/>
          <a:chOff x="0" y="0"/>
          <a:chExt cx="0" cy="0"/>
        </a:xfrm>
      </p:grpSpPr>
      <p:sp>
        <p:nvSpPr>
          <p:cNvPr id="2" name="Text 0"/>
          <p:cNvSpPr/>
          <p:nvPr/>
        </p:nvSpPr>
        <p:spPr>
          <a:xfrm>
            <a:off x="8534095" y="384048"/>
            <a:ext cx="3108960" cy="365760"/>
          </a:xfrm>
          <a:prstGeom prst="rect">
            <a:avLst/>
          </a:prstGeom>
          <a:noFill/>
          <a:ln/>
        </p:spPr>
        <p:txBody>
          <a:bodyPr wrap="square" lIns="0" tIns="0" rIns="0" bIns="0" rtlCol="0" anchor="ctr"/>
          <a:lstStyle/>
          <a:p>
            <a:pPr algn="r" indent="0" marL="0">
              <a:buNone/>
            </a:pPr>
            <a:r>
              <a:rPr lang="en-US" sz="1600" b="1" dirty="0">
                <a:solidFill>
                  <a:schemeClr val="bg1"/>
                </a:solidFill>
                <a:latin typeface="Arial" pitchFamily="34" charset="0"/>
                <a:ea typeface="Arial" pitchFamily="34" charset="-122"/>
                <a:cs typeface="Arial" pitchFamily="34" charset="-120"/>
              </a:rPr>
              <a:t>Imperial College London</a:t>
            </a:r>
            <a:endParaRPr lang="en-US" sz="1600" dirty="0"/>
          </a:p>
        </p:txBody>
      </p:sp>
      <p:sp>
        <p:nvSpPr>
          <p:cNvPr id="3" name="Text 1"/>
          <p:cNvSpPr/>
          <p:nvPr>
            <p:ph idx="101" type="title" hasCustomPrompt="1"/>
          </p:nvPr>
        </p:nvSpPr>
        <p:spPr>
          <a:xfrm>
            <a:off x="548640" y="868680"/>
            <a:ext cx="11094415" cy="914400"/>
          </a:xfrm>
          <a:prstGeom prst="rect">
            <a:avLst/>
          </a:prstGeom>
          <a:noFill/>
          <a:ln/>
        </p:spPr>
        <p:txBody>
          <a:bodyPr wrap="square" rtlCol="0"/>
          <a:lstStyle>
            <a:lvl1pPr algn="ctr" indent="0" marL="0">
              <a:buNone/>
              <a:defRPr lang="en-US" sz="4400" b="1" dirty="0">
                <a:solidFill>
                  <a:schemeClr val="bg1"/>
                </a:solidFill>
                <a:latin typeface="Arial" pitchFamily="34" charset="0"/>
                <a:ea typeface="Arial" pitchFamily="34" charset="-122"/>
                <a:cs typeface="Arial" pitchFamily="34" charset="-120"/>
              </a:defRPr>
            </a:lvl1pPr>
          </a:lstStyle>
          <a:p>
            <a:pPr algn="ctr" indent="0" marL="0">
              <a:buNone/>
            </a:pPr>
            <a:endParaRPr lang="en-US" sz="4400" dirty="0"/>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gif"/><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gif"/><Relationship Id="rId2" Type="http://schemas.openxmlformats.org/officeDocument/2006/relationships/slideLayout" Target="../slideLayouts/slideLayout3.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gif"/><Relationship Id="rId2" Type="http://schemas.openxmlformats.org/officeDocument/2006/relationships/slideLayout" Target="../slideLayouts/slideLayout3.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gif"/><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2" Type="http://schemas.openxmlformats.org/officeDocument/2006/relationships/hyperlink" Target="https://github.com/fechachris4/msc_project" TargetMode="External"/><Relationship Id="rId3" Type="http://schemas.openxmlformats.org/officeDocument/2006/relationships/hyperlink" Target="https://github.com/fechachris4/msc_project" TargetMode="External"/><Relationship Id="rId5" Type="http://schemas.openxmlformats.org/officeDocument/2006/relationships/hyperlink" Target="https://github.com/fechachris4/HumanSL_MAIN" TargetMode="External"/><Relationship Id="rId6" Type="http://schemas.openxmlformats.org/officeDocument/2006/relationships/hyperlink" Target="https://github.com/fechachris4/HumanSL_MAIN" TargetMode="External"/><Relationship Id="rId7" Type="http://schemas.openxmlformats.org/officeDocument/2006/relationships/hyperlink" Target="mailto:fecha412@gmail.com" TargetMode="External"/><Relationship Id="rId1" Type="http://schemas.openxmlformats.org/officeDocument/2006/relationships/image" Target="../media/image-10-1.png"/><Relationship Id="rId4" Type="http://schemas.openxmlformats.org/officeDocument/2006/relationships/image" Target="../media/image-10-2.png"/><Relationship Id="rId8" Type="http://schemas.openxmlformats.org/officeDocument/2006/relationships/slideLayout" Target="../slideLayouts/slideLayout4.xml"/><Relationship Id="rId9"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1"/>
          <p:cNvSpPr/>
          <p:nvPr>
            <p:ph idx="101" type="title" hasCustomPrompt="1"/>
          </p:nvPr>
        </p:nvSpPr>
        <p:spPr>
          <a:xfrm>
            <a:off x="548640" y="914400"/>
            <a:ext cx="11094415" cy="1005840"/>
          </a:xfrm>
          <a:prstGeom prst="rect">
            <a:avLst/>
          </a:prstGeom>
          <a:noFill/>
          <a:ln/>
        </p:spPr>
        <p:txBody>
          <a:bodyPr wrap="square" lIns="0" tIns="0" rIns="0" bIns="0" rtlCol="0" anchor="t"/>
          <a:lstStyle/>
          <a:p>
            <a:pPr algn="l" indent="0" marL="0">
              <a:buNone/>
            </a:pPr>
            <a:r>
              <a:rPr lang="en-US" sz="3200" b="1" dirty="0">
                <a:solidFill>
                  <a:schemeClr val="bg1"/>
                </a:solidFill>
                <a:latin typeface="Arial" pitchFamily="34" charset="0"/>
                <a:ea typeface="Arial" pitchFamily="34" charset="-122"/>
                <a:cs typeface="Arial" pitchFamily="34" charset="-120"/>
              </a:rPr>
              <a:t>World-Stable Supernumerary Effectors for Human</a:t>
            </a:r>
            <a:endParaRPr lang="en-US" sz="3200" dirty="0"/>
          </a:p>
          <a:p>
            <a:pPr algn="l" indent="0" marL="0">
              <a:buNone/>
            </a:pPr>
            <a:r>
              <a:rPr lang="en-US" sz="3200" b="1" dirty="0">
                <a:solidFill>
                  <a:schemeClr val="bg1"/>
                </a:solidFill>
                <a:latin typeface="Arial" pitchFamily="34" charset="0"/>
                <a:ea typeface="Arial" pitchFamily="34" charset="-122"/>
                <a:cs typeface="Arial" pitchFamily="34" charset="-120"/>
              </a:rPr>
              <a:t>Augmentation Under Locomotion-Scale Base Motion</a:t>
            </a:r>
            <a:endParaRPr lang="en-US" sz="3200" dirty="0"/>
          </a:p>
        </p:txBody>
      </p:sp>
      <p:sp>
        <p:nvSpPr>
          <p:cNvPr id="3" name="Subtitle"/>
          <p:cNvSpPr txBox="1"/>
          <p:nvPr/>
        </p:nvSpPr>
        <p:spPr>
          <a:xfrm>
            <a:off x="548640" y="2075688"/>
            <a:ext cx="11094415" cy="411480"/>
          </a:xfrm>
          <a:prstGeom prst="rect">
            <a:avLst/>
          </a:prstGeom>
          <a:noFill/>
          <a:ln/>
        </p:spPr>
        <p:txBody>
          <a:bodyPr wrap="square" lIns="0" tIns="0" rIns="0" bIns="0" rtlCol="0" anchor="t"/>
          <a:lstStyle/>
          <a:p>
            <a:pPr indent="0" marL="0">
              <a:buNone/>
            </a:pPr>
            <a:r>
              <a:rPr lang="en-US" sz="2400" dirty="0">
                <a:solidFill>
                  <a:schemeClr val="bg1"/>
                </a:solidFill>
              </a:rPr>
              <a:t>Keeping a wearable robot's hands still while the wearer walks</a:t>
            </a:r>
            <a:endParaRPr lang="en-US" sz="2400" dirty="0"/>
          </a:p>
        </p:txBody>
      </p:sp>
      <p:sp>
        <p:nvSpPr>
          <p:cNvPr id="4" name="Frame hw_turn.gif"/>
          <p:cNvSpPr/>
          <p:nvPr/>
        </p:nvSpPr>
        <p:spPr>
          <a:xfrm>
            <a:off x="6659575" y="2606040"/>
            <a:ext cx="4983480" cy="3448202"/>
          </a:xfrm>
          <a:prstGeom prst="roundRect">
            <a:avLst>
              <a:gd name="adj" fmla="val 3182"/>
            </a:avLst>
          </a:prstGeom>
          <a:solidFill>
            <a:schemeClr val="bg1"/>
          </a:solidFill>
          <a:ln w="9525">
            <a:solidFill>
              <a:srgbClr val="FFFFFF"/>
            </a:solidFill>
            <a:prstDash val="solid"/>
          </a:ln>
          <a:effectLst>
            <a:outerShdw sx="100000" sy="100000" kx="0" ky="0" algn="bl" rotWithShape="0" blurRad="127000" dist="38100" dir="5400000">
              <a:srgbClr val="000000">
                <a:alpha val="18000"/>
              </a:srgbClr>
            </a:outerShdw>
          </a:effectLst>
        </p:spPr>
      </p:sp>
      <p:pic>
        <p:nvPicPr>
          <p:cNvPr id="5" name="hw_turn.gif" descr="The wearer twists his torso; the robot hands stay close to where they were">    </p:cNvPr>
          <p:cNvPicPr>
            <a:picLocks noChangeAspect="1"/>
          </p:cNvPicPr>
          <p:nvPr/>
        </p:nvPicPr>
        <p:blipFill>
          <a:blip r:embed="rId1"/>
          <a:stretch>
            <a:fillRect/>
          </a:stretch>
        </p:blipFill>
        <p:spPr>
          <a:xfrm>
            <a:off x="6732727" y="2679192"/>
            <a:ext cx="4837176" cy="3301898"/>
          </a:xfrm>
          <a:prstGeom prst="rect">
            <a:avLst/>
          </a:prstGeom>
        </p:spPr>
      </p:pic>
      <p:sp>
        <p:nvSpPr>
          <p:cNvPr id="6" name="Caption"/>
          <p:cNvSpPr txBox="1"/>
          <p:nvPr/>
        </p:nvSpPr>
        <p:spPr>
          <a:xfrm>
            <a:off x="6659575" y="6127394"/>
            <a:ext cx="4983480" cy="274320"/>
          </a:xfrm>
          <a:prstGeom prst="rect">
            <a:avLst/>
          </a:prstGeom>
          <a:noFill/>
          <a:ln/>
        </p:spPr>
        <p:txBody>
          <a:bodyPr wrap="square" lIns="0" tIns="0" rIns="0" bIns="0" rtlCol="0" anchor="t"/>
          <a:lstStyle/>
          <a:p>
            <a:pPr indent="0" marL="0">
              <a:buNone/>
            </a:pPr>
            <a:r>
              <a:rPr lang="en-US" sz="1600" dirty="0">
                <a:solidFill>
                  <a:schemeClr val="bg1"/>
                </a:solidFill>
              </a:rPr>
              <a:t>Watch the hands, not the elbows.</a:t>
            </a:r>
            <a:endParaRPr lang="en-US" sz="1600" dirty="0"/>
          </a:p>
        </p:txBody>
      </p:sp>
      <p:sp>
        <p:nvSpPr>
          <p:cNvPr id="7" name="Presenter"/>
          <p:cNvSpPr txBox="1"/>
          <p:nvPr/>
        </p:nvSpPr>
        <p:spPr>
          <a:xfrm>
            <a:off x="548640" y="3735781"/>
            <a:ext cx="5745175" cy="1188720"/>
          </a:xfrm>
          <a:prstGeom prst="rect">
            <a:avLst/>
          </a:prstGeom>
          <a:noFill/>
          <a:ln/>
        </p:spPr>
        <p:txBody>
          <a:bodyPr wrap="square" lIns="0" tIns="0" rIns="0" bIns="0" rtlCol="0" anchor="t"/>
          <a:lstStyle/>
          <a:p>
            <a:pPr indent="0" marL="0">
              <a:spcAft>
                <a:spcPts val="400"/>
              </a:spcAft>
              <a:buNone/>
            </a:pPr>
            <a:r>
              <a:rPr lang="en-US" sz="2400" b="1" dirty="0">
                <a:solidFill>
                  <a:schemeClr val="bg1"/>
                </a:solidFill>
              </a:rPr>
              <a:t>Christian Akabueze</a:t>
            </a:r>
            <a:endParaRPr lang="en-US" sz="1800" dirty="0"/>
          </a:p>
          <a:p>
            <a:pPr indent="0" marL="0">
              <a:spcAft>
                <a:spcPts val="400"/>
              </a:spcAft>
              <a:buNone/>
            </a:pPr>
            <a:r>
              <a:rPr lang="en-US" sz="2000" dirty="0">
                <a:solidFill>
                  <a:schemeClr val="bg2"/>
                </a:solidFill>
              </a:rPr>
              <a:t>MSc Human and Biological Robotics</a:t>
            </a:r>
            <a:endParaRPr lang="en-US" sz="1800" dirty="0"/>
          </a:p>
          <a:p>
            <a:pPr indent="0" marL="0">
              <a:spcAft>
                <a:spcPts val="400"/>
              </a:spcAft>
              <a:buNone/>
            </a:pPr>
            <a:r>
              <a:rPr lang="en-US" sz="2000" dirty="0">
                <a:solidFill>
                  <a:schemeClr val="bg2"/>
                </a:solidFill>
              </a:rPr>
              <a:t>Imperial College London · MUVE Lab · 2026</a:t>
            </a:r>
            <a:endParaRPr lang="en-US" sz="18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ection tag"/>
          <p:cNvSpPr txBox="1"/>
          <p:nvPr/>
        </p:nvSpPr>
        <p:spPr>
          <a:xfrm>
            <a:off x="548640" y="402336"/>
            <a:ext cx="133868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PROBLEM</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Every step moves your extra hands</a:t>
            </a:r>
            <a:endParaRPr lang="en-US" sz="3200" dirty="0"/>
          </a:p>
        </p:txBody>
      </p:sp>
      <p:sp>
        <p:nvSpPr>
          <p:cNvPr id="4" name="Frame hw_walk.gif"/>
          <p:cNvSpPr/>
          <p:nvPr/>
        </p:nvSpPr>
        <p:spPr>
          <a:xfrm>
            <a:off x="548640" y="1755648"/>
            <a:ext cx="2673747" cy="4645152"/>
          </a:xfrm>
          <a:prstGeom prst="roundRect">
            <a:avLst>
              <a:gd name="adj" fmla="val 410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w_walk.gif" descr="A participant walking on the treadmill with both arms on">    </p:cNvPr>
          <p:cNvPicPr>
            <a:picLocks noChangeAspect="1"/>
          </p:cNvPicPr>
          <p:nvPr/>
        </p:nvPicPr>
        <p:blipFill>
          <a:blip r:embed="rId1"/>
          <a:stretch>
            <a:fillRect/>
          </a:stretch>
        </p:blipFill>
        <p:spPr>
          <a:xfrm>
            <a:off x="621792" y="1828800"/>
            <a:ext cx="2527443" cy="4498848"/>
          </a:xfrm>
          <a:prstGeom prst="rect">
            <a:avLst/>
          </a:prstGeom>
        </p:spPr>
      </p:pic>
      <p:sp>
        <p:nvSpPr>
          <p:cNvPr id="6" name="Stat 63–68 mm"/>
          <p:cNvSpPr txBox="1"/>
          <p:nvPr/>
        </p:nvSpPr>
        <p:spPr>
          <a:xfrm>
            <a:off x="4045347" y="214884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63–68 mm</a:t>
            </a:r>
            <a:endParaRPr lang="en-US" sz="8000" dirty="0"/>
          </a:p>
        </p:txBody>
      </p:sp>
      <p:sp>
        <p:nvSpPr>
          <p:cNvPr id="7" name="Stat 63–68 mm label"/>
          <p:cNvSpPr txBox="1"/>
          <p:nvPr/>
        </p:nvSpPr>
        <p:spPr>
          <a:xfrm>
            <a:off x="4045347" y="325526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hand motion, arm locked (average)</a:t>
            </a:r>
            <a:endParaRPr lang="en-US" sz="2400" dirty="0"/>
          </a:p>
        </p:txBody>
      </p:sp>
      <p:sp>
        <p:nvSpPr>
          <p:cNvPr id="8" name="Stat ~1.8 Hz"/>
          <p:cNvSpPr txBox="1"/>
          <p:nvPr/>
        </p:nvSpPr>
        <p:spPr>
          <a:xfrm>
            <a:off x="4045347" y="3794760"/>
            <a:ext cx="7597709" cy="1051560"/>
          </a:xfrm>
          <a:prstGeom prst="rect">
            <a:avLst/>
          </a:prstGeom>
          <a:noFill/>
          <a:ln/>
        </p:spPr>
        <p:txBody>
          <a:bodyPr wrap="square" lIns="0" tIns="0" rIns="0" bIns="0" rtlCol="0" anchor="ctr"/>
          <a:lstStyle/>
          <a:p>
            <a:pPr algn="l" indent="0" marL="0">
              <a:buNone/>
            </a:pPr>
            <a:r>
              <a:rPr lang="en-US" sz="8000" b="1" dirty="0">
                <a:solidFill>
                  <a:schemeClr val="accent1"/>
                </a:solidFill>
              </a:rPr>
              <a:t>~1.8 Hz</a:t>
            </a:r>
            <a:endParaRPr lang="en-US" sz="8000" dirty="0"/>
          </a:p>
        </p:txBody>
      </p:sp>
      <p:sp>
        <p:nvSpPr>
          <p:cNvPr id="9" name="Stat ~1.8 Hz label"/>
          <p:cNvSpPr txBox="1"/>
          <p:nvPr/>
        </p:nvSpPr>
        <p:spPr>
          <a:xfrm>
            <a:off x="4045347" y="4901184"/>
            <a:ext cx="7597709" cy="438912"/>
          </a:xfrm>
          <a:prstGeom prst="rect">
            <a:avLst/>
          </a:prstGeom>
          <a:noFill/>
          <a:ln/>
        </p:spPr>
        <p:txBody>
          <a:bodyPr wrap="square" lIns="0" tIns="0" rIns="0" bIns="0" rtlCol="0" anchor="t"/>
          <a:lstStyle/>
          <a:p>
            <a:pPr algn="l" indent="0" marL="0">
              <a:buNone/>
            </a:pPr>
            <a:r>
              <a:rPr lang="en-US" sz="2400" dirty="0">
                <a:solidFill>
                  <a:schemeClr val="tx1"/>
                </a:solidFill>
              </a:rPr>
              <a:t>steps per second</a:t>
            </a:r>
            <a:endParaRPr lang="en-US" sz="2400" dirty="0"/>
          </a:p>
        </p:txBody>
      </p:sp>
      <p:sp>
        <p:nvSpPr>
          <p:cNvPr id="10" name="Goal"/>
          <p:cNvSpPr txBox="1"/>
          <p:nvPr/>
        </p:nvSpPr>
        <p:spPr>
          <a:xfrm>
            <a:off x="4045347" y="5943600"/>
            <a:ext cx="7597709" cy="457200"/>
          </a:xfrm>
          <a:prstGeom prst="rect">
            <a:avLst/>
          </a:prstGeom>
          <a:noFill/>
          <a:ln/>
        </p:spPr>
        <p:txBody>
          <a:bodyPr wrap="square" lIns="0" tIns="0" rIns="0" bIns="0" rtlCol="0" anchor="b"/>
          <a:lstStyle/>
          <a:p>
            <a:pPr indent="0" marL="0">
              <a:buNone/>
            </a:pPr>
            <a:r>
              <a:rPr lang="en-US" sz="2600" b="1" dirty="0">
                <a:solidFill>
                  <a:schemeClr val="tx2"/>
                </a:solidFill>
              </a:rPr>
              <a:t>Goal: hands fixed in the room, not the body</a:t>
            </a:r>
            <a:endParaRPr lang="en-US" sz="2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Measure the backpack, cancel it through the arm</a:t>
            </a:r>
            <a:endParaRPr lang="en-US" sz="3200" dirty="0"/>
          </a:p>
        </p:txBody>
      </p:sp>
      <p:sp>
        <p:nvSpPr>
          <p:cNvPr id="4" name="Frame World"/>
          <p:cNvSpPr txBox="1"/>
          <p:nvPr/>
        </p:nvSpPr>
        <p:spPr>
          <a:xfrm>
            <a:off x="548640"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World</a:t>
            </a:r>
            <a:endParaRPr lang="en-US" sz="2400" dirty="0"/>
          </a:p>
        </p:txBody>
      </p:sp>
      <p:sp>
        <p:nvSpPr>
          <p:cNvPr id="5" name="Frame Backpack"/>
          <p:cNvSpPr txBox="1"/>
          <p:nvPr/>
        </p:nvSpPr>
        <p:spPr>
          <a:xfrm>
            <a:off x="3545738"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Backpack</a:t>
            </a:r>
            <a:endParaRPr lang="en-US" sz="2400" dirty="0"/>
          </a:p>
        </p:txBody>
      </p:sp>
      <p:sp>
        <p:nvSpPr>
          <p:cNvPr id="6" name="Frame Arm base"/>
          <p:cNvSpPr txBox="1"/>
          <p:nvPr/>
        </p:nvSpPr>
        <p:spPr>
          <a:xfrm>
            <a:off x="6542837"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Arm base</a:t>
            </a:r>
            <a:endParaRPr lang="en-US" sz="2400" dirty="0"/>
          </a:p>
        </p:txBody>
      </p:sp>
      <p:sp>
        <p:nvSpPr>
          <p:cNvPr id="7" name="Frame Hand"/>
          <p:cNvSpPr txBox="1"/>
          <p:nvPr/>
        </p:nvSpPr>
        <p:spPr>
          <a:xfrm>
            <a:off x="9539935" y="1920240"/>
            <a:ext cx="2103120" cy="960120"/>
          </a:xfrm>
          <a:prstGeom prst="roundRect">
            <a:avLst>
              <a:gd name="adj" fmla="val 9524"/>
            </a:avLst>
          </a:prstGeom>
          <a:solidFill>
            <a:schemeClr val="tx2"/>
          </a:solidFill>
          <a:ln/>
        </p:spPr>
        <p:txBody>
          <a:bodyPr wrap="square" lIns="508" tIns="508" rIns="508" bIns="508" rtlCol="0" anchor="ctr"/>
          <a:lstStyle/>
          <a:p>
            <a:pPr algn="ctr" indent="0" marL="0">
              <a:buNone/>
            </a:pPr>
            <a:r>
              <a:rPr lang="en-US" sz="2400" b="1" dirty="0">
                <a:solidFill>
                  <a:schemeClr val="bg1"/>
                </a:solidFill>
              </a:rPr>
              <a:t>Hand</a:t>
            </a:r>
            <a:endParaRPr lang="en-US" sz="2400" dirty="0"/>
          </a:p>
        </p:txBody>
      </p:sp>
      <p:sp>
        <p:nvSpPr>
          <p:cNvPr id="8" name="Shape 6"/>
          <p:cNvSpPr/>
          <p:nvPr/>
        </p:nvSpPr>
        <p:spPr>
          <a:xfrm>
            <a:off x="2724912" y="2400300"/>
            <a:ext cx="747674" cy="0"/>
          </a:xfrm>
          <a:prstGeom prst="line">
            <a:avLst/>
          </a:prstGeom>
          <a:noFill/>
          <a:ln w="28575">
            <a:solidFill>
              <a:schemeClr val="tx2"/>
            </a:solidFill>
            <a:prstDash val="solid"/>
            <a:tailEnd type="triangle"/>
          </a:ln>
        </p:spPr>
      </p:sp>
      <p:sp>
        <p:nvSpPr>
          <p:cNvPr id="9" name="Edge Vicon, live"/>
          <p:cNvSpPr txBox="1"/>
          <p:nvPr/>
        </p:nvSpPr>
        <p:spPr>
          <a:xfrm>
            <a:off x="1727149" y="3127248"/>
            <a:ext cx="2743200" cy="594360"/>
          </a:xfrm>
          <a:prstGeom prst="roundRect">
            <a:avLst>
              <a:gd name="adj" fmla="val 18462"/>
            </a:avLst>
          </a:prstGeom>
          <a:solidFill>
            <a:schemeClr val="accent2"/>
          </a:solidFill>
          <a:ln/>
        </p:spPr>
        <p:txBody>
          <a:bodyPr wrap="square" lIns="508" tIns="508" rIns="508" bIns="508" rtlCol="0" anchor="ctr"/>
          <a:lstStyle/>
          <a:p>
            <a:pPr algn="ctr" indent="0" marL="0">
              <a:buNone/>
            </a:pPr>
            <a:r>
              <a:rPr lang="en-US" sz="2000" b="1" dirty="0">
                <a:solidFill>
                  <a:schemeClr val="bg1"/>
                </a:solidFill>
              </a:rPr>
              <a:t>Vicon, live</a:t>
            </a:r>
            <a:endParaRPr lang="en-US" sz="2000" dirty="0"/>
          </a:p>
        </p:txBody>
      </p:sp>
      <p:sp>
        <p:nvSpPr>
          <p:cNvPr id="10" name="Shape 8"/>
          <p:cNvSpPr/>
          <p:nvPr/>
        </p:nvSpPr>
        <p:spPr>
          <a:xfrm>
            <a:off x="5722010" y="2400300"/>
            <a:ext cx="747674" cy="0"/>
          </a:xfrm>
          <a:prstGeom prst="line">
            <a:avLst/>
          </a:prstGeom>
          <a:noFill/>
          <a:ln w="28575">
            <a:solidFill>
              <a:schemeClr val="tx2"/>
            </a:solidFill>
            <a:prstDash val="solid"/>
            <a:tailEnd type="triangle"/>
          </a:ln>
        </p:spPr>
      </p:sp>
      <p:sp>
        <p:nvSpPr>
          <p:cNvPr id="11" name="Edge fixed offset"/>
          <p:cNvSpPr txBox="1"/>
          <p:nvPr/>
        </p:nvSpPr>
        <p:spPr>
          <a:xfrm>
            <a:off x="4724248" y="3127248"/>
            <a:ext cx="2743200" cy="594360"/>
          </a:xfrm>
          <a:prstGeom prst="roundRect">
            <a:avLst>
              <a:gd name="adj" fmla="val 18462"/>
            </a:avLst>
          </a:prstGeom>
          <a:solidFill>
            <a:schemeClr val="bg2"/>
          </a:solidFill>
          <a:ln/>
        </p:spPr>
        <p:txBody>
          <a:bodyPr wrap="square" lIns="508" tIns="508" rIns="508" bIns="508" rtlCol="0" anchor="ctr"/>
          <a:lstStyle/>
          <a:p>
            <a:pPr algn="ctr" indent="0" marL="0">
              <a:buNone/>
            </a:pPr>
            <a:r>
              <a:rPr lang="en-US" sz="2000" b="1" dirty="0">
                <a:solidFill>
                  <a:schemeClr val="tx2"/>
                </a:solidFill>
              </a:rPr>
              <a:t>fixed offset</a:t>
            </a:r>
            <a:endParaRPr lang="en-US" sz="2000" dirty="0"/>
          </a:p>
        </p:txBody>
      </p:sp>
      <p:sp>
        <p:nvSpPr>
          <p:cNvPr id="12" name="Shape 10"/>
          <p:cNvSpPr/>
          <p:nvPr/>
        </p:nvSpPr>
        <p:spPr>
          <a:xfrm>
            <a:off x="8719109" y="2400300"/>
            <a:ext cx="747674" cy="0"/>
          </a:xfrm>
          <a:prstGeom prst="line">
            <a:avLst/>
          </a:prstGeom>
          <a:noFill/>
          <a:ln w="28575">
            <a:solidFill>
              <a:schemeClr val="tx2"/>
            </a:solidFill>
            <a:prstDash val="solid"/>
            <a:tailEnd type="triangle"/>
          </a:ln>
        </p:spPr>
      </p:sp>
      <p:sp>
        <p:nvSpPr>
          <p:cNvPr id="13" name="Edge joint angles"/>
          <p:cNvSpPr txBox="1"/>
          <p:nvPr/>
        </p:nvSpPr>
        <p:spPr>
          <a:xfrm>
            <a:off x="7721346" y="3127248"/>
            <a:ext cx="2743200" cy="594360"/>
          </a:xfrm>
          <a:prstGeom prst="roundRect">
            <a:avLst>
              <a:gd name="adj" fmla="val 18462"/>
            </a:avLst>
          </a:prstGeom>
          <a:solidFill>
            <a:schemeClr val="accent5"/>
          </a:solidFill>
          <a:ln/>
        </p:spPr>
        <p:txBody>
          <a:bodyPr wrap="square" lIns="508" tIns="508" rIns="508" bIns="508" rtlCol="0" anchor="ctr"/>
          <a:lstStyle/>
          <a:p>
            <a:pPr algn="ctr" indent="0" marL="0">
              <a:buNone/>
            </a:pPr>
            <a:r>
              <a:rPr lang="en-US" sz="2000" b="1" dirty="0">
                <a:solidFill>
                  <a:schemeClr val="tx2"/>
                </a:solidFill>
              </a:rPr>
              <a:t>joint angles</a:t>
            </a:r>
            <a:endParaRPr lang="en-US" sz="2000" dirty="0"/>
          </a:p>
        </p:txBody>
      </p:sp>
      <p:sp>
        <p:nvSpPr>
          <p:cNvPr id="14" name="Equation card"/>
          <p:cNvSpPr/>
          <p:nvPr/>
        </p:nvSpPr>
        <p:spPr>
          <a:xfrm>
            <a:off x="548640" y="4069080"/>
            <a:ext cx="11094415" cy="1097280"/>
          </a:xfrm>
          <a:prstGeom prst="roundRect">
            <a:avLst>
              <a:gd name="adj" fmla="val 11667"/>
            </a:avLst>
          </a:prstGeom>
          <a:solidFill>
            <a:schemeClr val="bg2"/>
          </a:solidFill>
          <a:ln/>
        </p:spPr>
      </p:sp>
      <p:sp>
        <p:nvSpPr>
          <p:cNvPr id="15" name="Control law"/>
          <p:cNvSpPr txBox="1"/>
          <p:nvPr/>
        </p:nvSpPr>
        <p:spPr>
          <a:xfrm>
            <a:off x="548640" y="4069080"/>
            <a:ext cx="11094415" cy="1097280"/>
          </a:xfrm>
          <a:prstGeom prst="rect">
            <a:avLst/>
          </a:prstGeom>
          <a:noFill/>
          <a:ln/>
        </p:spPr>
        <p:txBody>
          <a:bodyPr wrap="square" lIns="0" tIns="0" rIns="0" bIns="0" rtlCol="0" anchor="ctr"/>
          <a:lstStyle/>
          <a:p>
            <a:pPr algn="ctr" indent="0" marL="0">
              <a:buNone/>
            </a:pPr>
            <a:r>
              <a:rPr lang="en-US" sz="4400" b="1" dirty="0">
                <a:solidFill>
                  <a:schemeClr val="tx2"/>
                </a:solidFill>
              </a:rPr>
              <a:t>q̇ = </a:t>
            </a:r>
            <a:pPr algn="ctr" indent="0" marL="0">
              <a:buNone/>
            </a:pPr>
            <a:r>
              <a:rPr lang="en-US" sz="4400" b="1" dirty="0">
                <a:solidFill>
                  <a:schemeClr val="accent1"/>
                </a:solidFill>
              </a:rPr>
              <a:t>J</a:t>
            </a:r>
            <a:pPr algn="ctr" indent="0" marL="0">
              <a:buNone/>
            </a:pPr>
            <a:r>
              <a:rPr lang="en-US" sz="4400" b="1" baseline="30000" dirty="0">
                <a:solidFill>
                  <a:schemeClr val="accent1"/>
                </a:solidFill>
              </a:rPr>
              <a:t>+</a:t>
            </a:r>
            <a:pPr algn="ctr" indent="0" marL="0">
              <a:buNone/>
            </a:pPr>
            <a:r>
              <a:rPr lang="en-US" sz="4400" b="1" baseline="-40000" dirty="0">
                <a:solidFill>
                  <a:schemeClr val="accent1"/>
                </a:solidFill>
              </a:rPr>
              <a:t>λ</a:t>
            </a:r>
            <a:pPr algn="ctr" indent="0" marL="0">
              <a:buNone/>
            </a:pPr>
            <a:r>
              <a:rPr lang="en-US" sz="4400" b="1" dirty="0">
                <a:solidFill>
                  <a:schemeClr val="accent2"/>
                </a:solidFill>
              </a:rPr>
              <a:t> (K</a:t>
            </a:r>
            <a:pPr algn="ctr" indent="0" marL="0">
              <a:buNone/>
            </a:pPr>
            <a:r>
              <a:rPr lang="en-US" sz="4400" b="1" baseline="-40000" dirty="0">
                <a:solidFill>
                  <a:schemeClr val="accent2"/>
                </a:solidFill>
              </a:rPr>
              <a:t>p</a:t>
            </a:r>
            <a:pPr algn="ctr" indent="0" marL="0">
              <a:buNone/>
            </a:pPr>
            <a:r>
              <a:rPr lang="en-US" sz="4400" b="1" dirty="0">
                <a:solidFill>
                  <a:schemeClr val="accent2"/>
                </a:solidFill>
              </a:rPr>
              <a:t>·e + </a:t>
            </a:r>
            <a:pPr algn="ctr" indent="0" marL="0">
              <a:buNone/>
            </a:pPr>
            <a:r>
              <a:rPr lang="en-US" sz="4400" b="1" dirty="0">
                <a:solidFill>
                  <a:schemeClr val="accent3"/>
                </a:solidFill>
              </a:rPr>
              <a:t>K</a:t>
            </a:r>
            <a:pPr algn="ctr" indent="0" marL="0">
              <a:buNone/>
            </a:pPr>
            <a:r>
              <a:rPr lang="en-US" sz="4400" b="1" baseline="-40000" dirty="0">
                <a:solidFill>
                  <a:schemeClr val="accent3"/>
                </a:solidFill>
              </a:rPr>
              <a:t>d</a:t>
            </a:r>
            <a:pPr algn="ctr" indent="0" marL="0">
              <a:buNone/>
            </a:pPr>
            <a:r>
              <a:rPr lang="en-US" sz="4400" b="1" dirty="0">
                <a:solidFill>
                  <a:schemeClr val="accent3"/>
                </a:solidFill>
              </a:rPr>
              <a:t>·ė</a:t>
            </a:r>
            <a:pPr algn="ctr" indent="0" marL="0">
              <a:buNone/>
            </a:pPr>
            <a:r>
              <a:rPr lang="en-US" sz="4400" b="1" dirty="0">
                <a:solidFill>
                  <a:schemeClr val="accent2"/>
                </a:solidFill>
              </a:rPr>
              <a:t>)</a:t>
            </a:r>
            <a:endParaRPr lang="en-US" sz="4400" dirty="0"/>
          </a:p>
        </p:txBody>
      </p:sp>
      <p:sp>
        <p:nvSpPr>
          <p:cNvPr id="16" name="Velocity-term marker"/>
          <p:cNvSpPr/>
          <p:nvPr/>
        </p:nvSpPr>
        <p:spPr>
          <a:xfrm>
            <a:off x="7781544" y="5422392"/>
            <a:ext cx="182880" cy="155448"/>
          </a:xfrm>
          <a:prstGeom prst="triangle">
            <a:avLst/>
          </a:prstGeom>
          <a:solidFill>
            <a:schemeClr val="accent3"/>
          </a:solidFill>
          <a:ln/>
        </p:spPr>
      </p:sp>
      <p:sp>
        <p:nvSpPr>
          <p:cNvPr id="17" name="Velocity-term label"/>
          <p:cNvSpPr txBox="1"/>
          <p:nvPr/>
        </p:nvSpPr>
        <p:spPr>
          <a:xfrm>
            <a:off x="8055864" y="5349240"/>
            <a:ext cx="2194560" cy="365760"/>
          </a:xfrm>
          <a:prstGeom prst="rect">
            <a:avLst/>
          </a:prstGeom>
          <a:noFill/>
          <a:ln/>
        </p:spPr>
        <p:txBody>
          <a:bodyPr wrap="square" lIns="0" tIns="0" rIns="0" bIns="0" rtlCol="0" anchor="ctr"/>
          <a:lstStyle/>
          <a:p>
            <a:pPr indent="0" marL="0">
              <a:buNone/>
            </a:pPr>
            <a:r>
              <a:rPr lang="en-US" sz="2000" dirty="0">
                <a:solidFill>
                  <a:schemeClr val="accent3"/>
                </a:solidFill>
              </a:rPr>
              <a:t>velocity term</a:t>
            </a:r>
            <a:endParaRPr lang="en-US" sz="2000" dirty="0"/>
          </a:p>
        </p:txBody>
      </p:sp>
      <p:sp>
        <p:nvSpPr>
          <p:cNvPr id="18" name="Control-law gloss"/>
          <p:cNvSpPr txBox="1"/>
          <p:nvPr/>
        </p:nvSpPr>
        <p:spPr>
          <a:xfrm>
            <a:off x="548640" y="5349240"/>
            <a:ext cx="6729984" cy="365760"/>
          </a:xfrm>
          <a:prstGeom prst="rect">
            <a:avLst/>
          </a:prstGeom>
          <a:noFill/>
          <a:ln/>
        </p:spPr>
        <p:txBody>
          <a:bodyPr wrap="square" lIns="0" tIns="0" rIns="0" bIns="0" rtlCol="0" anchor="ctr"/>
          <a:lstStyle/>
          <a:p>
            <a:pPr algn="r" indent="0" marL="0">
              <a:buNone/>
            </a:pPr>
            <a:r>
              <a:rPr lang="en-US" sz="2000" dirty="0">
                <a:solidFill>
                  <a:schemeClr val="accent4"/>
                </a:solidFill>
              </a:rPr>
              <a:t>error in the room → joint speeds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Simulation: knowing the velocity is worth a lot</a:t>
            </a:r>
            <a:endParaRPr lang="en-US" sz="3200" dirty="0"/>
          </a:p>
        </p:txBody>
      </p:sp>
      <p:sp>
        <p:nvSpPr>
          <p:cNvPr id="4" name="Frame hold_pose.gif"/>
          <p:cNvSpPr/>
          <p:nvPr/>
        </p:nvSpPr>
        <p:spPr>
          <a:xfrm>
            <a:off x="548640" y="1783080"/>
            <a:ext cx="7656928" cy="4480560"/>
          </a:xfrm>
          <a:prstGeom prst="roundRect">
            <a:avLst>
              <a:gd name="adj" fmla="val 2449"/>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5" name="hold_pose.gif" descr="Simulation: arms locked, reactive controller, reactive controller with feedforward">    </p:cNvPr>
          <p:cNvPicPr>
            <a:picLocks noChangeAspect="1"/>
          </p:cNvPicPr>
          <p:nvPr/>
        </p:nvPicPr>
        <p:blipFill>
          <a:blip r:embed="rId1"/>
          <a:stretch>
            <a:fillRect/>
          </a:stretch>
        </p:blipFill>
        <p:spPr>
          <a:xfrm>
            <a:off x="621792" y="1856232"/>
            <a:ext cx="7510624" cy="4334256"/>
          </a:xfrm>
          <a:prstGeom prst="rect">
            <a:avLst/>
          </a:prstGeom>
        </p:spPr>
      </p:pic>
      <p:sp>
        <p:nvSpPr>
          <p:cNvPr id="6" name="Sim header"/>
          <p:cNvSpPr txBox="1"/>
          <p:nvPr/>
        </p:nvSpPr>
        <p:spPr>
          <a:xfrm>
            <a:off x="8617048" y="1783080"/>
            <a:ext cx="3026007" cy="365760"/>
          </a:xfrm>
          <a:prstGeom prst="rect">
            <a:avLst/>
          </a:prstGeom>
          <a:noFill/>
          <a:ln/>
        </p:spPr>
        <p:txBody>
          <a:bodyPr wrap="square" lIns="0" tIns="0" rIns="0" bIns="0" rtlCol="0" anchor="t"/>
          <a:lstStyle/>
          <a:p>
            <a:pPr indent="0" marL="0">
              <a:buNone/>
            </a:pPr>
            <a:r>
              <a:rPr lang="en-US" sz="1800" b="1" dirty="0">
                <a:solidFill>
                  <a:schemeClr val="accent4"/>
                </a:solidFill>
              </a:rPr>
              <a:t>Hand error, 8 s average</a:t>
            </a:r>
            <a:endParaRPr lang="en-US" sz="1800" dirty="0"/>
          </a:p>
        </p:txBody>
      </p:sp>
      <p:sp>
        <p:nvSpPr>
          <p:cNvPr id="7" name="Stat 31.0 mm"/>
          <p:cNvSpPr txBox="1"/>
          <p:nvPr/>
        </p:nvSpPr>
        <p:spPr>
          <a:xfrm>
            <a:off x="8617048" y="2331720"/>
            <a:ext cx="3026007" cy="777240"/>
          </a:xfrm>
          <a:prstGeom prst="rect">
            <a:avLst/>
          </a:prstGeom>
          <a:noFill/>
          <a:ln/>
        </p:spPr>
        <p:txBody>
          <a:bodyPr wrap="square" lIns="0" tIns="0" rIns="0" bIns="0" rtlCol="0" anchor="ctr"/>
          <a:lstStyle/>
          <a:p>
            <a:pPr algn="l" indent="0" marL="0">
              <a:buNone/>
            </a:pPr>
            <a:r>
              <a:rPr lang="en-US" sz="5400" b="1" dirty="0">
                <a:solidFill>
                  <a:schemeClr val="accent4"/>
                </a:solidFill>
              </a:rPr>
              <a:t>31.0 mm</a:t>
            </a:r>
            <a:endParaRPr lang="en-US" sz="5400" dirty="0"/>
          </a:p>
        </p:txBody>
      </p:sp>
      <p:sp>
        <p:nvSpPr>
          <p:cNvPr id="8" name="Stat 31.0 mm label"/>
          <p:cNvSpPr txBox="1"/>
          <p:nvPr/>
        </p:nvSpPr>
        <p:spPr>
          <a:xfrm>
            <a:off x="8617048" y="31272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arms locked</a:t>
            </a:r>
            <a:endParaRPr lang="en-US" sz="2000" dirty="0"/>
          </a:p>
        </p:txBody>
      </p:sp>
      <p:sp>
        <p:nvSpPr>
          <p:cNvPr id="9" name="Stat 6.7 mm"/>
          <p:cNvSpPr txBox="1"/>
          <p:nvPr/>
        </p:nvSpPr>
        <p:spPr>
          <a:xfrm>
            <a:off x="8617048" y="3703320"/>
            <a:ext cx="3026007" cy="777240"/>
          </a:xfrm>
          <a:prstGeom prst="rect">
            <a:avLst/>
          </a:prstGeom>
          <a:noFill/>
          <a:ln/>
        </p:spPr>
        <p:txBody>
          <a:bodyPr wrap="square" lIns="0" tIns="0" rIns="0" bIns="0" rtlCol="0" anchor="ctr"/>
          <a:lstStyle/>
          <a:p>
            <a:pPr algn="l" indent="0" marL="0">
              <a:buNone/>
            </a:pPr>
            <a:r>
              <a:rPr lang="en-US" sz="5400" b="1" dirty="0">
                <a:solidFill>
                  <a:schemeClr val="accent2"/>
                </a:solidFill>
              </a:rPr>
              <a:t>6.7 mm</a:t>
            </a:r>
            <a:endParaRPr lang="en-US" sz="5400" dirty="0"/>
          </a:p>
        </p:txBody>
      </p:sp>
      <p:sp>
        <p:nvSpPr>
          <p:cNvPr id="10" name="Stat 6.7 mm label"/>
          <p:cNvSpPr txBox="1"/>
          <p:nvPr/>
        </p:nvSpPr>
        <p:spPr>
          <a:xfrm>
            <a:off x="8617048" y="44988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my controller</a:t>
            </a:r>
            <a:endParaRPr lang="en-US" sz="2000" dirty="0"/>
          </a:p>
        </p:txBody>
      </p:sp>
      <p:sp>
        <p:nvSpPr>
          <p:cNvPr id="11" name="Stat 2.6 mm"/>
          <p:cNvSpPr txBox="1"/>
          <p:nvPr/>
        </p:nvSpPr>
        <p:spPr>
          <a:xfrm>
            <a:off x="8617048" y="5074920"/>
            <a:ext cx="3026007" cy="777240"/>
          </a:xfrm>
          <a:prstGeom prst="rect">
            <a:avLst/>
          </a:prstGeom>
          <a:noFill/>
          <a:ln/>
        </p:spPr>
        <p:txBody>
          <a:bodyPr wrap="square" lIns="0" tIns="0" rIns="0" bIns="0" rtlCol="0" anchor="ctr"/>
          <a:lstStyle/>
          <a:p>
            <a:pPr algn="l" indent="0" marL="0">
              <a:buNone/>
            </a:pPr>
            <a:r>
              <a:rPr lang="en-US" sz="5400" b="1" dirty="0">
                <a:solidFill>
                  <a:schemeClr val="accent3"/>
                </a:solidFill>
              </a:rPr>
              <a:t>2.6 mm</a:t>
            </a:r>
            <a:endParaRPr lang="en-US" sz="5400" dirty="0"/>
          </a:p>
        </p:txBody>
      </p:sp>
      <p:sp>
        <p:nvSpPr>
          <p:cNvPr id="12" name="Stat 2.6 mm label"/>
          <p:cNvSpPr txBox="1"/>
          <p:nvPr/>
        </p:nvSpPr>
        <p:spPr>
          <a:xfrm>
            <a:off x="8617048" y="5870448"/>
            <a:ext cx="3026007" cy="365760"/>
          </a:xfrm>
          <a:prstGeom prst="rect">
            <a:avLst/>
          </a:prstGeom>
          <a:noFill/>
          <a:ln/>
        </p:spPr>
        <p:txBody>
          <a:bodyPr wrap="square" lIns="0" tIns="0" rIns="0" bIns="0" rtlCol="0" anchor="t"/>
          <a:lstStyle/>
          <a:p>
            <a:pPr algn="l" indent="0" marL="0">
              <a:buNone/>
            </a:pPr>
            <a:r>
              <a:rPr lang="en-US" sz="2000" dirty="0">
                <a:solidFill>
                  <a:schemeClr val="tx1"/>
                </a:solidFill>
              </a:rPr>
              <a:t>+ speed fed forward</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Making it usable: a filter that costs time</a:t>
            </a:r>
            <a:endParaRPr lang="en-US" sz="3200" dirty="0"/>
          </a:p>
        </p:txBody>
      </p:sp>
      <p:sp>
        <p:nvSpPr>
          <p:cNvPr id="4" name="Filter step 1"/>
          <p:cNvSpPr txBox="1"/>
          <p:nvPr/>
        </p:nvSpPr>
        <p:spPr>
          <a:xfrm>
            <a:off x="548640" y="2468880"/>
            <a:ext cx="3200400" cy="1828800"/>
          </a:xfrm>
          <a:prstGeom prst="roundRect">
            <a:avLst>
              <a:gd name="adj" fmla="val 7000"/>
            </a:avLst>
          </a:prstGeom>
          <a:solidFill>
            <a:schemeClr val="bg2"/>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2200" b="1" dirty="0">
                <a:solidFill>
                  <a:schemeClr val="tx2"/>
                </a:solidFill>
              </a:rPr>
              <a:t>Raw camera tracking</a:t>
            </a:r>
            <a:endParaRPr lang="en-US" sz="1800" dirty="0"/>
          </a:p>
          <a:p>
            <a:pPr algn="ctr" indent="0" marL="0">
              <a:buNone/>
            </a:pPr>
            <a:r>
              <a:rPr lang="en-US" sz="2000" dirty="0">
                <a:solidFill>
                  <a:schemeClr val="tx2"/>
                </a:solidFill>
              </a:rPr>
              <a:t>noisy, arm shakes</a:t>
            </a:r>
            <a:endParaRPr lang="en-US" sz="1800" dirty="0"/>
          </a:p>
        </p:txBody>
      </p:sp>
      <p:sp>
        <p:nvSpPr>
          <p:cNvPr id="5" name="Shape 3"/>
          <p:cNvSpPr/>
          <p:nvPr/>
        </p:nvSpPr>
        <p:spPr>
          <a:xfrm>
            <a:off x="3822192" y="3383280"/>
            <a:ext cx="600304" cy="0"/>
          </a:xfrm>
          <a:prstGeom prst="line">
            <a:avLst/>
          </a:prstGeom>
          <a:noFill/>
          <a:ln w="31750">
            <a:solidFill>
              <a:schemeClr val="tx2"/>
            </a:solidFill>
            <a:prstDash val="solid"/>
            <a:tailEnd type="triangle"/>
          </a:ln>
        </p:spPr>
      </p:sp>
      <p:sp>
        <p:nvSpPr>
          <p:cNvPr id="6" name="Filter step 2"/>
          <p:cNvSpPr txBox="1"/>
          <p:nvPr/>
        </p:nvSpPr>
        <p:spPr>
          <a:xfrm>
            <a:off x="4495648" y="2468880"/>
            <a:ext cx="3200400" cy="1828800"/>
          </a:xfrm>
          <a:prstGeom prst="roundRect">
            <a:avLst>
              <a:gd name="adj" fmla="val 7000"/>
            </a:avLst>
          </a:prstGeom>
          <a:solidFill>
            <a:schemeClr val="accent3"/>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2200" b="1" dirty="0">
                <a:solidFill>
                  <a:schemeClr val="bg1"/>
                </a:solidFill>
              </a:rPr>
              <a:t>Smoothing filter (Kalman)</a:t>
            </a:r>
            <a:endParaRPr lang="en-US" sz="1800" dirty="0"/>
          </a:p>
          <a:p>
            <a:pPr algn="ctr" indent="0" marL="0">
              <a:buNone/>
            </a:pPr>
            <a:r>
              <a:rPr lang="en-US" sz="2000" dirty="0">
                <a:solidFill>
                  <a:schemeClr val="bg1"/>
                </a:solidFill>
              </a:rPr>
              <a:t>steady, but late</a:t>
            </a:r>
            <a:endParaRPr lang="en-US" sz="1800" dirty="0"/>
          </a:p>
        </p:txBody>
      </p:sp>
      <p:sp>
        <p:nvSpPr>
          <p:cNvPr id="7" name="Shape 5"/>
          <p:cNvSpPr/>
          <p:nvPr/>
        </p:nvSpPr>
        <p:spPr>
          <a:xfrm>
            <a:off x="7769200" y="3383280"/>
            <a:ext cx="600304" cy="0"/>
          </a:xfrm>
          <a:prstGeom prst="line">
            <a:avLst/>
          </a:prstGeom>
          <a:noFill/>
          <a:ln w="31750">
            <a:solidFill>
              <a:schemeClr val="tx2"/>
            </a:solidFill>
            <a:prstDash val="solid"/>
            <a:tailEnd type="triangle"/>
          </a:ln>
        </p:spPr>
      </p:sp>
      <p:sp>
        <p:nvSpPr>
          <p:cNvPr id="8" name="Filter step 3"/>
          <p:cNvSpPr txBox="1"/>
          <p:nvPr/>
        </p:nvSpPr>
        <p:spPr>
          <a:xfrm>
            <a:off x="8442655" y="2468880"/>
            <a:ext cx="3200400" cy="1828800"/>
          </a:xfrm>
          <a:prstGeom prst="roundRect">
            <a:avLst>
              <a:gd name="adj" fmla="val 7000"/>
            </a:avLst>
          </a:prstGeom>
          <a:solidFill>
            <a:schemeClr val="accent1"/>
          </a:solidFill>
          <a:ln/>
          <a:effectLst>
            <a:outerShdw sx="100000" sy="100000" kx="0" ky="0" algn="bl" rotWithShape="0" blurRad="127000" dist="38100" dir="5400000">
              <a:srgbClr val="000000">
                <a:alpha val="18000"/>
              </a:srgbClr>
            </a:outerShdw>
          </a:effectLst>
        </p:spPr>
        <p:txBody>
          <a:bodyPr wrap="square" lIns="508" tIns="508" rIns="508" bIns="508" rtlCol="0" anchor="ctr"/>
          <a:lstStyle/>
          <a:p>
            <a:pPr algn="ctr" indent="0" marL="0">
              <a:buNone/>
            </a:pPr>
            <a:r>
              <a:rPr lang="en-US" sz="2200" b="1" dirty="0">
                <a:solidFill>
                  <a:schemeClr val="bg1"/>
                </a:solidFill>
              </a:rPr>
              <a:t>Predict ahead from speed</a:t>
            </a:r>
            <a:endParaRPr lang="en-US" sz="1800" dirty="0"/>
          </a:p>
          <a:p>
            <a:pPr algn="ctr" indent="0" marL="0">
              <a:buNone/>
            </a:pPr>
            <a:r>
              <a:rPr lang="en-US" sz="2000" dirty="0">
                <a:solidFill>
                  <a:schemeClr val="bg1"/>
                </a:solidFill>
              </a:rPr>
              <a:t>pulls back toward now</a:t>
            </a:r>
            <a:endParaRPr lang="en-US" sz="1800" dirty="0"/>
          </a:p>
        </p:txBody>
      </p:sp>
      <p:sp>
        <p:nvSpPr>
          <p:cNvPr id="9" name="Takeaway"/>
          <p:cNvSpPr txBox="1"/>
          <p:nvPr/>
        </p:nvSpPr>
        <p:spPr>
          <a:xfrm>
            <a:off x="548640" y="4892040"/>
            <a:ext cx="11094415" cy="731520"/>
          </a:xfrm>
          <a:prstGeom prst="rect">
            <a:avLst/>
          </a:prstGeom>
          <a:noFill/>
          <a:ln/>
        </p:spPr>
        <p:txBody>
          <a:bodyPr wrap="square" lIns="0" tIns="0" rIns="0" bIns="0" rtlCol="0" anchor="ctr"/>
          <a:lstStyle/>
          <a:p>
            <a:pPr algn="ctr" indent="0" marL="0">
              <a:buNone/>
            </a:pPr>
            <a:r>
              <a:rPr lang="en-US" sz="3600" b="1" dirty="0">
                <a:solidFill>
                  <a:schemeClr val="tx2"/>
                </a:solidFill>
              </a:rPr>
              <a:t>Smoothness costs time.</a:t>
            </a:r>
            <a:endParaRPr lang="en-US" sz="3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ection tag"/>
          <p:cNvSpPr txBox="1"/>
          <p:nvPr/>
        </p:nvSpPr>
        <p:spPr>
          <a:xfrm>
            <a:off x="548640" y="402336"/>
            <a:ext cx="3006547"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APPROACH &amp; SOLUTION</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On real wearers: about 2/3 of walking motion removed</a:t>
            </a:r>
            <a:endParaRPr lang="en-US" sz="3200" dirty="0"/>
          </a:p>
        </p:txBody>
      </p:sp>
      <p:sp>
        <p:nvSpPr>
          <p:cNvPr id="4" name="Provenance"/>
          <p:cNvSpPr txBox="1"/>
          <p:nvPr/>
        </p:nvSpPr>
        <p:spPr>
          <a:xfrm>
            <a:off x="548640" y="1691640"/>
            <a:ext cx="11094415" cy="365760"/>
          </a:xfrm>
          <a:prstGeom prst="rect">
            <a:avLst/>
          </a:prstGeom>
          <a:noFill/>
          <a:ln/>
        </p:spPr>
        <p:txBody>
          <a:bodyPr wrap="square" lIns="0" tIns="0" rIns="0" bIns="0" rtlCol="0" anchor="t"/>
          <a:lstStyle/>
          <a:p>
            <a:pPr indent="0" marL="0">
              <a:buNone/>
            </a:pPr>
            <a:r>
              <a:rPr lang="en-US" sz="2000" dirty="0">
                <a:solidFill>
                  <a:schemeClr val="tx2"/>
                </a:solidFill>
              </a:rPr>
              <a:t>Controller: 400 Hz on the lab machine, no feedforward. Analysis: mine.</a:t>
            </a:r>
            <a:endParaRPr lang="en-US" sz="2000" dirty="0"/>
          </a:p>
        </p:txBody>
      </p:sp>
      <p:sp>
        <p:nvSpPr>
          <p:cNvPr id="5" name="Frame hw_replay.gif"/>
          <p:cNvSpPr/>
          <p:nvPr/>
        </p:nvSpPr>
        <p:spPr>
          <a:xfrm>
            <a:off x="548640" y="2514600"/>
            <a:ext cx="7955280" cy="3341644"/>
          </a:xfrm>
          <a:prstGeom prst="roundRect">
            <a:avLst>
              <a:gd name="adj" fmla="val 3284"/>
            </a:avLst>
          </a:prstGeom>
          <a:solidFill>
            <a:schemeClr val="bg1"/>
          </a:solidFill>
          <a:ln w="9525">
            <a:solidFill>
              <a:srgbClr val="EBEEEE"/>
            </a:solidFill>
            <a:prstDash val="solid"/>
          </a:ln>
          <a:effectLst>
            <a:outerShdw sx="100000" sy="100000" kx="0" ky="0" algn="bl" rotWithShape="0" blurRad="127000" dist="38100" dir="5400000">
              <a:srgbClr val="000000">
                <a:alpha val="18000"/>
              </a:srgbClr>
            </a:outerShdw>
          </a:effectLst>
        </p:spPr>
      </p:sp>
      <p:pic>
        <p:nvPicPr>
          <p:cNvPr id="6" name="hw_replay.gif" descr="One trial replayed: locked-arm path in grey, measured hand in blue">    </p:cNvPr>
          <p:cNvPicPr>
            <a:picLocks noChangeAspect="1"/>
          </p:cNvPicPr>
          <p:nvPr/>
        </p:nvPicPr>
        <p:blipFill>
          <a:blip r:embed="rId1"/>
          <a:stretch>
            <a:fillRect/>
          </a:stretch>
        </p:blipFill>
        <p:spPr>
          <a:xfrm>
            <a:off x="621792" y="2587752"/>
            <a:ext cx="7808976" cy="3195340"/>
          </a:xfrm>
          <a:prstGeom prst="rect">
            <a:avLst/>
          </a:prstGeom>
        </p:spPr>
      </p:pic>
      <p:sp>
        <p:nvSpPr>
          <p:cNvPr id="7" name="Stat 71%"/>
          <p:cNvSpPr txBox="1"/>
          <p:nvPr/>
        </p:nvSpPr>
        <p:spPr>
          <a:xfrm>
            <a:off x="8869680" y="2286000"/>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71%</a:t>
            </a:r>
            <a:endParaRPr lang="en-US" sz="6000" dirty="0"/>
          </a:p>
        </p:txBody>
      </p:sp>
      <p:sp>
        <p:nvSpPr>
          <p:cNvPr id="8" name="Stat 71% label"/>
          <p:cNvSpPr txBox="1"/>
          <p:nvPr/>
        </p:nvSpPr>
        <p:spPr>
          <a:xfrm>
            <a:off x="8869680" y="3063240"/>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0.5 m/s</a:t>
            </a:r>
            <a:endParaRPr lang="en-US" sz="2000" dirty="0"/>
          </a:p>
        </p:txBody>
      </p:sp>
      <p:sp>
        <p:nvSpPr>
          <p:cNvPr id="9" name="Stat 63%"/>
          <p:cNvSpPr txBox="1"/>
          <p:nvPr/>
        </p:nvSpPr>
        <p:spPr>
          <a:xfrm>
            <a:off x="8869680" y="3401568"/>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63%</a:t>
            </a:r>
            <a:endParaRPr lang="en-US" sz="6000" dirty="0"/>
          </a:p>
        </p:txBody>
      </p:sp>
      <p:sp>
        <p:nvSpPr>
          <p:cNvPr id="10" name="Stat 63% label"/>
          <p:cNvSpPr txBox="1"/>
          <p:nvPr/>
        </p:nvSpPr>
        <p:spPr>
          <a:xfrm>
            <a:off x="8869680" y="4178808"/>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1.0 m/s</a:t>
            </a:r>
            <a:endParaRPr lang="en-US" sz="2000" dirty="0"/>
          </a:p>
        </p:txBody>
      </p:sp>
      <p:sp>
        <p:nvSpPr>
          <p:cNvPr id="11" name="Stat 56%"/>
          <p:cNvSpPr txBox="1"/>
          <p:nvPr/>
        </p:nvSpPr>
        <p:spPr>
          <a:xfrm>
            <a:off x="8869680" y="4517136"/>
            <a:ext cx="2773375" cy="777240"/>
          </a:xfrm>
          <a:prstGeom prst="rect">
            <a:avLst/>
          </a:prstGeom>
          <a:noFill/>
          <a:ln/>
        </p:spPr>
        <p:txBody>
          <a:bodyPr wrap="square" lIns="0" tIns="0" rIns="0" bIns="0" rtlCol="0" anchor="ctr"/>
          <a:lstStyle/>
          <a:p>
            <a:pPr algn="l" indent="0" marL="0">
              <a:buNone/>
            </a:pPr>
            <a:r>
              <a:rPr lang="en-US" sz="6000" b="1" dirty="0">
                <a:solidFill>
                  <a:schemeClr val="accent2"/>
                </a:solidFill>
              </a:rPr>
              <a:t>56%</a:t>
            </a:r>
            <a:endParaRPr lang="en-US" sz="6000" dirty="0"/>
          </a:p>
        </p:txBody>
      </p:sp>
      <p:sp>
        <p:nvSpPr>
          <p:cNvPr id="12" name="Stat 56% label"/>
          <p:cNvSpPr txBox="1"/>
          <p:nvPr/>
        </p:nvSpPr>
        <p:spPr>
          <a:xfrm>
            <a:off x="8869680" y="5294376"/>
            <a:ext cx="2773375" cy="347472"/>
          </a:xfrm>
          <a:prstGeom prst="rect">
            <a:avLst/>
          </a:prstGeom>
          <a:noFill/>
          <a:ln/>
        </p:spPr>
        <p:txBody>
          <a:bodyPr wrap="square" lIns="0" tIns="0" rIns="0" bIns="0" rtlCol="0" anchor="t"/>
          <a:lstStyle/>
          <a:p>
            <a:pPr algn="l" indent="0" marL="0">
              <a:buNone/>
            </a:pPr>
            <a:r>
              <a:rPr lang="en-US" sz="2000" dirty="0">
                <a:solidFill>
                  <a:schemeClr val="tx1"/>
                </a:solidFill>
              </a:rPr>
              <a:t>1.5 m/s</a:t>
            </a:r>
            <a:endParaRPr lang="en-US" sz="2000" dirty="0"/>
          </a:p>
        </p:txBody>
      </p:sp>
      <p:sp>
        <p:nvSpPr>
          <p:cNvPr id="13" name="Results note"/>
          <p:cNvSpPr txBox="1"/>
          <p:nvPr/>
        </p:nvSpPr>
        <p:spPr>
          <a:xfrm>
            <a:off x="8869680" y="5660136"/>
            <a:ext cx="2773375" cy="566928"/>
          </a:xfrm>
          <a:prstGeom prst="rect">
            <a:avLst/>
          </a:prstGeom>
          <a:noFill/>
          <a:ln/>
        </p:spPr>
        <p:txBody>
          <a:bodyPr wrap="square" lIns="0" tIns="0" rIns="0" bIns="0" rtlCol="0" anchor="t"/>
          <a:lstStyle/>
          <a:p>
            <a:pPr indent="0" marL="0">
              <a:buNone/>
            </a:pPr>
            <a:r>
              <a:rPr lang="en-US" sz="1800" dirty="0">
                <a:solidFill>
                  <a:schemeClr val="accent4"/>
                </a:solidFill>
              </a:rPr>
              <a:t>Mean of 6 of 7 wearers · 128 trials</a:t>
            </a:r>
            <a:endParaRPr lang="en-US" sz="18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obvious fix did almost nothing</a:t>
            </a:r>
            <a:endParaRPr lang="en-US" sz="3200" dirty="0"/>
          </a:p>
        </p:txBody>
      </p:sp>
      <p:sp>
        <p:nvSpPr>
          <p:cNvPr id="4" name="Pilot set-up"/>
          <p:cNvSpPr txBox="1"/>
          <p:nvPr/>
        </p:nvSpPr>
        <p:spPr>
          <a:xfrm>
            <a:off x="548640" y="2240280"/>
            <a:ext cx="11094415" cy="457200"/>
          </a:xfrm>
          <a:prstGeom prst="rect">
            <a:avLst/>
          </a:prstGeom>
          <a:noFill/>
          <a:ln/>
        </p:spPr>
        <p:txBody>
          <a:bodyPr wrap="square" lIns="0" tIns="0" rIns="0" bIns="0" rtlCol="0" anchor="ctr"/>
          <a:lstStyle/>
          <a:p>
            <a:pPr algn="ctr" indent="0" marL="0">
              <a:buNone/>
            </a:pPr>
            <a:r>
              <a:rPr lang="en-US" sz="2200" dirty="0">
                <a:solidFill>
                  <a:schemeClr val="accent4"/>
                </a:solidFill>
              </a:rPr>
              <a:t>One-wearer pilot: velocity gain 0.8 → 2.6. Hand motion near 1 Hz fell:</a:t>
            </a:r>
            <a:endParaRPr lang="en-US" sz="2200" dirty="0"/>
          </a:p>
        </p:txBody>
      </p:sp>
      <p:sp>
        <p:nvSpPr>
          <p:cNvPr id="5" name="Stat 38%"/>
          <p:cNvSpPr txBox="1"/>
          <p:nvPr/>
        </p:nvSpPr>
        <p:spPr>
          <a:xfrm>
            <a:off x="1569568" y="2788920"/>
            <a:ext cx="4023360" cy="1737360"/>
          </a:xfrm>
          <a:prstGeom prst="rect">
            <a:avLst/>
          </a:prstGeom>
          <a:noFill/>
          <a:ln/>
        </p:spPr>
        <p:txBody>
          <a:bodyPr wrap="square" lIns="0" tIns="0" rIns="0" bIns="0" rtlCol="0" anchor="ctr"/>
          <a:lstStyle/>
          <a:p>
            <a:pPr algn="ctr" indent="0" marL="0">
              <a:buNone/>
            </a:pPr>
            <a:r>
              <a:rPr lang="en-US" sz="13000" b="1" dirty="0">
                <a:solidFill>
                  <a:schemeClr val="accent4"/>
                </a:solidFill>
              </a:rPr>
              <a:t>38%</a:t>
            </a:r>
            <a:endParaRPr lang="en-US" sz="13000" dirty="0"/>
          </a:p>
        </p:txBody>
      </p:sp>
      <p:sp>
        <p:nvSpPr>
          <p:cNvPr id="6" name="Stat 38% label"/>
          <p:cNvSpPr txBox="1"/>
          <p:nvPr/>
        </p:nvSpPr>
        <p:spPr>
          <a:xfrm>
            <a:off x="1569568" y="454456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predicted</a:t>
            </a:r>
            <a:endParaRPr lang="en-US" sz="2400" dirty="0"/>
          </a:p>
        </p:txBody>
      </p:sp>
      <p:sp>
        <p:nvSpPr>
          <p:cNvPr id="7" name="Stat 9%"/>
          <p:cNvSpPr txBox="1"/>
          <p:nvPr/>
        </p:nvSpPr>
        <p:spPr>
          <a:xfrm>
            <a:off x="6598768" y="2788920"/>
            <a:ext cx="4023360" cy="1737360"/>
          </a:xfrm>
          <a:prstGeom prst="rect">
            <a:avLst/>
          </a:prstGeom>
          <a:noFill/>
          <a:ln/>
        </p:spPr>
        <p:txBody>
          <a:bodyPr wrap="square" lIns="0" tIns="0" rIns="0" bIns="0" rtlCol="0" anchor="ctr"/>
          <a:lstStyle/>
          <a:p>
            <a:pPr algn="ctr" indent="0" marL="0">
              <a:buNone/>
            </a:pPr>
            <a:r>
              <a:rPr lang="en-US" sz="13000" b="1" dirty="0">
                <a:solidFill>
                  <a:schemeClr val="accent3"/>
                </a:solidFill>
              </a:rPr>
              <a:t>9%</a:t>
            </a:r>
            <a:endParaRPr lang="en-US" sz="13000" dirty="0"/>
          </a:p>
        </p:txBody>
      </p:sp>
      <p:sp>
        <p:nvSpPr>
          <p:cNvPr id="8" name="Stat 9% label"/>
          <p:cNvSpPr txBox="1"/>
          <p:nvPr/>
        </p:nvSpPr>
        <p:spPr>
          <a:xfrm>
            <a:off x="6598768" y="4544568"/>
            <a:ext cx="4023360" cy="457200"/>
          </a:xfrm>
          <a:prstGeom prst="rect">
            <a:avLst/>
          </a:prstGeom>
          <a:noFill/>
          <a:ln/>
        </p:spPr>
        <p:txBody>
          <a:bodyPr wrap="square" lIns="0" tIns="0" rIns="0" bIns="0" rtlCol="0" anchor="t"/>
          <a:lstStyle/>
          <a:p>
            <a:pPr algn="ctr" indent="0" marL="0">
              <a:buNone/>
            </a:pPr>
            <a:r>
              <a:rPr lang="en-US" sz="2400" dirty="0">
                <a:solidFill>
                  <a:schemeClr val="tx1"/>
                </a:solidFill>
              </a:rPr>
              <a:t>measured</a:t>
            </a:r>
            <a:endParaRPr lang="en-US" sz="2400" dirty="0"/>
          </a:p>
        </p:txBody>
      </p:sp>
      <p:sp>
        <p:nvSpPr>
          <p:cNvPr id="9" name="Frequency split"/>
          <p:cNvSpPr txBox="1"/>
          <p:nvPr/>
        </p:nvSpPr>
        <p:spPr>
          <a:xfrm>
            <a:off x="548640" y="5532120"/>
            <a:ext cx="11094415" cy="457200"/>
          </a:xfrm>
          <a:prstGeom prst="rect">
            <a:avLst/>
          </a:prstGeom>
          <a:noFill/>
          <a:ln/>
        </p:spPr>
        <p:txBody>
          <a:bodyPr wrap="square" lIns="0" tIns="0" rIns="0" bIns="0" rtlCol="0" anchor="ctr"/>
          <a:lstStyle/>
          <a:p>
            <a:pPr algn="ctr" indent="0" marL="0">
              <a:buNone/>
            </a:pPr>
            <a:r>
              <a:rPr lang="en-US" sz="2200" dirty="0">
                <a:solidFill>
                  <a:schemeClr val="accent4"/>
                </a:solidFill>
              </a:rPr>
              <a:t>Slow sway: 85% removed · Step bounce: only 29%</a:t>
            </a:r>
            <a:endParaRPr lang="en-US" sz="22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ection tag"/>
          <p:cNvSpPr txBox="1"/>
          <p:nvPr/>
        </p:nvSpPr>
        <p:spPr>
          <a:xfrm>
            <a:off x="548640" y="402336"/>
            <a:ext cx="3562502"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TRADE-OFFS &amp; CHALLENGES</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The velocity arrives 61–71 ms late</a:t>
            </a:r>
            <a:endParaRPr lang="en-US" sz="3200" dirty="0"/>
          </a:p>
        </p:txBody>
      </p:sp>
      <p:sp>
        <p:nvSpPr>
          <p:cNvPr id="4" name="Kalman lag (36 ms)"/>
          <p:cNvSpPr/>
          <p:nvPr/>
        </p:nvSpPr>
        <p:spPr>
          <a:xfrm>
            <a:off x="548640" y="2103120"/>
            <a:ext cx="4075133" cy="1188720"/>
          </a:xfrm>
          <a:prstGeom prst="rect">
            <a:avLst/>
          </a:prstGeom>
          <a:solidFill>
            <a:schemeClr val="accent3"/>
          </a:solidFill>
          <a:ln/>
        </p:spPr>
      </p:sp>
      <p:sp>
        <p:nvSpPr>
          <p:cNvPr id="5" name="Kalman lag fade 1"/>
          <p:cNvSpPr/>
          <p:nvPr/>
        </p:nvSpPr>
        <p:spPr>
          <a:xfrm>
            <a:off x="4605485" y="2103120"/>
            <a:ext cx="42276" cy="1188720"/>
          </a:xfrm>
          <a:prstGeom prst="rect">
            <a:avLst/>
          </a:prstGeom>
          <a:solidFill>
            <a:srgbClr val="D24202"/>
          </a:solidFill>
          <a:ln/>
        </p:spPr>
      </p:sp>
      <p:sp>
        <p:nvSpPr>
          <p:cNvPr id="6" name="Kalman lag fade 2"/>
          <p:cNvSpPr/>
          <p:nvPr/>
        </p:nvSpPr>
        <p:spPr>
          <a:xfrm>
            <a:off x="4636788" y="2103120"/>
            <a:ext cx="42276" cy="1188720"/>
          </a:xfrm>
          <a:prstGeom prst="rect">
            <a:avLst/>
          </a:prstGeom>
          <a:solidFill>
            <a:srgbClr val="D34507"/>
          </a:solidFill>
          <a:ln/>
        </p:spPr>
      </p:sp>
      <p:sp>
        <p:nvSpPr>
          <p:cNvPr id="7" name="Kalman lag fade 3"/>
          <p:cNvSpPr/>
          <p:nvPr/>
        </p:nvSpPr>
        <p:spPr>
          <a:xfrm>
            <a:off x="4668091" y="2103120"/>
            <a:ext cx="42276" cy="1188720"/>
          </a:xfrm>
          <a:prstGeom prst="rect">
            <a:avLst/>
          </a:prstGeom>
          <a:solidFill>
            <a:srgbClr val="D4490C"/>
          </a:solidFill>
          <a:ln/>
        </p:spPr>
      </p:sp>
      <p:sp>
        <p:nvSpPr>
          <p:cNvPr id="8" name="Kalman lag fade 4"/>
          <p:cNvSpPr/>
          <p:nvPr/>
        </p:nvSpPr>
        <p:spPr>
          <a:xfrm>
            <a:off x="4699394" y="2103120"/>
            <a:ext cx="42276" cy="1188720"/>
          </a:xfrm>
          <a:prstGeom prst="rect">
            <a:avLst/>
          </a:prstGeom>
          <a:solidFill>
            <a:srgbClr val="D54C10"/>
          </a:solidFill>
          <a:ln/>
        </p:spPr>
      </p:sp>
      <p:sp>
        <p:nvSpPr>
          <p:cNvPr id="9" name="Kalman lag fade 5"/>
          <p:cNvSpPr/>
          <p:nvPr/>
        </p:nvSpPr>
        <p:spPr>
          <a:xfrm>
            <a:off x="4730696" y="2103120"/>
            <a:ext cx="42276" cy="1188720"/>
          </a:xfrm>
          <a:prstGeom prst="rect">
            <a:avLst/>
          </a:prstGeom>
          <a:solidFill>
            <a:srgbClr val="D65015"/>
          </a:solidFill>
          <a:ln/>
        </p:spPr>
      </p:sp>
      <p:sp>
        <p:nvSpPr>
          <p:cNvPr id="10" name="Kalman lag fade 6"/>
          <p:cNvSpPr/>
          <p:nvPr/>
        </p:nvSpPr>
        <p:spPr>
          <a:xfrm>
            <a:off x="4761999" y="2103120"/>
            <a:ext cx="42276" cy="1188720"/>
          </a:xfrm>
          <a:prstGeom prst="rect">
            <a:avLst/>
          </a:prstGeom>
          <a:solidFill>
            <a:srgbClr val="D65319"/>
          </a:solidFill>
          <a:ln/>
        </p:spPr>
      </p:sp>
      <p:sp>
        <p:nvSpPr>
          <p:cNvPr id="11" name="Kalman lag fade 7"/>
          <p:cNvSpPr/>
          <p:nvPr/>
        </p:nvSpPr>
        <p:spPr>
          <a:xfrm>
            <a:off x="4793302" y="2103120"/>
            <a:ext cx="42276" cy="1188720"/>
          </a:xfrm>
          <a:prstGeom prst="rect">
            <a:avLst/>
          </a:prstGeom>
          <a:solidFill>
            <a:srgbClr val="D7561E"/>
          </a:solidFill>
          <a:ln/>
        </p:spPr>
      </p:sp>
      <p:sp>
        <p:nvSpPr>
          <p:cNvPr id="12" name="Kalman lag fade 8"/>
          <p:cNvSpPr/>
          <p:nvPr/>
        </p:nvSpPr>
        <p:spPr>
          <a:xfrm>
            <a:off x="4824605" y="2103120"/>
            <a:ext cx="42276" cy="1188720"/>
          </a:xfrm>
          <a:prstGeom prst="rect">
            <a:avLst/>
          </a:prstGeom>
          <a:solidFill>
            <a:srgbClr val="D85A23"/>
          </a:solidFill>
          <a:ln/>
        </p:spPr>
      </p:sp>
      <p:sp>
        <p:nvSpPr>
          <p:cNvPr id="13" name="Kalman lag fade 9"/>
          <p:cNvSpPr/>
          <p:nvPr/>
        </p:nvSpPr>
        <p:spPr>
          <a:xfrm>
            <a:off x="4855908" y="2103120"/>
            <a:ext cx="42276" cy="1188720"/>
          </a:xfrm>
          <a:prstGeom prst="rect">
            <a:avLst/>
          </a:prstGeom>
          <a:solidFill>
            <a:srgbClr val="D95D27"/>
          </a:solidFill>
          <a:ln/>
        </p:spPr>
      </p:sp>
      <p:sp>
        <p:nvSpPr>
          <p:cNvPr id="14" name="Kalman lag fade 10"/>
          <p:cNvSpPr/>
          <p:nvPr/>
        </p:nvSpPr>
        <p:spPr>
          <a:xfrm>
            <a:off x="4887210" y="2103120"/>
            <a:ext cx="42276" cy="1188720"/>
          </a:xfrm>
          <a:prstGeom prst="rect">
            <a:avLst/>
          </a:prstGeom>
          <a:solidFill>
            <a:srgbClr val="DA612C"/>
          </a:solidFill>
          <a:ln/>
        </p:spPr>
      </p:sp>
      <p:sp>
        <p:nvSpPr>
          <p:cNvPr id="15" name="Kalman lag fade 11"/>
          <p:cNvSpPr/>
          <p:nvPr/>
        </p:nvSpPr>
        <p:spPr>
          <a:xfrm>
            <a:off x="4918513" y="2103120"/>
            <a:ext cx="42276" cy="1188720"/>
          </a:xfrm>
          <a:prstGeom prst="rect">
            <a:avLst/>
          </a:prstGeom>
          <a:solidFill>
            <a:srgbClr val="DB6430"/>
          </a:solidFill>
          <a:ln/>
        </p:spPr>
      </p:sp>
      <p:sp>
        <p:nvSpPr>
          <p:cNvPr id="16" name="Kalman lag fade 12"/>
          <p:cNvSpPr/>
          <p:nvPr/>
        </p:nvSpPr>
        <p:spPr>
          <a:xfrm>
            <a:off x="4949816" y="2103120"/>
            <a:ext cx="42276" cy="1188720"/>
          </a:xfrm>
          <a:prstGeom prst="rect">
            <a:avLst/>
          </a:prstGeom>
          <a:solidFill>
            <a:srgbClr val="DB6835"/>
          </a:solidFill>
          <a:ln/>
        </p:spPr>
      </p:sp>
      <p:sp>
        <p:nvSpPr>
          <p:cNvPr id="17" name="Kalman lag fade 13"/>
          <p:cNvSpPr/>
          <p:nvPr/>
        </p:nvSpPr>
        <p:spPr>
          <a:xfrm>
            <a:off x="4981119" y="2103120"/>
            <a:ext cx="42276" cy="1188720"/>
          </a:xfrm>
          <a:prstGeom prst="rect">
            <a:avLst/>
          </a:prstGeom>
          <a:solidFill>
            <a:srgbClr val="DC6B3A"/>
          </a:solidFill>
          <a:ln/>
        </p:spPr>
      </p:sp>
      <p:sp>
        <p:nvSpPr>
          <p:cNvPr id="18" name="Kalman lag fade 14"/>
          <p:cNvSpPr/>
          <p:nvPr/>
        </p:nvSpPr>
        <p:spPr>
          <a:xfrm>
            <a:off x="5012422" y="2103120"/>
            <a:ext cx="42276" cy="1188720"/>
          </a:xfrm>
          <a:prstGeom prst="rect">
            <a:avLst/>
          </a:prstGeom>
          <a:solidFill>
            <a:srgbClr val="DD6F3E"/>
          </a:solidFill>
          <a:ln/>
        </p:spPr>
      </p:sp>
      <p:sp>
        <p:nvSpPr>
          <p:cNvPr id="19" name="Kalman lag fade 15"/>
          <p:cNvSpPr/>
          <p:nvPr/>
        </p:nvSpPr>
        <p:spPr>
          <a:xfrm>
            <a:off x="5043725" y="2103120"/>
            <a:ext cx="42276" cy="1188720"/>
          </a:xfrm>
          <a:prstGeom prst="rect">
            <a:avLst/>
          </a:prstGeom>
          <a:solidFill>
            <a:srgbClr val="DE7243"/>
          </a:solidFill>
          <a:ln/>
        </p:spPr>
      </p:sp>
      <p:sp>
        <p:nvSpPr>
          <p:cNvPr id="20" name="Kalman lag fade 16"/>
          <p:cNvSpPr/>
          <p:nvPr/>
        </p:nvSpPr>
        <p:spPr>
          <a:xfrm>
            <a:off x="5075027" y="2103120"/>
            <a:ext cx="42276" cy="1188720"/>
          </a:xfrm>
          <a:prstGeom prst="rect">
            <a:avLst/>
          </a:prstGeom>
          <a:solidFill>
            <a:srgbClr val="DF7547"/>
          </a:solidFill>
          <a:ln/>
        </p:spPr>
      </p:sp>
      <p:sp>
        <p:nvSpPr>
          <p:cNvPr id="21" name="Kalman lag fade 17"/>
          <p:cNvSpPr/>
          <p:nvPr/>
        </p:nvSpPr>
        <p:spPr>
          <a:xfrm>
            <a:off x="5106330" y="2103120"/>
            <a:ext cx="42276" cy="1188720"/>
          </a:xfrm>
          <a:prstGeom prst="rect">
            <a:avLst/>
          </a:prstGeom>
          <a:solidFill>
            <a:srgbClr val="DF794C"/>
          </a:solidFill>
          <a:ln/>
        </p:spPr>
      </p:sp>
      <p:sp>
        <p:nvSpPr>
          <p:cNvPr id="22" name="Kalman lag fade 18"/>
          <p:cNvSpPr/>
          <p:nvPr/>
        </p:nvSpPr>
        <p:spPr>
          <a:xfrm>
            <a:off x="5137633" y="2103120"/>
            <a:ext cx="42276" cy="1188720"/>
          </a:xfrm>
          <a:prstGeom prst="rect">
            <a:avLst/>
          </a:prstGeom>
          <a:solidFill>
            <a:srgbClr val="E07C51"/>
          </a:solidFill>
          <a:ln/>
        </p:spPr>
      </p:sp>
      <p:sp>
        <p:nvSpPr>
          <p:cNvPr id="23" name="Kalman lag fade 19"/>
          <p:cNvSpPr/>
          <p:nvPr/>
        </p:nvSpPr>
        <p:spPr>
          <a:xfrm>
            <a:off x="5168936" y="2103120"/>
            <a:ext cx="42276" cy="1188720"/>
          </a:xfrm>
          <a:prstGeom prst="rect">
            <a:avLst/>
          </a:prstGeom>
          <a:solidFill>
            <a:srgbClr val="E18055"/>
          </a:solidFill>
          <a:ln/>
        </p:spPr>
      </p:sp>
      <p:sp>
        <p:nvSpPr>
          <p:cNvPr id="24" name="Kalman lag fade 20"/>
          <p:cNvSpPr/>
          <p:nvPr/>
        </p:nvSpPr>
        <p:spPr>
          <a:xfrm>
            <a:off x="5200239" y="2103120"/>
            <a:ext cx="42276" cy="1188720"/>
          </a:xfrm>
          <a:prstGeom prst="rect">
            <a:avLst/>
          </a:prstGeom>
          <a:solidFill>
            <a:srgbClr val="E2835A"/>
          </a:solidFill>
          <a:ln/>
        </p:spPr>
      </p:sp>
      <p:sp>
        <p:nvSpPr>
          <p:cNvPr id="25" name="Kalman lag fade 21"/>
          <p:cNvSpPr/>
          <p:nvPr/>
        </p:nvSpPr>
        <p:spPr>
          <a:xfrm>
            <a:off x="5231541" y="2103120"/>
            <a:ext cx="42276" cy="1188720"/>
          </a:xfrm>
          <a:prstGeom prst="rect">
            <a:avLst/>
          </a:prstGeom>
          <a:solidFill>
            <a:srgbClr val="E3875E"/>
          </a:solidFill>
          <a:ln/>
        </p:spPr>
      </p:sp>
      <p:sp>
        <p:nvSpPr>
          <p:cNvPr id="26" name="Kalman lag fade 22"/>
          <p:cNvSpPr/>
          <p:nvPr/>
        </p:nvSpPr>
        <p:spPr>
          <a:xfrm>
            <a:off x="5262844" y="2103120"/>
            <a:ext cx="42276" cy="1188720"/>
          </a:xfrm>
          <a:prstGeom prst="rect">
            <a:avLst/>
          </a:prstGeom>
          <a:solidFill>
            <a:srgbClr val="E38A63"/>
          </a:solidFill>
          <a:ln/>
        </p:spPr>
      </p:sp>
      <p:sp>
        <p:nvSpPr>
          <p:cNvPr id="27" name="Kalman lag fade 23"/>
          <p:cNvSpPr/>
          <p:nvPr/>
        </p:nvSpPr>
        <p:spPr>
          <a:xfrm>
            <a:off x="5294147" y="2103120"/>
            <a:ext cx="42276" cy="1188720"/>
          </a:xfrm>
          <a:prstGeom prst="rect">
            <a:avLst/>
          </a:prstGeom>
          <a:solidFill>
            <a:srgbClr val="E48E68"/>
          </a:solidFill>
          <a:ln/>
        </p:spPr>
      </p:sp>
      <p:sp>
        <p:nvSpPr>
          <p:cNvPr id="28" name="Kalman lag fade 24"/>
          <p:cNvSpPr/>
          <p:nvPr/>
        </p:nvSpPr>
        <p:spPr>
          <a:xfrm>
            <a:off x="5325450" y="2103120"/>
            <a:ext cx="42276" cy="1188720"/>
          </a:xfrm>
          <a:prstGeom prst="rect">
            <a:avLst/>
          </a:prstGeom>
          <a:solidFill>
            <a:srgbClr val="E5916C"/>
          </a:solidFill>
          <a:ln/>
        </p:spPr>
      </p:sp>
      <p:sp>
        <p:nvSpPr>
          <p:cNvPr id="29" name="Kalman lag fade 25"/>
          <p:cNvSpPr/>
          <p:nvPr/>
        </p:nvSpPr>
        <p:spPr>
          <a:xfrm>
            <a:off x="5356753" y="2103120"/>
            <a:ext cx="42276" cy="1188720"/>
          </a:xfrm>
          <a:prstGeom prst="rect">
            <a:avLst/>
          </a:prstGeom>
          <a:solidFill>
            <a:srgbClr val="E69471"/>
          </a:solidFill>
          <a:ln/>
        </p:spPr>
      </p:sp>
      <p:sp>
        <p:nvSpPr>
          <p:cNvPr id="30" name="Kalman lag fade 26"/>
          <p:cNvSpPr/>
          <p:nvPr/>
        </p:nvSpPr>
        <p:spPr>
          <a:xfrm>
            <a:off x="5388055" y="2103120"/>
            <a:ext cx="42276" cy="1188720"/>
          </a:xfrm>
          <a:prstGeom prst="rect">
            <a:avLst/>
          </a:prstGeom>
          <a:solidFill>
            <a:srgbClr val="E79875"/>
          </a:solidFill>
          <a:ln/>
        </p:spPr>
      </p:sp>
      <p:sp>
        <p:nvSpPr>
          <p:cNvPr id="31" name="Kalman lag fade 27"/>
          <p:cNvSpPr/>
          <p:nvPr/>
        </p:nvSpPr>
        <p:spPr>
          <a:xfrm>
            <a:off x="5419358" y="2103120"/>
            <a:ext cx="42276" cy="1188720"/>
          </a:xfrm>
          <a:prstGeom prst="rect">
            <a:avLst/>
          </a:prstGeom>
          <a:solidFill>
            <a:srgbClr val="E89B7A"/>
          </a:solidFill>
          <a:ln/>
        </p:spPr>
      </p:sp>
      <p:sp>
        <p:nvSpPr>
          <p:cNvPr id="32" name="Kalman lag fade 28"/>
          <p:cNvSpPr/>
          <p:nvPr/>
        </p:nvSpPr>
        <p:spPr>
          <a:xfrm>
            <a:off x="5450661" y="2103120"/>
            <a:ext cx="42276" cy="1188720"/>
          </a:xfrm>
          <a:prstGeom prst="rect">
            <a:avLst/>
          </a:prstGeom>
          <a:solidFill>
            <a:srgbClr val="E89F7F"/>
          </a:solidFill>
          <a:ln/>
        </p:spPr>
      </p:sp>
      <p:sp>
        <p:nvSpPr>
          <p:cNvPr id="33" name="Kalman lag fade 29"/>
          <p:cNvSpPr/>
          <p:nvPr/>
        </p:nvSpPr>
        <p:spPr>
          <a:xfrm>
            <a:off x="5481964" y="2103120"/>
            <a:ext cx="42276" cy="1188720"/>
          </a:xfrm>
          <a:prstGeom prst="rect">
            <a:avLst/>
          </a:prstGeom>
          <a:solidFill>
            <a:srgbClr val="E9A283"/>
          </a:solidFill>
          <a:ln/>
        </p:spPr>
      </p:sp>
      <p:sp>
        <p:nvSpPr>
          <p:cNvPr id="34" name="Kalman lag fade 30"/>
          <p:cNvSpPr/>
          <p:nvPr/>
        </p:nvSpPr>
        <p:spPr>
          <a:xfrm>
            <a:off x="5513267" y="2103120"/>
            <a:ext cx="42276" cy="1188720"/>
          </a:xfrm>
          <a:prstGeom prst="rect">
            <a:avLst/>
          </a:prstGeom>
          <a:solidFill>
            <a:srgbClr val="EAA688"/>
          </a:solidFill>
          <a:ln/>
        </p:spPr>
      </p:sp>
      <p:sp>
        <p:nvSpPr>
          <p:cNvPr id="35" name="Kalman lag fade 31"/>
          <p:cNvSpPr/>
          <p:nvPr/>
        </p:nvSpPr>
        <p:spPr>
          <a:xfrm>
            <a:off x="5544570" y="2103120"/>
            <a:ext cx="42276" cy="1188720"/>
          </a:xfrm>
          <a:prstGeom prst="rect">
            <a:avLst/>
          </a:prstGeom>
          <a:solidFill>
            <a:srgbClr val="EBA98C"/>
          </a:solidFill>
          <a:ln/>
        </p:spPr>
      </p:sp>
      <p:sp>
        <p:nvSpPr>
          <p:cNvPr id="36" name="Kalman lag fade 32"/>
          <p:cNvSpPr/>
          <p:nvPr/>
        </p:nvSpPr>
        <p:spPr>
          <a:xfrm>
            <a:off x="5575872" y="2103120"/>
            <a:ext cx="42276" cy="1188720"/>
          </a:xfrm>
          <a:prstGeom prst="rect">
            <a:avLst/>
          </a:prstGeom>
          <a:solidFill>
            <a:srgbClr val="ECAD91"/>
          </a:solidFill>
          <a:ln/>
        </p:spPr>
      </p:sp>
      <p:sp>
        <p:nvSpPr>
          <p:cNvPr id="37" name="Kalman lag fade 33"/>
          <p:cNvSpPr/>
          <p:nvPr/>
        </p:nvSpPr>
        <p:spPr>
          <a:xfrm>
            <a:off x="5607175" y="2103120"/>
            <a:ext cx="42276" cy="1188720"/>
          </a:xfrm>
          <a:prstGeom prst="rect">
            <a:avLst/>
          </a:prstGeom>
          <a:solidFill>
            <a:srgbClr val="ECB096"/>
          </a:solidFill>
          <a:ln/>
        </p:spPr>
      </p:sp>
      <p:sp>
        <p:nvSpPr>
          <p:cNvPr id="38" name="Kalman lag fade 34"/>
          <p:cNvSpPr/>
          <p:nvPr/>
        </p:nvSpPr>
        <p:spPr>
          <a:xfrm>
            <a:off x="5638478" y="2103120"/>
            <a:ext cx="42276" cy="1188720"/>
          </a:xfrm>
          <a:prstGeom prst="rect">
            <a:avLst/>
          </a:prstGeom>
          <a:solidFill>
            <a:srgbClr val="EDB49A"/>
          </a:solidFill>
          <a:ln/>
        </p:spPr>
      </p:sp>
      <p:sp>
        <p:nvSpPr>
          <p:cNvPr id="39" name="Kalman lag fade 35"/>
          <p:cNvSpPr/>
          <p:nvPr/>
        </p:nvSpPr>
        <p:spPr>
          <a:xfrm>
            <a:off x="5669781" y="2103120"/>
            <a:ext cx="42276" cy="1188720"/>
          </a:xfrm>
          <a:prstGeom prst="rect">
            <a:avLst/>
          </a:prstGeom>
          <a:solidFill>
            <a:srgbClr val="EEB79F"/>
          </a:solidFill>
          <a:ln/>
        </p:spPr>
      </p:sp>
      <p:sp>
        <p:nvSpPr>
          <p:cNvPr id="40" name="Kalman lag fade 36"/>
          <p:cNvSpPr/>
          <p:nvPr/>
        </p:nvSpPr>
        <p:spPr>
          <a:xfrm>
            <a:off x="5701084" y="2103120"/>
            <a:ext cx="31303" cy="1188720"/>
          </a:xfrm>
          <a:prstGeom prst="rect">
            <a:avLst/>
          </a:prstGeom>
          <a:solidFill>
            <a:srgbClr val="EFBAA3"/>
          </a:solidFill>
          <a:ln/>
        </p:spPr>
      </p:sp>
      <p:sp>
        <p:nvSpPr>
          <p:cNvPr id="41" name="Kalman label"/>
          <p:cNvSpPr txBox="1"/>
          <p:nvPr/>
        </p:nvSpPr>
        <p:spPr>
          <a:xfrm>
            <a:off x="548640" y="2103120"/>
            <a:ext cx="5183746" cy="1188720"/>
          </a:xfrm>
          <a:prstGeom prst="rect">
            <a:avLst/>
          </a:prstGeom>
          <a:noFill/>
          <a:ln/>
        </p:spPr>
        <p:txBody>
          <a:bodyPr wrap="square" lIns="0" tIns="0" rIns="0" bIns="0" rtlCol="0" anchor="ctr"/>
          <a:lstStyle/>
          <a:p>
            <a:pPr algn="ctr" indent="0" marL="0">
              <a:buNone/>
            </a:pPr>
            <a:r>
              <a:rPr lang="en-US" sz="2000" b="1" dirty="0">
                <a:solidFill>
                  <a:schemeClr val="bg1"/>
                </a:solidFill>
              </a:rPr>
              <a:t>Smoothing filter 36–46 ms</a:t>
            </a:r>
            <a:endParaRPr lang="en-US" sz="2000" dirty="0"/>
          </a:p>
        </p:txBody>
      </p:sp>
      <p:sp>
        <p:nvSpPr>
          <p:cNvPr id="42" name="Delay segment camera"/>
          <p:cNvSpPr/>
          <p:nvPr/>
        </p:nvSpPr>
        <p:spPr>
          <a:xfrm>
            <a:off x="5732386" y="2103120"/>
            <a:ext cx="1126901" cy="1188720"/>
          </a:xfrm>
          <a:prstGeom prst="rect">
            <a:avLst/>
          </a:prstGeom>
          <a:solidFill>
            <a:schemeClr val="accent3">
              <a:alpha val="75000"/>
            </a:schemeClr>
          </a:solidFill>
          <a:ln/>
        </p:spPr>
      </p:sp>
      <p:sp>
        <p:nvSpPr>
          <p:cNvPr id="43" name="Delay divider 1"/>
          <p:cNvSpPr/>
          <p:nvPr/>
        </p:nvSpPr>
        <p:spPr>
          <a:xfrm>
            <a:off x="5732386" y="2103120"/>
            <a:ext cx="0" cy="1188720"/>
          </a:xfrm>
          <a:prstGeom prst="line">
            <a:avLst/>
          </a:prstGeom>
          <a:noFill/>
          <a:ln w="31750">
            <a:solidFill>
              <a:schemeClr val="bg1"/>
            </a:solidFill>
            <a:prstDash val="solid"/>
          </a:ln>
        </p:spPr>
      </p:sp>
      <p:sp>
        <p:nvSpPr>
          <p:cNvPr id="44" name="Text 42"/>
          <p:cNvSpPr txBox="1"/>
          <p:nvPr/>
        </p:nvSpPr>
        <p:spPr>
          <a:xfrm>
            <a:off x="5732386" y="2103120"/>
            <a:ext cx="1126901" cy="1188720"/>
          </a:xfrm>
          <a:prstGeom prst="rect">
            <a:avLst/>
          </a:prstGeom>
          <a:noFill/>
          <a:ln/>
        </p:spPr>
        <p:txBody>
          <a:bodyPr wrap="square" lIns="0" tIns="0" rIns="0" bIns="0" rtlCol="0" anchor="ctr"/>
          <a:lstStyle/>
          <a:p>
            <a:pPr algn="ctr" indent="0" marL="0">
              <a:buNone/>
            </a:pPr>
            <a:r>
              <a:rPr lang="en-US" sz="2000" b="1" dirty="0">
                <a:solidFill>
                  <a:schemeClr val="tx2"/>
                </a:solidFill>
              </a:rPr>
              <a:t>camera</a:t>
            </a:r>
            <a:endParaRPr lang="en-US" sz="2000" dirty="0"/>
          </a:p>
          <a:p>
            <a:pPr algn="ctr" indent="0" marL="0">
              <a:buNone/>
            </a:pPr>
            <a:r>
              <a:rPr lang="en-US" sz="2000" b="1" dirty="0">
                <a:solidFill>
                  <a:schemeClr val="tx2"/>
                </a:solidFill>
              </a:rPr>
              <a:t>~10 ms</a:t>
            </a:r>
            <a:endParaRPr lang="en-US" sz="2000" dirty="0"/>
          </a:p>
        </p:txBody>
      </p:sp>
      <p:sp>
        <p:nvSpPr>
          <p:cNvPr id="45" name="Delay segment joints"/>
          <p:cNvSpPr/>
          <p:nvPr/>
        </p:nvSpPr>
        <p:spPr>
          <a:xfrm>
            <a:off x="6859288" y="2103120"/>
            <a:ext cx="1690352" cy="1188720"/>
          </a:xfrm>
          <a:prstGeom prst="rect">
            <a:avLst/>
          </a:prstGeom>
          <a:solidFill>
            <a:schemeClr val="accent3">
              <a:alpha val="55000"/>
            </a:schemeClr>
          </a:solidFill>
          <a:ln/>
        </p:spPr>
      </p:sp>
      <p:sp>
        <p:nvSpPr>
          <p:cNvPr id="46" name="Delay divider 2"/>
          <p:cNvSpPr/>
          <p:nvPr/>
        </p:nvSpPr>
        <p:spPr>
          <a:xfrm>
            <a:off x="6859288" y="2103120"/>
            <a:ext cx="0" cy="1188720"/>
          </a:xfrm>
          <a:prstGeom prst="line">
            <a:avLst/>
          </a:prstGeom>
          <a:noFill/>
          <a:ln w="31750">
            <a:solidFill>
              <a:schemeClr val="bg1"/>
            </a:solidFill>
            <a:prstDash val="solid"/>
          </a:ln>
        </p:spPr>
      </p:sp>
      <p:sp>
        <p:nvSpPr>
          <p:cNvPr id="47" name="Text 45"/>
          <p:cNvSpPr txBox="1"/>
          <p:nvPr/>
        </p:nvSpPr>
        <p:spPr>
          <a:xfrm>
            <a:off x="6859288" y="2103120"/>
            <a:ext cx="1690352" cy="1188720"/>
          </a:xfrm>
          <a:prstGeom prst="rect">
            <a:avLst/>
          </a:prstGeom>
          <a:noFill/>
          <a:ln/>
        </p:spPr>
        <p:txBody>
          <a:bodyPr wrap="square" lIns="0" tIns="0" rIns="0" bIns="0" rtlCol="0" anchor="ctr"/>
          <a:lstStyle/>
          <a:p>
            <a:pPr algn="ctr" indent="0" marL="0">
              <a:buNone/>
            </a:pPr>
            <a:r>
              <a:rPr lang="en-US" sz="2000" b="1" dirty="0">
                <a:solidFill>
                  <a:schemeClr val="tx2"/>
                </a:solidFill>
              </a:rPr>
              <a:t>joints</a:t>
            </a:r>
            <a:endParaRPr lang="en-US" sz="2000" dirty="0"/>
          </a:p>
          <a:p>
            <a:pPr algn="ctr" indent="0" marL="0">
              <a:buNone/>
            </a:pPr>
            <a:r>
              <a:rPr lang="en-US" sz="2000" b="1" dirty="0">
                <a:solidFill>
                  <a:schemeClr val="tx2"/>
                </a:solidFill>
              </a:rPr>
              <a:t>~15 ms</a:t>
            </a:r>
            <a:endParaRPr lang="en-US" sz="2000" dirty="0"/>
          </a:p>
        </p:txBody>
      </p:sp>
      <p:sp>
        <p:nvSpPr>
          <p:cNvPr id="48" name="Delay total"/>
          <p:cNvSpPr txBox="1"/>
          <p:nvPr/>
        </p:nvSpPr>
        <p:spPr>
          <a:xfrm>
            <a:off x="8750808" y="2103120"/>
            <a:ext cx="2892247" cy="1188720"/>
          </a:xfrm>
          <a:prstGeom prst="rect">
            <a:avLst/>
          </a:prstGeom>
          <a:noFill/>
          <a:ln/>
        </p:spPr>
        <p:txBody>
          <a:bodyPr wrap="square" lIns="0" tIns="0" rIns="0" bIns="0" rtlCol="0" anchor="ctr"/>
          <a:lstStyle/>
          <a:p>
            <a:pPr indent="0" marL="0">
              <a:buNone/>
            </a:pPr>
            <a:r>
              <a:rPr lang="en-US" sz="4000" b="1" dirty="0">
                <a:solidFill>
                  <a:schemeClr val="accent3"/>
                </a:solidFill>
              </a:rPr>
              <a:t>= 61–71 ms</a:t>
            </a:r>
            <a:endParaRPr lang="en-US" sz="4000" dirty="0"/>
          </a:p>
        </p:txBody>
      </p:sp>
      <p:sp>
        <p:nvSpPr>
          <p:cNvPr id="49" name="Delay formula"/>
          <p:cNvSpPr txBox="1"/>
          <p:nvPr/>
        </p:nvSpPr>
        <p:spPr>
          <a:xfrm>
            <a:off x="548640" y="3840480"/>
            <a:ext cx="11094415" cy="685800"/>
          </a:xfrm>
          <a:prstGeom prst="rect">
            <a:avLst/>
          </a:prstGeom>
          <a:noFill/>
          <a:ln/>
        </p:spPr>
        <p:txBody>
          <a:bodyPr wrap="square" lIns="0" tIns="0" rIns="0" bIns="0" rtlCol="0" anchor="ctr"/>
          <a:lstStyle/>
          <a:p>
            <a:pPr indent="0" marL="0">
              <a:buNone/>
            </a:pPr>
            <a:r>
              <a:rPr lang="en-US" sz="3200" b="1" dirty="0">
                <a:solidFill>
                  <a:schemeClr val="tx2"/>
                </a:solidFill>
              </a:rPr>
              <a:t>Velocity error: 2·sin(</a:t>
            </a:r>
            <a:pPr indent="0" marL="0">
              <a:buNone/>
            </a:pPr>
            <a:r>
              <a:rPr lang="en-US" sz="3200" b="1" i="1" dirty="0">
                <a:solidFill>
                  <a:schemeClr val="tx2"/>
                </a:solidFill>
              </a:rPr>
              <a:t>ωd</a:t>
            </a:r>
            <a:pPr indent="0" marL="0">
              <a:buNone/>
            </a:pPr>
            <a:r>
              <a:rPr lang="en-US" sz="3200" b="1" dirty="0">
                <a:solidFill>
                  <a:schemeClr val="tx2"/>
                </a:solidFill>
              </a:rPr>
              <a:t>/2)</a:t>
            </a:r>
            <a:endParaRPr lang="en-US" sz="3200" dirty="0"/>
          </a:p>
        </p:txBody>
      </p:sp>
      <p:sp>
        <p:nvSpPr>
          <p:cNvPr id="50" name="Formula gloss"/>
          <p:cNvSpPr txBox="1"/>
          <p:nvPr/>
        </p:nvSpPr>
        <p:spPr>
          <a:xfrm>
            <a:off x="548640" y="4572000"/>
            <a:ext cx="11094415" cy="457200"/>
          </a:xfrm>
          <a:prstGeom prst="rect">
            <a:avLst/>
          </a:prstGeom>
          <a:noFill/>
          <a:ln/>
        </p:spPr>
        <p:txBody>
          <a:bodyPr wrap="square" lIns="0" tIns="0" rIns="0" bIns="0" rtlCol="0" anchor="ctr"/>
          <a:lstStyle/>
          <a:p>
            <a:pPr indent="0" marL="0">
              <a:buNone/>
            </a:pPr>
            <a:r>
              <a:rPr lang="en-US" sz="2400" dirty="0">
                <a:solidFill>
                  <a:schemeClr val="tx1"/>
                </a:solidFill>
              </a:rPr>
              <a:t>Late by 60 ms at 1.8 steps/s → </a:t>
            </a:r>
            <a:pPr indent="0" marL="0">
              <a:buNone/>
            </a:pPr>
            <a:r>
              <a:rPr lang="en-US" sz="2400" b="1" dirty="0">
                <a:solidFill>
                  <a:schemeClr val="accent3"/>
                </a:solidFill>
              </a:rPr>
              <a:t>two-thirds</a:t>
            </a:r>
            <a:pPr indent="0" marL="0">
              <a:buNone/>
            </a:pPr>
            <a:r>
              <a:rPr lang="en-US" sz="2400" dirty="0">
                <a:solidFill>
                  <a:schemeClr val="tx1"/>
                </a:solidFill>
              </a:rPr>
              <a:t> of the speed signal is wrong</a:t>
            </a:r>
            <a:endParaRPr lang="en-US" sz="2400" dirty="0"/>
          </a:p>
        </p:txBody>
      </p:sp>
      <p:sp>
        <p:nvSpPr>
          <p:cNvPr id="51" name="Evidence"/>
          <p:cNvSpPr txBox="1"/>
          <p:nvPr/>
        </p:nvSpPr>
        <p:spPr>
          <a:xfrm>
            <a:off x="548640" y="5257800"/>
            <a:ext cx="11094415" cy="411480"/>
          </a:xfrm>
          <a:prstGeom prst="rect">
            <a:avLst/>
          </a:prstGeom>
          <a:noFill/>
          <a:ln/>
        </p:spPr>
        <p:txBody>
          <a:bodyPr wrap="square" lIns="0" tIns="0" rIns="0" bIns="0" rtlCol="0" anchor="ctr"/>
          <a:lstStyle/>
          <a:p>
            <a:pPr indent="0" marL="0">
              <a:buNone/>
            </a:pPr>
            <a:r>
              <a:rPr lang="en-US" sz="2000" dirty="0">
                <a:solidFill>
                  <a:schemeClr val="accent4"/>
                </a:solidFill>
              </a:rPr>
              <a:t>Nothing fitted: explains the hardware better than a no-speed model, 6 of 6 wearers</a:t>
            </a:r>
            <a:endParaRPr lang="en-US" sz="20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ection tag"/>
          <p:cNvSpPr txBox="1"/>
          <p:nvPr/>
        </p:nvSpPr>
        <p:spPr>
          <a:xfrm>
            <a:off x="548640" y="402336"/>
            <a:ext cx="1199693" cy="329184"/>
          </a:xfrm>
          <a:prstGeom prst="roundRect">
            <a:avLst>
              <a:gd name="adj" fmla="val 47222"/>
            </a:avLst>
          </a:prstGeom>
          <a:solidFill>
            <a:schemeClr val="accent1"/>
          </a:solidFill>
          <a:ln/>
        </p:spPr>
        <p:txBody>
          <a:bodyPr wrap="square" lIns="0" tIns="0" rIns="0" bIns="0" rtlCol="0" anchor="ctr"/>
          <a:lstStyle/>
          <a:p>
            <a:pPr algn="ctr" indent="0" marL="0">
              <a:buNone/>
            </a:pPr>
            <a:r>
              <a:rPr lang="en-US" sz="1400" b="1" spc="200" kern="0" dirty="0">
                <a:solidFill>
                  <a:schemeClr val="bg1"/>
                </a:solidFill>
              </a:rPr>
              <a:t>IMPACT</a:t>
            </a:r>
            <a:endParaRPr lang="en-US" sz="1400" dirty="0"/>
          </a:p>
        </p:txBody>
      </p:sp>
      <p:sp>
        <p:nvSpPr>
          <p:cNvPr id="3" name="Text 1"/>
          <p:cNvSpPr/>
          <p:nvPr>
            <p:ph idx="101" type="title" hasCustomPrompt="1"/>
          </p:nvPr>
        </p:nvSpPr>
        <p:spPr>
          <a:xfrm>
            <a:off x="548640" y="868680"/>
            <a:ext cx="11094415" cy="731520"/>
          </a:xfrm>
          <a:prstGeom prst="rect">
            <a:avLst/>
          </a:prstGeom>
          <a:noFill/>
          <a:ln/>
        </p:spPr>
        <p:txBody>
          <a:bodyPr wrap="square" lIns="0" tIns="0" rIns="0" bIns="0" rtlCol="0" anchor="ctr"/>
          <a:lstStyle/>
          <a:p>
            <a:pPr algn="l" indent="0" marL="0">
              <a:buNone/>
            </a:pPr>
            <a:r>
              <a:rPr lang="en-US" sz="3200" b="1" dirty="0">
                <a:solidFill>
                  <a:schemeClr val="tx2"/>
                </a:solidFill>
                <a:latin typeface="Arial" pitchFamily="34" charset="0"/>
                <a:ea typeface="Arial" pitchFamily="34" charset="-122"/>
                <a:cs typeface="Arial" pitchFamily="34" charset="-120"/>
              </a:rPr>
              <a:t>What it achieved, and what comes next</a:t>
            </a:r>
            <a:endParaRPr lang="en-US" sz="3200" dirty="0"/>
          </a:p>
        </p:txBody>
      </p:sp>
      <p:sp>
        <p:nvSpPr>
          <p:cNvPr id="4" name="Impact card"/>
          <p:cNvSpPr/>
          <p:nvPr/>
        </p:nvSpPr>
        <p:spPr>
          <a:xfrm>
            <a:off x="548640" y="1783080"/>
            <a:ext cx="4937760" cy="4480560"/>
          </a:xfrm>
          <a:prstGeom prst="roundRect">
            <a:avLst>
              <a:gd name="adj" fmla="val 2857"/>
            </a:avLst>
          </a:prstGeom>
          <a:solidFill>
            <a:schemeClr val="tx2"/>
          </a:solidFill>
          <a:ln/>
          <a:effectLst>
            <a:outerShdw sx="100000" sy="100000" kx="0" ky="0" algn="bl" rotWithShape="0" blurRad="127000" dist="38100" dir="5400000">
              <a:srgbClr val="000000">
                <a:alpha val="18000"/>
              </a:srgbClr>
            </a:outerShdw>
          </a:effectLst>
        </p:spPr>
      </p:sp>
      <p:sp>
        <p:nvSpPr>
          <p:cNvPr id="5" name="Impact stat"/>
          <p:cNvSpPr txBox="1"/>
          <p:nvPr/>
        </p:nvSpPr>
        <p:spPr>
          <a:xfrm>
            <a:off x="914400" y="2011680"/>
            <a:ext cx="4206240" cy="1508760"/>
          </a:xfrm>
          <a:prstGeom prst="rect">
            <a:avLst/>
          </a:prstGeom>
          <a:noFill/>
          <a:ln/>
        </p:spPr>
        <p:txBody>
          <a:bodyPr wrap="square" lIns="0" tIns="0" rIns="0" bIns="0" rtlCol="0" anchor="ctr"/>
          <a:lstStyle/>
          <a:p>
            <a:pPr indent="0" marL="0">
              <a:buNone/>
            </a:pPr>
            <a:r>
              <a:rPr lang="en-US" sz="12000" b="1" dirty="0">
                <a:solidFill>
                  <a:schemeClr val="bg1"/>
                </a:solidFill>
              </a:rPr>
              <a:t>~2/3</a:t>
            </a:r>
            <a:endParaRPr lang="en-US" sz="12000" dirty="0"/>
          </a:p>
        </p:txBody>
      </p:sp>
      <p:sp>
        <p:nvSpPr>
          <p:cNvPr id="6" name="Impact label"/>
          <p:cNvSpPr txBox="1"/>
          <p:nvPr/>
        </p:nvSpPr>
        <p:spPr>
          <a:xfrm>
            <a:off x="914400" y="3611880"/>
            <a:ext cx="4206240" cy="868680"/>
          </a:xfrm>
          <a:prstGeom prst="rect">
            <a:avLst/>
          </a:prstGeom>
          <a:noFill/>
          <a:ln/>
        </p:spPr>
        <p:txBody>
          <a:bodyPr wrap="square" lIns="0" tIns="0" rIns="0" bIns="0" rtlCol="0" anchor="t"/>
          <a:lstStyle/>
          <a:p>
            <a:pPr indent="0" marL="0">
              <a:buNone/>
            </a:pPr>
            <a:r>
              <a:rPr lang="en-US" sz="2400" dirty="0">
                <a:solidFill>
                  <a:schemeClr val="bg1"/>
                </a:solidFill>
              </a:rPr>
              <a:t>walking motion removed</a:t>
            </a:r>
            <a:endParaRPr lang="en-US" sz="2400" dirty="0"/>
          </a:p>
          <a:p>
            <a:pPr indent="0" marL="0">
              <a:buNone/>
            </a:pPr>
            <a:r>
              <a:rPr lang="en-US" sz="2400" dirty="0">
                <a:solidFill>
                  <a:schemeClr val="bg1"/>
                </a:solidFill>
              </a:rPr>
              <a:t>on hardware</a:t>
            </a:r>
            <a:endParaRPr lang="en-US" sz="2400" dirty="0"/>
          </a:p>
        </p:txBody>
      </p:sp>
      <p:sp>
        <p:nvSpPr>
          <p:cNvPr id="7" name="Found-limit panel"/>
          <p:cNvSpPr/>
          <p:nvPr/>
        </p:nvSpPr>
        <p:spPr>
          <a:xfrm>
            <a:off x="777240" y="5029200"/>
            <a:ext cx="4480560" cy="960120"/>
          </a:xfrm>
          <a:prstGeom prst="roundRect">
            <a:avLst>
              <a:gd name="adj" fmla="val 9524"/>
            </a:avLst>
          </a:prstGeom>
          <a:solidFill>
            <a:schemeClr val="accent1"/>
          </a:solidFill>
          <a:ln/>
        </p:spPr>
      </p:sp>
      <p:sp>
        <p:nvSpPr>
          <p:cNvPr id="8" name="Found the limit"/>
          <p:cNvSpPr txBox="1"/>
          <p:nvPr/>
        </p:nvSpPr>
        <p:spPr>
          <a:xfrm>
            <a:off x="1005840" y="5029200"/>
            <a:ext cx="4023360" cy="960120"/>
          </a:xfrm>
          <a:prstGeom prst="rect">
            <a:avLst/>
          </a:prstGeom>
          <a:noFill/>
          <a:ln/>
        </p:spPr>
        <p:txBody>
          <a:bodyPr wrap="square" lIns="0" tIns="0" rIns="0" bIns="0" rtlCol="0" anchor="ctr"/>
          <a:lstStyle/>
          <a:p>
            <a:pPr indent="0" marL="0">
              <a:buNone/>
            </a:pPr>
            <a:r>
              <a:rPr lang="en-US" sz="2200" b="1" dirty="0">
                <a:solidFill>
                  <a:schemeClr val="bg1"/>
                </a:solidFill>
              </a:rPr>
              <a:t>Found the limit: </a:t>
            </a:r>
            <a:pPr indent="0" marL="0">
              <a:buNone/>
            </a:pPr>
            <a:r>
              <a:rPr lang="en-US" sz="2200" dirty="0">
                <a:solidFill>
                  <a:schemeClr val="bg1"/>
                </a:solidFill>
              </a:rPr>
              <a:t>a 61–71 ms delay</a:t>
            </a:r>
            <a:endParaRPr lang="en-US" sz="2200" dirty="0"/>
          </a:p>
        </p:txBody>
      </p:sp>
      <p:sp>
        <p:nvSpPr>
          <p:cNvPr id="9" name="Next heading"/>
          <p:cNvSpPr txBox="1"/>
          <p:nvPr/>
        </p:nvSpPr>
        <p:spPr>
          <a:xfrm>
            <a:off x="6035040" y="1874520"/>
            <a:ext cx="5608015" cy="502920"/>
          </a:xfrm>
          <a:prstGeom prst="rect">
            <a:avLst/>
          </a:prstGeom>
          <a:noFill/>
          <a:ln/>
        </p:spPr>
        <p:txBody>
          <a:bodyPr wrap="square" lIns="0" tIns="0" rIns="0" bIns="0" rtlCol="0" anchor="t"/>
          <a:lstStyle/>
          <a:p>
            <a:pPr indent="0" marL="0">
              <a:buNone/>
            </a:pPr>
            <a:r>
              <a:rPr lang="en-US" sz="2800" b="1" dirty="0">
                <a:solidFill>
                  <a:schemeClr val="tx2"/>
                </a:solidFill>
              </a:rPr>
              <a:t>Next</a:t>
            </a:r>
            <a:endParaRPr lang="en-US" sz="2800" dirty="0"/>
          </a:p>
        </p:txBody>
      </p:sp>
      <p:sp>
        <p:nvSpPr>
          <p:cNvPr id="10" name="Next 1"/>
          <p:cNvSpPr txBox="1"/>
          <p:nvPr/>
        </p:nvSpPr>
        <p:spPr>
          <a:xfrm>
            <a:off x="6035040" y="2606040"/>
            <a:ext cx="502920" cy="502920"/>
          </a:xfrm>
          <a:prstGeom prst="roundRect">
            <a:avLst>
              <a:gd name="adj" fmla="val 49091"/>
            </a:avLst>
          </a:prstGeom>
          <a:solidFill>
            <a:schemeClr val="accent3"/>
          </a:solidFill>
          <a:ln/>
        </p:spPr>
        <p:txBody>
          <a:bodyPr wrap="square" lIns="508" tIns="508" rIns="508" bIns="508" rtlCol="0" anchor="ctr"/>
          <a:lstStyle/>
          <a:p>
            <a:pPr algn="ctr" indent="0" marL="0">
              <a:buNone/>
            </a:pPr>
            <a:r>
              <a:rPr lang="en-US" sz="2200" b="1" dirty="0">
                <a:solidFill>
                  <a:schemeClr val="bg1"/>
                </a:solidFill>
              </a:rPr>
              <a:t>1</a:t>
            </a:r>
            <a:endParaRPr lang="en-US" sz="2200" dirty="0"/>
          </a:p>
        </p:txBody>
      </p:sp>
      <p:sp>
        <p:nvSpPr>
          <p:cNvPr id="11" name="Next step 1"/>
          <p:cNvSpPr txBox="1"/>
          <p:nvPr/>
        </p:nvSpPr>
        <p:spPr>
          <a:xfrm>
            <a:off x="6766560" y="2560320"/>
            <a:ext cx="4876495" cy="594360"/>
          </a:xfrm>
          <a:prstGeom prst="rect">
            <a:avLst/>
          </a:prstGeom>
          <a:noFill/>
          <a:ln/>
        </p:spPr>
        <p:txBody>
          <a:bodyPr wrap="square" lIns="0" tIns="0" rIns="0" bIns="0" rtlCol="0" anchor="ctr"/>
          <a:lstStyle/>
          <a:p>
            <a:pPr indent="0" marL="0">
              <a:buNone/>
            </a:pPr>
            <a:r>
              <a:rPr lang="en-US" sz="2400" dirty="0">
                <a:solidFill>
                  <a:schemeClr val="tx1"/>
                </a:solidFill>
              </a:rPr>
              <a:t>Faster speed estimate</a:t>
            </a:r>
            <a:endParaRPr lang="en-US" sz="2400" dirty="0"/>
          </a:p>
        </p:txBody>
      </p:sp>
      <p:sp>
        <p:nvSpPr>
          <p:cNvPr id="12" name="Next 2"/>
          <p:cNvSpPr txBox="1"/>
          <p:nvPr/>
        </p:nvSpPr>
        <p:spPr>
          <a:xfrm>
            <a:off x="6035040" y="3611880"/>
            <a:ext cx="502920" cy="502920"/>
          </a:xfrm>
          <a:prstGeom prst="roundRect">
            <a:avLst>
              <a:gd name="adj" fmla="val 49091"/>
            </a:avLst>
          </a:prstGeom>
          <a:solidFill>
            <a:schemeClr val="accent2"/>
          </a:solidFill>
          <a:ln/>
        </p:spPr>
        <p:txBody>
          <a:bodyPr wrap="square" lIns="508" tIns="508" rIns="508" bIns="508" rtlCol="0" anchor="ctr"/>
          <a:lstStyle/>
          <a:p>
            <a:pPr algn="ctr" indent="0" marL="0">
              <a:buNone/>
            </a:pPr>
            <a:r>
              <a:rPr lang="en-US" sz="2200" b="1" dirty="0">
                <a:solidFill>
                  <a:schemeClr val="bg1"/>
                </a:solidFill>
              </a:rPr>
              <a:t>2</a:t>
            </a:r>
            <a:endParaRPr lang="en-US" sz="2200" dirty="0"/>
          </a:p>
        </p:txBody>
      </p:sp>
      <p:sp>
        <p:nvSpPr>
          <p:cNvPr id="13" name="Next step 2"/>
          <p:cNvSpPr txBox="1"/>
          <p:nvPr/>
        </p:nvSpPr>
        <p:spPr>
          <a:xfrm>
            <a:off x="6766560" y="3566160"/>
            <a:ext cx="4876495" cy="777240"/>
          </a:xfrm>
          <a:prstGeom prst="rect">
            <a:avLst/>
          </a:prstGeom>
          <a:noFill/>
          <a:ln/>
        </p:spPr>
        <p:txBody>
          <a:bodyPr wrap="square" lIns="0" tIns="0" rIns="0" bIns="0" rtlCol="0" anchor="ctr"/>
          <a:lstStyle/>
          <a:p>
            <a:pPr indent="0" marL="0">
              <a:buNone/>
            </a:pPr>
            <a:r>
              <a:rPr lang="en-US" sz="2400" dirty="0">
                <a:solidFill>
                  <a:schemeClr val="tx1"/>
                </a:solidFill>
              </a:rPr>
              <a:t>Then feedforward</a:t>
            </a:r>
            <a:endParaRPr lang="en-US" sz="2400" dirty="0"/>
          </a:p>
          <a:p>
            <a:pPr indent="0" marL="0">
              <a:buNone/>
            </a:pPr>
            <a:r>
              <a:rPr lang="en-US" sz="2000" dirty="0">
                <a:solidFill>
                  <a:schemeClr val="accent4"/>
                </a:solidFill>
              </a:rPr>
              <a:t>(sim: 6.7 → 2.6 mm)</a:t>
            </a:r>
            <a:endParaRPr lang="en-US" sz="2400" dirty="0"/>
          </a:p>
        </p:txBody>
      </p:sp>
      <p:sp>
        <p:nvSpPr>
          <p:cNvPr id="14" name="Lesson card"/>
          <p:cNvSpPr/>
          <p:nvPr/>
        </p:nvSpPr>
        <p:spPr>
          <a:xfrm>
            <a:off x="6035040" y="5029200"/>
            <a:ext cx="5608015" cy="1234440"/>
          </a:xfrm>
          <a:prstGeom prst="roundRect">
            <a:avLst>
              <a:gd name="adj" fmla="val 10370"/>
            </a:avLst>
          </a:prstGeom>
          <a:solidFill>
            <a:schemeClr val="bg2"/>
          </a:solidFill>
          <a:ln/>
        </p:spPr>
      </p:sp>
      <p:sp>
        <p:nvSpPr>
          <p:cNvPr id="15" name="Lesson"/>
          <p:cNvSpPr txBox="1"/>
          <p:nvPr/>
        </p:nvSpPr>
        <p:spPr>
          <a:xfrm>
            <a:off x="6355080" y="5029200"/>
            <a:ext cx="4967935" cy="1234440"/>
          </a:xfrm>
          <a:prstGeom prst="rect">
            <a:avLst/>
          </a:prstGeom>
          <a:noFill/>
          <a:ln/>
        </p:spPr>
        <p:txBody>
          <a:bodyPr wrap="square" lIns="0" tIns="0" rIns="0" bIns="0" rtlCol="0" anchor="ctr"/>
          <a:lstStyle/>
          <a:p>
            <a:pPr indent="0" marL="0">
              <a:buNone/>
            </a:pPr>
            <a:r>
              <a:rPr lang="en-US" sz="2600" b="1" dirty="0">
                <a:solidFill>
                  <a:schemeClr val="tx2"/>
                </a:solidFill>
              </a:rPr>
              <a:t>Lesson: </a:t>
            </a:r>
            <a:pPr indent="0" marL="0">
              <a:buNone/>
            </a:pPr>
            <a:r>
              <a:rPr lang="en-US" sz="2600" dirty="0">
                <a:solidFill>
                  <a:schemeClr val="tx1"/>
                </a:solidFill>
              </a:rPr>
              <a:t>measure delays before tuning</a:t>
            </a:r>
            <a:endParaRPr lang="en-US" sz="2600" dirty="0"/>
          </a:p>
        </p:txBody>
      </p:sp>
      <p:sp>
        <p:nvSpPr>
          <p:cNvPr id="25" name="Slide Number Placeholder 0"/>
          <p:cNvSpPr>
            <a:spLocks noGrp="1"/>
          </p:cNvSpPr>
          <p:nvPr>
            <p:ph type="sldNum" sz="quarter" idx="4294967295"/>
          </p:nvPr>
        </p:nvSpPr>
        <p:spPr>
          <a:xfrm>
            <a:off x="11094415" y="6327648"/>
            <a:ext cx="548640" cy="274320"/>
          </a:xfrm>
          <a:prstGeom prst="rect">
            <a:avLst/>
          </a:prstGeom>
          <a:extLst>
            <a:ext uri="{C572A759-6A51-4108-AA02-DFA0A04FC94B}">
              <ma14:wrappingTextBoxFlag xmlns:ma14="http://schemas.microsoft.com/office/mac/drawingml/2011/main" val="0"/>
            </a:ext>
          </a:extLst>
        </p:spPr>
        <p:txBody>
          <a:bodyPr/>
          <a:lstStyle>
            <a:lvl1pPr>
              <a:defRPr sz="1400">
                <a:solidFill>
                  <a:srgbClr val="5B6770"/>
                </a:solidFill>
                <a:latin typeface="Arial"/>
                <a:ea typeface="Arial"/>
                <a:cs typeface="Aria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868680"/>
            <a:ext cx="11094415" cy="914400"/>
          </a:xfrm>
          <a:prstGeom prst="rect">
            <a:avLst/>
          </a:prstGeom>
          <a:noFill/>
          <a:ln/>
        </p:spPr>
        <p:txBody>
          <a:bodyPr wrap="square" lIns="0" tIns="0" rIns="0" bIns="0" rtlCol="0" anchor="ctr"/>
          <a:lstStyle/>
          <a:p>
            <a:pPr algn="ctr" indent="0" marL="0">
              <a:buNone/>
            </a:pPr>
            <a:r>
              <a:rPr lang="en-US" sz="4400" b="1" dirty="0">
                <a:solidFill>
                  <a:schemeClr val="bg1"/>
                </a:solidFill>
                <a:latin typeface="Arial" pitchFamily="34" charset="0"/>
                <a:ea typeface="Arial" pitchFamily="34" charset="-122"/>
                <a:cs typeface="Arial" pitchFamily="34" charset="-120"/>
              </a:rPr>
              <a:t>Thank you. Questions?</a:t>
            </a:r>
            <a:endParaRPr lang="en-US" sz="4400" dirty="0"/>
          </a:p>
        </p:txBody>
      </p:sp>
      <p:sp>
        <p:nvSpPr>
          <p:cNvPr id="3" name="QR card 1"/>
          <p:cNvSpPr/>
          <p:nvPr/>
        </p:nvSpPr>
        <p:spPr>
          <a:xfrm>
            <a:off x="2209648" y="2148840"/>
            <a:ext cx="2286000" cy="2286000"/>
          </a:xfrm>
          <a:prstGeom prst="roundRect">
            <a:avLst>
              <a:gd name="adj" fmla="val 5600"/>
            </a:avLst>
          </a:prstGeom>
          <a:solidFill>
            <a:schemeClr val="bg1"/>
          </a:solidFill>
          <a:ln/>
        </p:spPr>
      </p:sp>
      <p:pic>
        <p:nvPicPr>
          <p:cNvPr id="4" name="QR github.com/fechachris4/msc_project" descr="QR code for https://github.com/fechachris4/msc_project">
            <a:hlinkClick r:id="rId2" tooltip="github.com/fechachris4/msc_project"/>
          </p:cNvPr>
          <p:cNvPicPr>
            <a:picLocks noChangeAspect="1"/>
          </p:cNvPicPr>
          <p:nvPr/>
        </p:nvPicPr>
        <p:blipFill>
          <a:blip r:embed="rId1"/>
          <a:stretch>
            <a:fillRect/>
          </a:stretch>
        </p:blipFill>
        <p:spPr>
          <a:xfrm>
            <a:off x="2319376" y="2258568"/>
            <a:ext cx="2066544" cy="2066544"/>
          </a:xfrm>
          <a:prstGeom prst="rect">
            <a:avLst/>
          </a:prstGeom>
        </p:spPr>
      </p:pic>
      <p:sp>
        <p:nvSpPr>
          <p:cNvPr id="5" name="Text 2"/>
          <p:cNvSpPr txBox="1"/>
          <p:nvPr/>
        </p:nvSpPr>
        <p:spPr>
          <a:xfrm>
            <a:off x="9752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Results, simulation, figures</a:t>
            </a:r>
            <a:endParaRPr lang="en-US" sz="2000" dirty="0"/>
          </a:p>
        </p:txBody>
      </p:sp>
      <p:sp>
        <p:nvSpPr>
          <p:cNvPr id="6" name="Text 3"/>
          <p:cNvSpPr txBox="1"/>
          <p:nvPr/>
        </p:nvSpPr>
        <p:spPr>
          <a:xfrm>
            <a:off x="9752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5"/>
                </a:solidFill>
                <a:hlinkClick r:id="rId3" invalidUrl="" action="" tgtFrame="" tooltip="Results, simulation, figures" history="1" highlightClick="0" endSnd="0">
                  <a:extLst>
                    <a:ext uri="{A12FA001-AC4F-418D-AE19-62706E023703}">
                      <ahyp:hlinkClr xmlns:ahyp="http://schemas.microsoft.com/office/drawing/2018/hyperlinkcolor" val="tx"/>
                    </a:ext>
                  </a:extLst>
                </a:hlinkClick>
              </a:rPr>
              <a:t>github.com/fechachris4/msc_project</a:t>
            </a:r>
            <a:endParaRPr lang="en-US" sz="1800" dirty="0"/>
          </a:p>
        </p:txBody>
      </p:sp>
      <p:sp>
        <p:nvSpPr>
          <p:cNvPr id="7" name="QR card 2"/>
          <p:cNvSpPr/>
          <p:nvPr/>
        </p:nvSpPr>
        <p:spPr>
          <a:xfrm>
            <a:off x="7696048" y="2148840"/>
            <a:ext cx="2286000" cy="2286000"/>
          </a:xfrm>
          <a:prstGeom prst="roundRect">
            <a:avLst>
              <a:gd name="adj" fmla="val 5600"/>
            </a:avLst>
          </a:prstGeom>
          <a:solidFill>
            <a:schemeClr val="bg1"/>
          </a:solidFill>
          <a:ln/>
        </p:spPr>
      </p:sp>
      <p:pic>
        <p:nvPicPr>
          <p:cNvPr id="8" name="QR github.com/fechachris4/HumanSL_MAIN" descr="QR code for https://github.com/fechachris4/HumanSL_MAIN">
            <a:hlinkClick r:id="rId5" tooltip="github.com/fechachris4/HumanSL_MAIN"/>
          </p:cNvPr>
          <p:cNvPicPr>
            <a:picLocks noChangeAspect="1"/>
          </p:cNvPicPr>
          <p:nvPr/>
        </p:nvPicPr>
        <p:blipFill>
          <a:blip r:embed="rId4"/>
          <a:stretch>
            <a:fillRect/>
          </a:stretch>
        </p:blipFill>
        <p:spPr>
          <a:xfrm>
            <a:off x="7805776" y="2258568"/>
            <a:ext cx="2066544" cy="2066544"/>
          </a:xfrm>
          <a:prstGeom prst="rect">
            <a:avLst/>
          </a:prstGeom>
        </p:spPr>
      </p:pic>
      <p:sp>
        <p:nvSpPr>
          <p:cNvPr id="9" name="Text 5"/>
          <p:cNvSpPr txBox="1"/>
          <p:nvPr/>
        </p:nvSpPr>
        <p:spPr>
          <a:xfrm>
            <a:off x="6461608" y="4572000"/>
            <a:ext cx="4754880" cy="384048"/>
          </a:xfrm>
          <a:prstGeom prst="rect">
            <a:avLst/>
          </a:prstGeom>
          <a:noFill/>
          <a:ln/>
        </p:spPr>
        <p:txBody>
          <a:bodyPr wrap="square" lIns="0" tIns="0" rIns="0" bIns="0" rtlCol="0" anchor="t"/>
          <a:lstStyle/>
          <a:p>
            <a:pPr algn="ctr" indent="0" marL="0">
              <a:buNone/>
            </a:pPr>
            <a:r>
              <a:rPr lang="en-US" sz="2000" b="1" dirty="0">
                <a:solidFill>
                  <a:schemeClr val="bg1"/>
                </a:solidFill>
              </a:rPr>
              <a:t>C++ real-time controller</a:t>
            </a:r>
            <a:endParaRPr lang="en-US" sz="2000" dirty="0"/>
          </a:p>
        </p:txBody>
      </p:sp>
      <p:sp>
        <p:nvSpPr>
          <p:cNvPr id="10" name="Text 6"/>
          <p:cNvSpPr txBox="1"/>
          <p:nvPr/>
        </p:nvSpPr>
        <p:spPr>
          <a:xfrm>
            <a:off x="6461608" y="4983480"/>
            <a:ext cx="4754880" cy="347472"/>
          </a:xfrm>
          <a:prstGeom prst="rect">
            <a:avLst/>
          </a:prstGeom>
          <a:noFill/>
          <a:ln/>
        </p:spPr>
        <p:txBody>
          <a:bodyPr wrap="square" lIns="0" tIns="0" rIns="0" bIns="0" rtlCol="0" anchor="t"/>
          <a:lstStyle/>
          <a:p>
            <a:pPr algn="ctr" indent="0" marL="0">
              <a:buNone/>
            </a:pPr>
            <a:r>
              <a:rPr lang="en-US" sz="1800" u="sng" dirty="0">
                <a:solidFill>
                  <a:schemeClr val="accent5"/>
                </a:solidFill>
                <a:hlinkClick r:id="rId6" invalidUrl="" action="" tgtFrame="" tooltip="C++ real-time controller" history="1" highlightClick="0" endSnd="0">
                  <a:extLst>
                    <a:ext uri="{A12FA001-AC4F-418D-AE19-62706E023703}">
                      <ahyp:hlinkClr xmlns:ahyp="http://schemas.microsoft.com/office/drawing/2018/hyperlinkcolor" val="tx"/>
                    </a:ext>
                  </a:extLst>
                </a:hlinkClick>
              </a:rPr>
              <a:t>github.com/fechachris4/HumanSL_MAIN</a:t>
            </a:r>
            <a:endParaRPr lang="en-US" sz="1800" dirty="0"/>
          </a:p>
        </p:txBody>
      </p:sp>
      <p:sp>
        <p:nvSpPr>
          <p:cNvPr id="11" name="Email"/>
          <p:cNvSpPr txBox="1"/>
          <p:nvPr/>
        </p:nvSpPr>
        <p:spPr>
          <a:xfrm>
            <a:off x="548640" y="5669280"/>
            <a:ext cx="11094415" cy="411480"/>
          </a:xfrm>
          <a:prstGeom prst="rect">
            <a:avLst/>
          </a:prstGeom>
          <a:noFill/>
          <a:ln/>
        </p:spPr>
        <p:txBody>
          <a:bodyPr wrap="square" lIns="0" tIns="0" rIns="0" bIns="0" rtlCol="0" anchor="t"/>
          <a:lstStyle/>
          <a:p>
            <a:pPr algn="ctr" indent="0" marL="0">
              <a:buNone/>
            </a:pPr>
            <a:r>
              <a:rPr lang="en-US" sz="2200" b="1" u="sng" dirty="0">
                <a:solidFill>
                  <a:schemeClr val="bg1"/>
                </a:solidFill>
                <a:hlinkClick r:id="rId7" invalidUrl="" action="" tgtFrame="" tooltip="" history="1" highlightClick="0" endSnd="0">
                  <a:extLst>
                    <a:ext uri="{A12FA001-AC4F-418D-AE19-62706E023703}">
                      <ahyp:hlinkClr xmlns:ahyp="http://schemas.microsoft.com/office/drawing/2018/hyperlinkcolor" val="tx"/>
                    </a:ext>
                  </a:extLst>
                </a:hlinkClick>
              </a:rPr>
              <a:t>fecha412@gmail.com</a:t>
            </a:r>
            <a:endParaRPr lang="en-US" sz="2200" dirty="0"/>
          </a:p>
        </p:txBody>
      </p:sp>
    </p:spTree>
  </p:cSld>
  <p:clrMapOvr>
    <a:masterClrMapping/>
  </p:clrMapOvr>
</p:sld>
</file>

<file path=ppt/theme/theme1.xml><?xml version="1.0" encoding="utf-8"?>
<a:theme xmlns:a="http://schemas.openxmlformats.org/drawingml/2006/main" name="Imperial Lookalike">
  <a:themeElements>
    <a:clrScheme name="Imperial Lookalike">
      <a:dk1>
        <a:srgbClr val="1B2633"/>
      </a:dk1>
      <a:lt1>
        <a:srgbClr val="FFFFFF"/>
      </a:lt1>
      <a:dk2>
        <a:srgbClr val="002147"/>
      </a:dk2>
      <a:lt2>
        <a:srgbClr val="EBEEEE"/>
      </a:lt2>
      <a:accent1>
        <a:srgbClr val="003E74"/>
      </a:accent1>
      <a:accent2>
        <a:srgbClr val="0091D4"/>
      </a:accent2>
      <a:accent3>
        <a:srgbClr val="D24000"/>
      </a:accent3>
      <a:accent4>
        <a:srgbClr val="5B6770"/>
      </a:accent4>
      <a:accent5>
        <a:srgbClr val="DCEEF8"/>
      </a:accent5>
      <a:accent6>
        <a:srgbClr val="9AA3A8"/>
      </a:accent6>
      <a:hlink>
        <a:srgbClr val="0091D4"/>
      </a:hlink>
      <a:folHlink>
        <a:srgbClr val="003E74"/>
      </a:folHlink>
    </a:clrScheme>
    <a:fontScheme name="Imperial Lookalik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Imperial College London</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World-Stable Supernumerary Effectors for Human Augmentation Under Locomotion-Scale Base Motion</dc:title>
  <dc:subject>MSc project talk</dc:subject>
  <dc:creator>Christian Akabueze</dc:creator>
  <cp:lastModifiedBy>Christian Akabueze</cp:lastModifiedBy>
  <cp:revision>1</cp:revision>
  <dcterms:created xsi:type="dcterms:W3CDTF">2026-10-12T08:48:39Z</dcterms:created>
  <dcterms:modified xsi:type="dcterms:W3CDTF">2026-10-12T08:48:39Z</dcterms:modified>
</cp:coreProperties>
</file>