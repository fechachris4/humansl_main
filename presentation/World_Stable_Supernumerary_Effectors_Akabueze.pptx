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7a0a32-d27b-d54f-a91d-bf2ea4f9e933}">
          <p14:sldIdLst>
            <p14:sldId id="256"/>
          </p14:sldIdLst>
        </p14:section>
        <p14:section name="Problem" id="{1fd2aeba-485d-3ace-a9f4-083e1eccb98d}">
          <p14:sldIdLst>
            <p14:sldId id="257"/>
            <p14:sldId id="258"/>
          </p14:sldIdLst>
        </p14:section>
        <p14:section name="Approach &amp; solution" id="{35a53203-c409-43d4-05fd-7636312c0940}">
          <p14:sldIdLst>
            <p14:sldId id="259"/>
            <p14:sldId id="260"/>
            <p14:sldId id="261"/>
          </p14:sldIdLst>
        </p14:section>
        <p14:section name="Trade-offs &amp; challenges" id="{6a918c88-3043-ac47-1707-c25fcb3f6bbb}">
          <p14:sldIdLst>
            <p14:sldId id="262"/>
            <p14:sldId id="263"/>
            <p14:sldId id="264"/>
          </p14:sldIdLst>
        </p14:section>
        <p14:section name="Impact" id="{eb747e33-33d4-d1e9-43cc-7a8cf6950b2d}">
          <p14:sldIdLst>
            <p14:sldId id="265"/>
          </p14:sldIdLst>
        </p14:section>
        <p14:section name="Close" id="{f2463c17-8474-0223-68ce-ee488393d17c}">
          <p14:sldIdLst>
            <p14:sldId id="266"/>
          </p14:sldIdLst>
        </p14:section>
        <p14:section name="Backup" id="{f18071bc-349b-b456-53af-05d3cbebf30f}">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1" i="0" u="none" strike="noStrike">
                <a:solidFill>
                  <a:srgbClr val="5B6770"/>
                </a:solidFill>
                <a:latin typeface="+mn-lt"/>
              </a:defRPr>
            </a:pPr>
            <a:r>
              <a:rPr sz="1600" b="1" i="0" u="none" strike="noStrike">
                <a:solidFill>
                  <a:srgbClr val="5B6770"/>
                </a:solidFill>
                <a:latin typeface="+mn-lt"/>
              </a:rPr>
              <a:t>Motion removed, by walking speed</a:t>
            </a:r>
          </a:p>
        </c:rich>
      </c:tx>
      <c:layout/>
      <c:overlay val="0"/>
    </c:title>
    <c:autoTitleDeleted val="0"/>
    <c:plotArea>
      <c:layout/>
      <c:barChart>
        <c:barDir val="col"/>
        <c:grouping val="clustered"/>
        <c:varyColors val="0"/>
        <c:ser>
          <c:idx val="0"/>
          <c:order val="0"/>
          <c:tx>
            <c:strRef>
              <c:f>Sheet1!$B$1</c:f>
              <c:strCache>
                <c:ptCount val="1"/>
                <c:pt idx="0">
                  <c:v>Motion removed</c:v>
                </c:pt>
              </c:strCache>
            </c:strRef>
          </c:tx>
          <c:spPr>
            <a:solidFill>
              <a:srgbClr val="0091D4"/>
            </a:solidFill>
            <a:effectLst/>
          </c:spPr>
          <c:invertIfNegative val="0"/>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cat>
            <c:multiLvlStrRef>
              <c:f>Sheet1!$A$2:$A$4</c:f>
              <c:multiLvlStrCache>
                <c:ptCount val="3"/>
                <c:lvl>
                  <c:pt idx="0">
                    <c:v>0.5 m/s</c:v>
                  </c:pt>
                  <c:pt idx="1">
                    <c:v>1.0 m/s</c:v>
                  </c:pt>
                  <c:pt idx="2">
                    <c:v>1.5 m/s</c:v>
                  </c:pt>
                </c:lvl>
              </c:multiLvlStrCache>
            </c:multiLvlStrRef>
          </c:cat>
          <c:val>
            <c:numRef>
              <c:f>Sheet1!$B$2:$B$4</c:f>
              <c:numCache>
                <c:formatCode>General</c:formatCode>
                <c:ptCount val="3"/>
                <c:pt idx="0">
                  <c:v>71</c:v>
                </c:pt>
                <c:pt idx="1">
                  <c:v>63</c:v>
                </c:pt>
                <c:pt idx="2">
                  <c:v>56</c:v>
                </c:pt>
              </c:numCache>
            </c:numRef>
          </c:val>
        </c:ser>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8"/>
            </a:solidFill>
            <a:prstDash val="solid"/>
            <a:round/>
          </a:ln>
        </c:spPr>
        <c:txPr>
          <a:bodyPr/>
          <a:lstStyle/>
          <a:p>
            <a:pPr>
              <a:defRPr sz="1800" b="0" i="0" u="none" strike="noStrike">
                <a:solidFill>
                  <a:srgbClr val="1B26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0:40] Imagine wearing two extra robot arms on your back and asking them to hold something still while you walk. Every step moves them six to seven centimetres. That was my MSc project at Imperial, in the MUVE Lab. I'm Christian Akabueze. Here the wearer twists about sixty degrees; the elbows swing, the hands stay close to where they were. To be clear up front: the simulation, the controller, the trial analysis and the diagnosis are mine; the hardware trials ran a controller on the lab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1:15] The two arms are Kinova Gen3 robots, seven joints each, mounted on a backpack, which I'll call the mount. Vicon tracks the backpack. A robot arm you wear is an extra pair of hands, until you take a step: anything it holds moves with you. With the arms locked, the hands would move 63 to 68 millimetres RMS, at every walking speed we tried. Steps come at about 1.8 per second: fast, repeating motion, not slow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 1:35] The goal: hold each hand fixed in the room, not on the body. In simulation, with the controller on: four backpack positions in one cycle, motion enlarged three times. Panel e averages the whole cycle. The backpack and upper arms blur; the hands stay sharp.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2:50] The approach is a chain of coordinate frames. Vicon measures the backpack's pose in the room. The arm base sits at a fixed, known offset on the backpack. The joint angles, through forward kinematics, place the hand relative to the base. Compose the three and I know where the hand is in the room, and how each joint moves it: the Jacobian. The part in brackets is a PD controller, proportional plus derivative, on the error in the room frame: how far the hand is from its spot, and how fast it is drifting. A damped pseudo-inverse of the Jacobian turns that into joint speeds, and the damping keeps it calm near awkward poses. A safety filter can also override a command that would bring the arm too close to the wearer. It was switched off in the simulation runs I'll show. This is the law in my own controllers, in simulation and in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3:30] Before hardware, I tested my Python controller in MuJoCo, a physics engine. The backpack follows a walking-like motion at 1.8 hertz. It's a controlled stand-in for walking, smaller than the real thing. Same motion three times: arms locked, my controller, and the controller plus feedforward. Over eight seconds, locked arms leave 31 millimetres of error. The controller brings it to 6.7. Feedforward, which tells the controller how the backpack is moving, gets it to 2.6. The simulation's gains are stiffer than on hardware, so compare trends, not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4:40] Seven participants wore the arms on an instrumented treadmill at 0.5, 1 and 1.5 metres per second. These trials ran a 400 hertz controller on the lab machine. It estimates the backpack's pose and velocity from Vicon with a Kalman filter. It has no feedforward. My own C++ controller wasn't used in these trials. The analysis is mine. On the left, one trial replayed: grey, arm locked; blue, the real hand. To score a trial, I compare the two. I checked the locked model on arms that weren't being controlled: it's right to within half a percent. On the right: 71 percent of the motion removed at slow walking, 63 at normal speed, 56 at fast, means over six of the seven; the first session is reported separately. That's over 128 walking trials, mostly one arm at a time. And on a platform that pitched and swayed, it removed 78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5:45] Alongside the analysis, I wrote a real-time controller in C++ for the same rig. The trade-off I designed around: planning is slow and unpredictable, but the control loop has to run every 2 milliseconds without fail. So Vicon arrives at 100 hertz on its own thread and is handed over through a wait-free slot; the loop never waits on a lock. Planning, with GPMP2, runs on a separate worker thread, and every plan passes one validator before it can run. Planning moves a hand to a new target around the wearer's body; the fast loop holds it there. The cost: a new plan arrives later, after the validator. One honest caveat: its backpack-velocity estimate is low-pass filtered with a 50 millisecond time constant, which at step frequency is itself roughly 45 milliseconds of lag, so a better estimator is the next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6:30] Back to the trials. Slow sway was mostly cancelled, 85 percent at a quarter of a hertz, but the bounce of each step was harder: only 29 percent at 2 hertz. The obvious fix: turn up the velocity gain. In a pilot with one wearer I raised it from 0.8 to 2.6. The model predicted the response near 1 hertz, about the stride rate, would fall by 38 percent. It fell by 9. And across six people, the measured amplitude matches a model with no velocity term at all. More tuning would not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 7:50] I traced the velocity signal end to end. The Kalman filter's estimate of the backpack's velocity lags the real motion by 36 to 46 milliseconds. The measurement is about 10 milliseconds old, and the joints take about 15 to respond. In total, the velocity is 61 to 71 milliseconds late. A late estimate has the right size but the wrong timing, so subtracting it does not cancel the true velocity. What's left over is two times the sine of half the phase lag, and the phase lag is omega times d. At 1.8 hertz and 60 milliseconds late, the velocity is off by two-thirds of its own size. For a feedforward term that's the whole story; inside a feedback loop it also depends on the gains, so I checked it with the full model. With the measured delay and nothing fitted, the model matches the hardware better than the no-velocity model in six of six people. It's the explanation that fits the data; confirming it directly means changing the estimator on hardware, which is the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8:50] On real arms worn by seven people, the arm removes about two-thirds of walking motion, 56 to 71 percent depending on speed. The part I'm proudest of is the diagnosis: when tuning stopped helping, I traced it in the data to a 61 to 71 millisecond delay. That sets the next step: first a faster velocity estimate, then feedforward on the real arms; in simulation, with no delay, feedforward cut the error from 6.7 to 2.6 millimetres. What transfers: frames are camera extrinsics; the 18 to 21 millimetre offset I found is an extrinsic-calibration problem; a latency budget is sensor time-sync; and I check my metric against ground truth before I trust a result. The lesson I'd carry anywhere: measure the latency budget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9:00] Thank you. The code and results are on GitHub; the links are on the slide.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per-cycle loop as implemented in simulation, 500 times a second. Dashed orange is feedforward, simulation only. The safety-filter step keeps 13 spheres per arm outside a cylinder around the wearer; it was inactive in the reported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Frequency response at 1 metre per second, median of six participants. Blue is measured. The dotted model with no velocity term sits on it; the dash-dot model with the logged gains predicts more rejection than the arm reached; green adds a late velocity signal with the delay fitted per person, 65 to 90 milliseconds; plugging in the measured 61 to 71 instead gives almost the same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Simulation, right arm at 1.8 hertz, with the backpack-velocity signal delayed on purpose. Each 10 milliseconds of delay costs the feedforward about 1 millimetre. Past about 30 milliseconds the velocity-gain term alone is worse than no velocity term; at 60 milliseconds both sit at 8.2 to 8.6 millimetres. Grey band: the 61 to 71 milliseconds measured on hardware. The simulation's gains are stiffer than the hardware's, so compare the trend, not the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Three limits from the trial data. In 12 of 128 walking trials the motion planner moved the reference more than 100 millimetres from the target, and those trials had the most hand motion, so that is a planner setting. At 1.5 metres per second a commanded joint speed was at its limit 32 percent of the time, mostly in the wrist, against about 10 percent at slower speeds. And the hand sat a constant 18 to 21 millimetres from its goal; that offset follows the disagreement between the arm's kinematic model and Vicon, so it is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Five participants also stood on the treadmill platform while it pitched and swayed. The arm removed 78 percent of the motion. Pitch steps moved the locked point 94 millimetres RMS and the hand 14; sway steps 81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rig: two Kinova Gen3 seven-joint arms on a backpack, with Vicon cameras around the instrumented treadmill.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gif"/><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1-1.png"/><Relationship Id="rId4" Type="http://schemas.openxmlformats.org/officeDocument/2006/relationships/image" Target="../media/image-11-2.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33015"/>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706167"/>
            <a:ext cx="4837176" cy="3301898"/>
          </a:xfrm>
          <a:prstGeom prst="rect">
            <a:avLst/>
          </a:prstGeom>
        </p:spPr>
      </p:pic>
      <p:sp>
        <p:nvSpPr>
          <p:cNvPr id="6" name="Caption"/>
          <p:cNvSpPr txBox="1"/>
          <p:nvPr/>
        </p:nvSpPr>
        <p:spPr>
          <a:xfrm>
            <a:off x="6659575" y="6172657"/>
            <a:ext cx="4983480" cy="320040"/>
          </a:xfrm>
          <a:prstGeom prst="rect">
            <a:avLst/>
          </a:prstGeom>
          <a:noFill/>
          <a:ln/>
        </p:spPr>
        <p:txBody>
          <a:bodyPr wrap="square" lIns="0" tIns="0" rIns="0" bIns="0" rtlCol="0" anchor="t"/>
          <a:lstStyle/>
          <a:p>
            <a:pPr indent="0" marL="0">
              <a:buNone/>
            </a:pPr>
            <a:r>
              <a:rPr lang="en-US" sz="1400" dirty="0">
                <a:solidFill>
                  <a:schemeClr val="bg2"/>
                </a:solidFill>
              </a:rPr>
              <a:t>Watch the hands, not the elbows.</a:t>
            </a:r>
            <a:endParaRPr lang="en-US" sz="1400" dirty="0"/>
          </a:p>
        </p:txBody>
      </p:sp>
      <p:sp>
        <p:nvSpPr>
          <p:cNvPr id="7" name="Presenter"/>
          <p:cNvSpPr txBox="1"/>
          <p:nvPr/>
        </p:nvSpPr>
        <p:spPr>
          <a:xfrm>
            <a:off x="548640" y="3351276"/>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
        <p:nvSpPr>
          <p:cNvPr id="8" name="GitHub link"/>
          <p:cNvSpPr txBox="1"/>
          <p:nvPr/>
        </p:nvSpPr>
        <p:spPr>
          <a:xfrm>
            <a:off x="548640" y="5042916"/>
            <a:ext cx="5745175" cy="320040"/>
          </a:xfrm>
          <a:prstGeom prst="rect">
            <a:avLst/>
          </a:prstGeom>
          <a:noFill/>
          <a:ln/>
        </p:spPr>
        <p:txBody>
          <a:bodyPr wrap="square" lIns="0" tIns="0" rIns="0" bIns="0" rtlCol="0" anchor="t"/>
          <a:lstStyle/>
          <a:p>
            <a:pPr indent="0" marL="0">
              <a:buNone/>
            </a:pPr>
            <a:r>
              <a:rPr lang="en-US" sz="1800" u="sng" dirty="0">
                <a:solidFill>
                  <a:schemeClr val="accent2"/>
                </a:solidFill>
                <a:hlinkClick r:id="rId2" invalidUrl="" action="" tgtFrame="" tooltip="Project repository"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Caption"/>
          <p:cNvSpPr txBox="1"/>
          <p:nvPr/>
        </p:nvSpPr>
        <p:spPr>
          <a:xfrm>
            <a:off x="4045347" y="6108192"/>
            <a:ext cx="7597709" cy="320040"/>
          </a:xfrm>
          <a:prstGeom prst="rect">
            <a:avLst/>
          </a:prstGeom>
          <a:noFill/>
          <a:ln/>
        </p:spPr>
        <p:txBody>
          <a:bodyPr wrap="square" lIns="0" tIns="0" rIns="0" bIns="0" rtlCol="0" anchor="t"/>
          <a:lstStyle/>
          <a:p>
            <a:pPr indent="0" marL="0">
              <a:buNone/>
            </a:pPr>
            <a:r>
              <a:rPr lang="en-US" sz="1400" dirty="0">
                <a:solidFill>
                  <a:schemeClr val="accent4"/>
                </a:solidFill>
              </a:rPr>
              <a:t>Walking on the treadmill, both arms on.</a:t>
            </a:r>
            <a:endParaRPr lang="en-US" sz="1400" dirty="0"/>
          </a:p>
        </p:txBody>
      </p:sp>
      <p:sp>
        <p:nvSpPr>
          <p:cNvPr id="7" name="Stat 1"/>
          <p:cNvSpPr txBox="1"/>
          <p:nvPr/>
        </p:nvSpPr>
        <p:spPr>
          <a:xfrm>
            <a:off x="4045347" y="24780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63–68 mm</a:t>
            </a:r>
            <a:endParaRPr lang="en-US" sz="8000" dirty="0"/>
          </a:p>
        </p:txBody>
      </p:sp>
      <p:sp>
        <p:nvSpPr>
          <p:cNvPr id="8" name="Stat 1 label"/>
          <p:cNvSpPr txBox="1"/>
          <p:nvPr/>
        </p:nvSpPr>
        <p:spPr>
          <a:xfrm>
            <a:off x="4045347" y="3593592"/>
            <a:ext cx="7597709" cy="411480"/>
          </a:xfrm>
          <a:prstGeom prst="rect">
            <a:avLst/>
          </a:prstGeom>
          <a:noFill/>
          <a:ln/>
        </p:spPr>
        <p:txBody>
          <a:bodyPr wrap="square" lIns="0" tIns="0" rIns="0" bIns="0" rtlCol="0" anchor="t"/>
          <a:lstStyle/>
          <a:p>
            <a:pPr indent="0" marL="0">
              <a:buNone/>
            </a:pPr>
            <a:r>
              <a:rPr lang="en-US" sz="2200" dirty="0">
                <a:solidFill>
                  <a:schemeClr val="tx1"/>
                </a:solidFill>
              </a:rPr>
              <a:t>hand motion if the arm were locked (RMS)</a:t>
            </a:r>
            <a:endParaRPr lang="en-US" sz="2200" dirty="0"/>
          </a:p>
        </p:txBody>
      </p:sp>
      <p:sp>
        <p:nvSpPr>
          <p:cNvPr id="9" name="Stat 2"/>
          <p:cNvSpPr txBox="1"/>
          <p:nvPr/>
        </p:nvSpPr>
        <p:spPr>
          <a:xfrm>
            <a:off x="4045347" y="40782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~1.8 Hz</a:t>
            </a:r>
            <a:endParaRPr lang="en-US" sz="8000" dirty="0"/>
          </a:p>
        </p:txBody>
      </p:sp>
      <p:sp>
        <p:nvSpPr>
          <p:cNvPr id="10" name="Stat 2 label"/>
          <p:cNvSpPr txBox="1"/>
          <p:nvPr/>
        </p:nvSpPr>
        <p:spPr>
          <a:xfrm>
            <a:off x="4045347" y="5193792"/>
            <a:ext cx="7597709" cy="411480"/>
          </a:xfrm>
          <a:prstGeom prst="rect">
            <a:avLst/>
          </a:prstGeom>
          <a:noFill/>
          <a:ln/>
        </p:spPr>
        <p:txBody>
          <a:bodyPr wrap="square" lIns="0" tIns="0" rIns="0" bIns="0" rtlCol="0" anchor="t"/>
          <a:lstStyle/>
          <a:p>
            <a:pPr indent="0" marL="0">
              <a:buNone/>
            </a:pPr>
            <a:r>
              <a:rPr lang="en-US" sz="2200" dirty="0">
                <a:solidFill>
                  <a:schemeClr val="tx1"/>
                </a:solidFill>
              </a:rPr>
              <a:t>how often steps come: fast, repeating motion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Goal: fix the hand in the room, not on the body</a:t>
            </a:r>
            <a:endParaRPr lang="en-US" sz="3200" dirty="0"/>
          </a:p>
        </p:txBody>
      </p:sp>
      <p:pic>
        <p:nvPicPr>
          <p:cNvPr id="4" name="Task illustration" descr="Four backpack positions in one cycle and the average, where the hands stay sharp">    </p:cNvPr>
          <p:cNvPicPr>
            <a:picLocks noChangeAspect="1"/>
          </p:cNvPicPr>
          <p:nvPr/>
        </p:nvPicPr>
        <p:blipFill>
          <a:blip r:embed="rId1"/>
          <a:stretch>
            <a:fillRect/>
          </a:stretch>
        </p:blipFill>
        <p:spPr>
          <a:xfrm>
            <a:off x="548640" y="2308893"/>
            <a:ext cx="11094415" cy="2377375"/>
          </a:xfrm>
          <a:prstGeom prst="rect">
            <a:avLst/>
          </a:prstGeom>
        </p:spPr>
      </p:pic>
      <p:sp>
        <p:nvSpPr>
          <p:cNvPr id="5" name="Caption"/>
          <p:cNvSpPr txBox="1"/>
          <p:nvPr/>
        </p:nvSpPr>
        <p:spPr>
          <a:xfrm>
            <a:off x="548640" y="4823427"/>
            <a:ext cx="11094415" cy="685800"/>
          </a:xfrm>
          <a:prstGeom prst="rect">
            <a:avLst/>
          </a:prstGeom>
          <a:noFill/>
          <a:ln/>
        </p:spPr>
        <p:txBody>
          <a:bodyPr wrap="square" lIns="0" tIns="0" rIns="0" bIns="0" rtlCol="0" anchor="t"/>
          <a:lstStyle/>
          <a:p>
            <a:pPr indent="0" marL="0">
              <a:buNone/>
            </a:pPr>
            <a:r>
              <a:rPr lang="en-US" sz="1800" dirty="0">
                <a:solidFill>
                  <a:schemeClr val="accent4"/>
                </a:solidFill>
              </a:rPr>
              <a:t>(e) one cycle averaged: the backpack blurs, the hands stay sharp.</a:t>
            </a:r>
            <a:endParaRPr lang="en-US" sz="1800" dirty="0"/>
          </a:p>
          <a:p>
            <a:pPr indent="0" marL="0">
              <a:buNone/>
            </a:pPr>
            <a:r>
              <a:rPr lang="en-US" sz="1800" dirty="0">
                <a:solidFill>
                  <a:schemeClr val="accent4"/>
                </a:solidFill>
              </a:rPr>
              <a:t>Simulation, controller on. Motion enlarged 3×.</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World</a:t>
            </a:r>
            <a:endParaRPr lang="en-US" sz="1800" dirty="0"/>
          </a:p>
          <a:p>
            <a:pPr algn="ctr" indent="0" marL="0">
              <a:buNone/>
            </a:pPr>
            <a:r>
              <a:rPr lang="en-US" sz="1600" b="1" dirty="0">
                <a:solidFill>
                  <a:schemeClr val="bg1"/>
                </a:solidFill>
              </a:rPr>
              <a:t>(the room)</a:t>
            </a:r>
            <a:endParaRPr lang="en-US" sz="1800" dirty="0"/>
          </a:p>
        </p:txBody>
      </p:sp>
      <p:sp>
        <p:nvSpPr>
          <p:cNvPr id="5" name="Frame Backpack"/>
          <p:cNvSpPr txBox="1"/>
          <p:nvPr/>
        </p:nvSpPr>
        <p:spPr>
          <a:xfrm>
            <a:off x="3606698"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Backpack</a:t>
            </a:r>
            <a:endParaRPr lang="en-US" sz="1800" dirty="0"/>
          </a:p>
          <a:p>
            <a:pPr algn="ctr" indent="0" marL="0">
              <a:buNone/>
            </a:pPr>
            <a:r>
              <a:rPr lang="en-US" sz="1600" b="1" dirty="0">
                <a:solidFill>
                  <a:schemeClr val="bg1"/>
                </a:solidFill>
              </a:rPr>
              <a:t>(mount)</a:t>
            </a:r>
            <a:endParaRPr lang="en-US" sz="1800" dirty="0"/>
          </a:p>
        </p:txBody>
      </p:sp>
      <p:sp>
        <p:nvSpPr>
          <p:cNvPr id="6" name="Frame Arm base"/>
          <p:cNvSpPr txBox="1"/>
          <p:nvPr/>
        </p:nvSpPr>
        <p:spPr>
          <a:xfrm>
            <a:off x="6664757"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Arm base</a:t>
            </a:r>
            <a:endParaRPr lang="en-US" sz="1800" dirty="0"/>
          </a:p>
        </p:txBody>
      </p:sp>
      <p:sp>
        <p:nvSpPr>
          <p:cNvPr id="7" name="Frame Hand"/>
          <p:cNvSpPr txBox="1"/>
          <p:nvPr/>
        </p:nvSpPr>
        <p:spPr>
          <a:xfrm>
            <a:off x="9722815"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Hand</a:t>
            </a:r>
            <a:endParaRPr lang="en-US" sz="1800" dirty="0"/>
          </a:p>
          <a:p>
            <a:pPr algn="ctr" indent="0" marL="0">
              <a:buNone/>
            </a:pPr>
            <a:r>
              <a:rPr lang="en-US" sz="1600" b="1" dirty="0">
                <a:solidFill>
                  <a:schemeClr val="bg1"/>
                </a:solidFill>
              </a:rPr>
              <a:t>(end-effector)</a:t>
            </a:r>
            <a:endParaRPr lang="en-US" sz="1800" dirty="0"/>
          </a:p>
        </p:txBody>
      </p:sp>
      <p:sp>
        <p:nvSpPr>
          <p:cNvPr id="8" name="Shape 6"/>
          <p:cNvSpPr/>
          <p:nvPr/>
        </p:nvSpPr>
        <p:spPr>
          <a:xfrm>
            <a:off x="2542032" y="2286000"/>
            <a:ext cx="991514" cy="0"/>
          </a:xfrm>
          <a:prstGeom prst="line">
            <a:avLst/>
          </a:prstGeom>
          <a:noFill/>
          <a:ln w="28575">
            <a:solidFill>
              <a:schemeClr val="tx2"/>
            </a:solidFill>
            <a:prstDash val="solid"/>
            <a:tailEnd type="triangle"/>
          </a:ln>
        </p:spPr>
      </p:sp>
      <p:sp>
        <p:nvSpPr>
          <p:cNvPr id="9" name="Edge Vicon motion capture"/>
          <p:cNvSpPr txBox="1"/>
          <p:nvPr/>
        </p:nvSpPr>
        <p:spPr>
          <a:xfrm>
            <a:off x="1620469" y="2926080"/>
            <a:ext cx="2834640" cy="713232"/>
          </a:xfrm>
          <a:prstGeom prst="roundRect">
            <a:avLst>
              <a:gd name="adj" fmla="val 15385"/>
            </a:avLst>
          </a:prstGeom>
          <a:solidFill>
            <a:schemeClr val="accent2"/>
          </a:solidFill>
          <a:ln/>
        </p:spPr>
        <p:txBody>
          <a:bodyPr wrap="square" lIns="508" tIns="508" rIns="508" bIns="508" rtlCol="0" anchor="ctr"/>
          <a:lstStyle/>
          <a:p>
            <a:pPr algn="ctr" indent="0" marL="0">
              <a:buNone/>
            </a:pPr>
            <a:r>
              <a:rPr lang="en-US" sz="1600" b="1" dirty="0">
                <a:solidFill>
                  <a:schemeClr val="bg1"/>
                </a:solidFill>
              </a:rPr>
              <a:t>Vicon motion capture</a:t>
            </a:r>
            <a:endParaRPr lang="en-US" sz="1800" dirty="0"/>
          </a:p>
          <a:p>
            <a:pPr algn="ctr" indent="0" marL="0">
              <a:buNone/>
            </a:pPr>
            <a:r>
              <a:rPr lang="en-US" sz="1400" b="1" dirty="0">
                <a:solidFill>
                  <a:schemeClr val="bg1"/>
                </a:solidFill>
              </a:rPr>
              <a:t>measured live</a:t>
            </a:r>
            <a:endParaRPr lang="en-US" sz="1800" dirty="0"/>
          </a:p>
        </p:txBody>
      </p:sp>
      <p:sp>
        <p:nvSpPr>
          <p:cNvPr id="10" name="Shape 8"/>
          <p:cNvSpPr/>
          <p:nvPr/>
        </p:nvSpPr>
        <p:spPr>
          <a:xfrm>
            <a:off x="5600090" y="2286000"/>
            <a:ext cx="991514" cy="0"/>
          </a:xfrm>
          <a:prstGeom prst="line">
            <a:avLst/>
          </a:prstGeom>
          <a:noFill/>
          <a:ln w="28575">
            <a:solidFill>
              <a:schemeClr val="tx2"/>
            </a:solidFill>
            <a:prstDash val="solid"/>
            <a:tailEnd type="triangle"/>
          </a:ln>
        </p:spPr>
      </p:sp>
      <p:sp>
        <p:nvSpPr>
          <p:cNvPr id="11" name="Edge Fixed mount offset"/>
          <p:cNvSpPr txBox="1"/>
          <p:nvPr/>
        </p:nvSpPr>
        <p:spPr>
          <a:xfrm>
            <a:off x="4678528" y="2926080"/>
            <a:ext cx="2834640" cy="713232"/>
          </a:xfrm>
          <a:prstGeom prst="roundRect">
            <a:avLst>
              <a:gd name="adj" fmla="val 15385"/>
            </a:avLst>
          </a:prstGeom>
          <a:solidFill>
            <a:schemeClr val="bg2"/>
          </a:solidFill>
          <a:ln/>
        </p:spPr>
        <p:txBody>
          <a:bodyPr wrap="square" lIns="508" tIns="508" rIns="508" bIns="508" rtlCol="0" anchor="ctr"/>
          <a:lstStyle/>
          <a:p>
            <a:pPr algn="ctr" indent="0" marL="0">
              <a:buNone/>
            </a:pPr>
            <a:r>
              <a:rPr lang="en-US" sz="1600" b="1" dirty="0">
                <a:solidFill>
                  <a:schemeClr val="tx2"/>
                </a:solidFill>
              </a:rPr>
              <a:t>Fixed mount offset</a:t>
            </a:r>
            <a:endParaRPr lang="en-US" sz="1800" dirty="0"/>
          </a:p>
          <a:p>
            <a:pPr algn="ctr" indent="0" marL="0">
              <a:buNone/>
            </a:pPr>
            <a:r>
              <a:rPr lang="en-US" sz="1400" b="1" dirty="0">
                <a:solidFill>
                  <a:schemeClr val="tx2"/>
                </a:solidFill>
              </a:rPr>
              <a:t>known</a:t>
            </a:r>
            <a:endParaRPr lang="en-US" sz="1800" dirty="0"/>
          </a:p>
        </p:txBody>
      </p:sp>
      <p:sp>
        <p:nvSpPr>
          <p:cNvPr id="12" name="Shape 10"/>
          <p:cNvSpPr/>
          <p:nvPr/>
        </p:nvSpPr>
        <p:spPr>
          <a:xfrm>
            <a:off x="8658149" y="2286000"/>
            <a:ext cx="991514" cy="0"/>
          </a:xfrm>
          <a:prstGeom prst="line">
            <a:avLst/>
          </a:prstGeom>
          <a:noFill/>
          <a:ln w="28575">
            <a:solidFill>
              <a:schemeClr val="tx2"/>
            </a:solidFill>
            <a:prstDash val="solid"/>
            <a:tailEnd type="triangle"/>
          </a:ln>
        </p:spPr>
      </p:sp>
      <p:sp>
        <p:nvSpPr>
          <p:cNvPr id="13" name="Edge Joint angles → kinematics"/>
          <p:cNvSpPr txBox="1"/>
          <p:nvPr/>
        </p:nvSpPr>
        <p:spPr>
          <a:xfrm>
            <a:off x="7736586" y="2926080"/>
            <a:ext cx="2834640" cy="713232"/>
          </a:xfrm>
          <a:prstGeom prst="roundRect">
            <a:avLst>
              <a:gd name="adj" fmla="val 15385"/>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Joint angles → kinematics</a:t>
            </a:r>
            <a:endParaRPr lang="en-US" sz="1800" dirty="0"/>
          </a:p>
          <a:p>
            <a:pPr algn="ctr" indent="0" marL="0">
              <a:buNone/>
            </a:pPr>
            <a:r>
              <a:rPr lang="en-US" sz="1400" b="1" dirty="0">
                <a:solidFill>
                  <a:schemeClr val="tx2"/>
                </a:solidFill>
              </a:rPr>
              <a:t>computed</a:t>
            </a:r>
            <a:endParaRPr lang="en-US" sz="1800" dirty="0"/>
          </a:p>
        </p:txBody>
      </p:sp>
      <p:sp>
        <p:nvSpPr>
          <p:cNvPr id="14" name="Equation card"/>
          <p:cNvSpPr/>
          <p:nvPr/>
        </p:nvSpPr>
        <p:spPr>
          <a:xfrm>
            <a:off x="548640" y="3840480"/>
            <a:ext cx="11094415" cy="822960"/>
          </a:xfrm>
          <a:prstGeom prst="roundRect">
            <a:avLst>
              <a:gd name="adj" fmla="val 15556"/>
            </a:avLst>
          </a:prstGeom>
          <a:solidFill>
            <a:schemeClr val="bg2"/>
          </a:solidFill>
          <a:ln/>
        </p:spPr>
      </p:sp>
      <p:sp>
        <p:nvSpPr>
          <p:cNvPr id="15" name="Control law"/>
          <p:cNvSpPr txBox="1"/>
          <p:nvPr/>
        </p:nvSpPr>
        <p:spPr>
          <a:xfrm>
            <a:off x="548640" y="3840480"/>
            <a:ext cx="11094415" cy="822960"/>
          </a:xfrm>
          <a:prstGeom prst="rect">
            <a:avLst/>
          </a:prstGeom>
          <a:noFill/>
          <a:ln/>
        </p:spPr>
        <p:txBody>
          <a:bodyPr wrap="square" lIns="0" tIns="0" rIns="0" bIns="0" rtlCol="0" anchor="ctr"/>
          <a:lstStyle/>
          <a:p>
            <a:pPr algn="ctr" indent="0" marL="0">
              <a:buNone/>
            </a:pPr>
            <a:r>
              <a:rPr lang="en-US" sz="3200" b="1" dirty="0">
                <a:solidFill>
                  <a:schemeClr val="tx2"/>
                </a:solidFill>
              </a:rPr>
              <a:t>q̇ = </a:t>
            </a:r>
            <a:pPr algn="ctr" indent="0" marL="0">
              <a:buNone/>
            </a:pPr>
            <a:r>
              <a:rPr lang="en-US" sz="3200" b="1" dirty="0">
                <a:solidFill>
                  <a:schemeClr val="accent1"/>
                </a:solidFill>
              </a:rPr>
              <a:t>J</a:t>
            </a:r>
            <a:pPr algn="ctr" indent="0" marL="0">
              <a:buNone/>
            </a:pPr>
            <a:r>
              <a:rPr lang="en-US" sz="3200" b="1" baseline="30000" dirty="0">
                <a:solidFill>
                  <a:schemeClr val="accent1"/>
                </a:solidFill>
              </a:rPr>
              <a:t>+</a:t>
            </a:r>
            <a:pPr algn="ctr" indent="0" marL="0">
              <a:buNone/>
            </a:pPr>
            <a:r>
              <a:rPr lang="en-US" sz="3200" b="1" baseline="-40000" dirty="0">
                <a:solidFill>
                  <a:schemeClr val="accent1"/>
                </a:solidFill>
              </a:rPr>
              <a:t>λ</a:t>
            </a:r>
            <a:pPr algn="ctr" indent="0" marL="0">
              <a:buNone/>
            </a:pPr>
            <a:r>
              <a:rPr lang="en-US" sz="3200" b="1" dirty="0">
                <a:solidFill>
                  <a:schemeClr val="accent2"/>
                </a:solidFill>
              </a:rPr>
              <a:t> (K</a:t>
            </a:r>
            <a:pPr algn="ctr" indent="0" marL="0">
              <a:buNone/>
            </a:pPr>
            <a:r>
              <a:rPr lang="en-US" sz="3200" b="1" baseline="-40000" dirty="0">
                <a:solidFill>
                  <a:schemeClr val="accent2"/>
                </a:solidFill>
              </a:rPr>
              <a:t>p</a:t>
            </a:r>
            <a:pPr algn="ctr" indent="0" marL="0">
              <a:buNone/>
            </a:pPr>
            <a:r>
              <a:rPr lang="en-US" sz="3200" b="1" dirty="0">
                <a:solidFill>
                  <a:schemeClr val="accent2"/>
                </a:solidFill>
              </a:rPr>
              <a:t>·e + K</a:t>
            </a:r>
            <a:pPr algn="ctr" indent="0" marL="0">
              <a:buNone/>
            </a:pPr>
            <a:r>
              <a:rPr lang="en-US" sz="3200" b="1" baseline="-40000" dirty="0">
                <a:solidFill>
                  <a:schemeClr val="accent2"/>
                </a:solidFill>
              </a:rPr>
              <a:t>d</a:t>
            </a:r>
            <a:pPr algn="ctr" indent="0" marL="0">
              <a:buNone/>
            </a:pPr>
            <a:r>
              <a:rPr lang="en-US" sz="3200" b="1" dirty="0">
                <a:solidFill>
                  <a:schemeClr val="accent2"/>
                </a:solidFill>
              </a:rPr>
              <a:t>·ė)</a:t>
            </a:r>
            <a:pPr algn="ctr" indent="0" marL="0">
              <a:buNone/>
            </a:pPr>
            <a:r>
              <a:rPr lang="en-US" sz="3200" b="1" dirty="0">
                <a:solidFill>
                  <a:schemeClr val="tx2"/>
                </a:solidFill>
              </a:rPr>
              <a:t> + </a:t>
            </a:r>
            <a:pPr algn="ctr" indent="0" marL="0">
              <a:buNone/>
            </a:pPr>
            <a:r>
              <a:rPr lang="en-US" sz="3200" b="1" dirty="0">
                <a:solidFill>
                  <a:schemeClr val="accent4"/>
                </a:solidFill>
              </a:rPr>
              <a:t>(I − J</a:t>
            </a:r>
            <a:pPr algn="ctr" indent="0" marL="0">
              <a:buNone/>
            </a:pPr>
            <a:r>
              <a:rPr lang="en-US" sz="3200" b="1" baseline="30000" dirty="0">
                <a:solidFill>
                  <a:schemeClr val="accent4"/>
                </a:solidFill>
              </a:rPr>
              <a:t>+</a:t>
            </a:r>
            <a:pPr algn="ctr" indent="0" marL="0">
              <a:buNone/>
            </a:pPr>
            <a:r>
              <a:rPr lang="en-US" sz="3200" b="1" dirty="0">
                <a:solidFill>
                  <a:schemeClr val="accent4"/>
                </a:solidFill>
              </a:rPr>
              <a:t>J)·q̇</a:t>
            </a:r>
            <a:pPr algn="ctr" indent="0" marL="0">
              <a:buNone/>
            </a:pPr>
            <a:r>
              <a:rPr lang="en-US" sz="3200" b="1" baseline="-40000" dirty="0">
                <a:solidFill>
                  <a:schemeClr val="accent4"/>
                </a:solidFill>
              </a:rPr>
              <a:t>0</a:t>
            </a:r>
            <a:endParaRPr lang="en-US" sz="3200" dirty="0"/>
          </a:p>
        </p:txBody>
      </p:sp>
      <p:sp>
        <p:nvSpPr>
          <p:cNvPr id="16" name="Term 1"/>
          <p:cNvSpPr txBox="1"/>
          <p:nvPr/>
        </p:nvSpPr>
        <p:spPr>
          <a:xfrm>
            <a:off x="822960" y="4846320"/>
            <a:ext cx="2651760" cy="420624"/>
          </a:xfrm>
          <a:prstGeom prst="rect">
            <a:avLst/>
          </a:prstGeom>
          <a:noFill/>
          <a:ln/>
        </p:spPr>
        <p:txBody>
          <a:bodyPr wrap="square" lIns="0" tIns="0" rIns="0" bIns="0" rtlCol="0" anchor="ctr"/>
          <a:lstStyle/>
          <a:p>
            <a:pPr indent="0" marL="0">
              <a:buNone/>
            </a:pPr>
            <a:r>
              <a:rPr lang="en-US" sz="2000" b="1" dirty="0">
                <a:solidFill>
                  <a:schemeClr val="accent2"/>
                </a:solidFill>
              </a:rPr>
              <a:t>K</a:t>
            </a:r>
            <a:pPr indent="0" marL="0">
              <a:buNone/>
            </a:pPr>
            <a:r>
              <a:rPr lang="en-US" sz="2000" b="1" baseline="-40000" dirty="0">
                <a:solidFill>
                  <a:schemeClr val="accent2"/>
                </a:solidFill>
              </a:rPr>
              <a:t>p</a:t>
            </a:r>
            <a:pPr indent="0" marL="0">
              <a:buNone/>
            </a:pPr>
            <a:r>
              <a:rPr lang="en-US" sz="2000" b="1" dirty="0">
                <a:solidFill>
                  <a:schemeClr val="accent2"/>
                </a:solidFill>
              </a:rPr>
              <a:t>·e + K</a:t>
            </a:r>
            <a:pPr indent="0" marL="0">
              <a:buNone/>
            </a:pPr>
            <a:r>
              <a:rPr lang="en-US" sz="2000" b="1" baseline="-40000" dirty="0">
                <a:solidFill>
                  <a:schemeClr val="accent2"/>
                </a:solidFill>
              </a:rPr>
              <a:t>d</a:t>
            </a:r>
            <a:pPr indent="0" marL="0">
              <a:buNone/>
            </a:pPr>
            <a:r>
              <a:rPr lang="en-US" sz="2000" b="1" dirty="0">
                <a:solidFill>
                  <a:schemeClr val="accent2"/>
                </a:solidFill>
              </a:rPr>
              <a:t>·ė</a:t>
            </a:r>
            <a:endParaRPr lang="en-US" sz="2000" dirty="0"/>
          </a:p>
        </p:txBody>
      </p:sp>
      <p:sp>
        <p:nvSpPr>
          <p:cNvPr id="17" name="Gloss 1"/>
          <p:cNvSpPr txBox="1"/>
          <p:nvPr/>
        </p:nvSpPr>
        <p:spPr>
          <a:xfrm>
            <a:off x="3566160" y="4846320"/>
            <a:ext cx="8076895" cy="420624"/>
          </a:xfrm>
          <a:prstGeom prst="rect">
            <a:avLst/>
          </a:prstGeom>
          <a:noFill/>
          <a:ln/>
        </p:spPr>
        <p:txBody>
          <a:bodyPr wrap="square" lIns="0" tIns="0" rIns="0" bIns="0" rtlCol="0" anchor="ctr"/>
          <a:lstStyle/>
          <a:p>
            <a:pPr indent="0" marL="0">
              <a:buNone/>
            </a:pPr>
            <a:r>
              <a:rPr lang="en-US" sz="2000" dirty="0">
                <a:solidFill>
                  <a:schemeClr val="tx1"/>
                </a:solidFill>
              </a:rPr>
              <a:t>push the hand back to its spot in the room</a:t>
            </a:r>
            <a:endParaRPr lang="en-US" sz="2000" dirty="0"/>
          </a:p>
        </p:txBody>
      </p:sp>
      <p:sp>
        <p:nvSpPr>
          <p:cNvPr id="18" name="Term 2"/>
          <p:cNvSpPr txBox="1"/>
          <p:nvPr/>
        </p:nvSpPr>
        <p:spPr>
          <a:xfrm>
            <a:off x="822960" y="5321808"/>
            <a:ext cx="2651760" cy="420624"/>
          </a:xfrm>
          <a:prstGeom prst="rect">
            <a:avLst/>
          </a:prstGeom>
          <a:noFill/>
          <a:ln/>
        </p:spPr>
        <p:txBody>
          <a:bodyPr wrap="square" lIns="0" tIns="0" rIns="0" bIns="0" rtlCol="0" anchor="ctr"/>
          <a:lstStyle/>
          <a:p>
            <a:pPr indent="0" marL="0">
              <a:buNone/>
            </a:pPr>
            <a:r>
              <a:rPr lang="en-US" sz="2000" b="1" dirty="0">
                <a:solidFill>
                  <a:schemeClr val="accent1"/>
                </a:solidFill>
              </a:rPr>
              <a:t>J</a:t>
            </a:r>
            <a:pPr indent="0" marL="0">
              <a:buNone/>
            </a:pPr>
            <a:r>
              <a:rPr lang="en-US" sz="2000" b="1" baseline="30000" dirty="0">
                <a:solidFill>
                  <a:schemeClr val="accent1"/>
                </a:solidFill>
              </a:rPr>
              <a:t>+</a:t>
            </a:r>
            <a:pPr indent="0" marL="0">
              <a:buNone/>
            </a:pPr>
            <a:r>
              <a:rPr lang="en-US" sz="2000" b="1" baseline="-40000" dirty="0">
                <a:solidFill>
                  <a:schemeClr val="accent1"/>
                </a:solidFill>
              </a:rPr>
              <a:t>λ</a:t>
            </a:r>
            <a:endParaRPr lang="en-US" sz="2000" dirty="0"/>
          </a:p>
        </p:txBody>
      </p:sp>
      <p:sp>
        <p:nvSpPr>
          <p:cNvPr id="19" name="Gloss 2"/>
          <p:cNvSpPr txBox="1"/>
          <p:nvPr/>
        </p:nvSpPr>
        <p:spPr>
          <a:xfrm>
            <a:off x="3566160" y="5321808"/>
            <a:ext cx="8076895" cy="420624"/>
          </a:xfrm>
          <a:prstGeom prst="rect">
            <a:avLst/>
          </a:prstGeom>
          <a:noFill/>
          <a:ln/>
        </p:spPr>
        <p:txBody>
          <a:bodyPr wrap="square" lIns="0" tIns="0" rIns="0" bIns="0" rtlCol="0" anchor="ctr"/>
          <a:lstStyle/>
          <a:p>
            <a:pPr indent="0" marL="0">
              <a:buNone/>
            </a:pPr>
            <a:r>
              <a:rPr lang="en-US" sz="2000" dirty="0">
                <a:solidFill>
                  <a:schemeClr val="tx1"/>
                </a:solidFill>
              </a:rPr>
              <a:t>→ joint speeds, damped near awkward poses</a:t>
            </a:r>
            <a:endParaRPr lang="en-US" sz="2000" dirty="0"/>
          </a:p>
        </p:txBody>
      </p:sp>
      <p:sp>
        <p:nvSpPr>
          <p:cNvPr id="20" name="Term 3"/>
          <p:cNvSpPr txBox="1"/>
          <p:nvPr/>
        </p:nvSpPr>
        <p:spPr>
          <a:xfrm>
            <a:off x="822960" y="5797296"/>
            <a:ext cx="2651760" cy="420624"/>
          </a:xfrm>
          <a:prstGeom prst="rect">
            <a:avLst/>
          </a:prstGeom>
          <a:noFill/>
          <a:ln/>
        </p:spPr>
        <p:txBody>
          <a:bodyPr wrap="square" lIns="0" tIns="0" rIns="0" bIns="0" rtlCol="0" anchor="ctr"/>
          <a:lstStyle/>
          <a:p>
            <a:pPr indent="0" marL="0">
              <a:buNone/>
            </a:pPr>
            <a:r>
              <a:rPr lang="en-US" sz="2000" b="1" dirty="0">
                <a:solidFill>
                  <a:schemeClr val="accent4"/>
                </a:solidFill>
              </a:rPr>
              <a:t>(I − J</a:t>
            </a:r>
            <a:pPr indent="0" marL="0">
              <a:buNone/>
            </a:pPr>
            <a:r>
              <a:rPr lang="en-US" sz="2000" b="1" baseline="30000" dirty="0">
                <a:solidFill>
                  <a:schemeClr val="accent4"/>
                </a:solidFill>
              </a:rPr>
              <a:t>+</a:t>
            </a:r>
            <a:pPr indent="0" marL="0">
              <a:buNone/>
            </a:pPr>
            <a:r>
              <a:rPr lang="en-US" sz="2000" b="1" dirty="0">
                <a:solidFill>
                  <a:schemeClr val="accent4"/>
                </a:solidFill>
              </a:rPr>
              <a:t>J)·q̇</a:t>
            </a:r>
            <a:pPr indent="0" marL="0">
              <a:buNone/>
            </a:pPr>
            <a:r>
              <a:rPr lang="en-US" sz="2000" b="1" baseline="-40000" dirty="0">
                <a:solidFill>
                  <a:schemeClr val="accent4"/>
                </a:solidFill>
              </a:rPr>
              <a:t>0</a:t>
            </a:r>
            <a:endParaRPr lang="en-US" sz="2000" dirty="0"/>
          </a:p>
        </p:txBody>
      </p:sp>
      <p:sp>
        <p:nvSpPr>
          <p:cNvPr id="21" name="Gloss 3"/>
          <p:cNvSpPr txBox="1"/>
          <p:nvPr/>
        </p:nvSpPr>
        <p:spPr>
          <a:xfrm>
            <a:off x="3566160" y="5797296"/>
            <a:ext cx="8076895" cy="420624"/>
          </a:xfrm>
          <a:prstGeom prst="rect">
            <a:avLst/>
          </a:prstGeom>
          <a:noFill/>
          <a:ln/>
        </p:spPr>
        <p:txBody>
          <a:bodyPr wrap="square" lIns="0" tIns="0" rIns="0" bIns="0" rtlCol="0" anchor="ctr"/>
          <a:lstStyle/>
          <a:p>
            <a:pPr indent="0" marL="0">
              <a:buNone/>
            </a:pPr>
            <a:r>
              <a:rPr lang="en-US" sz="2000" dirty="0">
                <a:solidFill>
                  <a:schemeClr val="tx1"/>
                </a:solidFill>
              </a:rPr>
              <a:t>spare 7th joint drifts to mid-range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my controller in a physics engine</a:t>
            </a:r>
            <a:endParaRPr lang="en-US" sz="3200" dirty="0"/>
          </a:p>
        </p:txBody>
      </p:sp>
      <p:sp>
        <p:nvSpPr>
          <p:cNvPr id="4" name="Frame hold_pose.gif"/>
          <p:cNvSpPr/>
          <p:nvPr/>
        </p:nvSpPr>
        <p:spPr>
          <a:xfrm>
            <a:off x="548640" y="1783080"/>
            <a:ext cx="6864668" cy="4023360"/>
          </a:xfrm>
          <a:prstGeom prst="roundRect">
            <a:avLst>
              <a:gd name="adj" fmla="val 272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controller with feedforward">    </p:cNvPr>
          <p:cNvPicPr>
            <a:picLocks noChangeAspect="1"/>
          </p:cNvPicPr>
          <p:nvPr/>
        </p:nvPicPr>
        <p:blipFill>
          <a:blip r:embed="rId1"/>
          <a:stretch>
            <a:fillRect/>
          </a:stretch>
        </p:blipFill>
        <p:spPr>
          <a:xfrm>
            <a:off x="621792" y="1856232"/>
            <a:ext cx="6718364" cy="3877056"/>
          </a:xfrm>
          <a:prstGeom prst="rect">
            <a:avLst/>
          </a:prstGeom>
        </p:spPr>
      </p:pic>
      <p:sp>
        <p:nvSpPr>
          <p:cNvPr id="6" name="Caption"/>
          <p:cNvSpPr txBox="1"/>
          <p:nvPr/>
        </p:nvSpPr>
        <p:spPr>
          <a:xfrm>
            <a:off x="548640" y="5916168"/>
            <a:ext cx="6864668" cy="457200"/>
          </a:xfrm>
          <a:prstGeom prst="rect">
            <a:avLst/>
          </a:prstGeom>
          <a:noFill/>
          <a:ln/>
        </p:spPr>
        <p:txBody>
          <a:bodyPr wrap="square" lIns="0" tIns="0" rIns="0" bIns="0" rtlCol="0" anchor="t"/>
          <a:lstStyle/>
          <a:p>
            <a:pPr indent="0" marL="0">
              <a:buNone/>
            </a:pPr>
            <a:r>
              <a:rPr lang="en-US" sz="1400" dirty="0">
                <a:solidFill>
                  <a:schemeClr val="accent4"/>
                </a:solidFill>
              </a:rPr>
              <a:t>Python controller in MuJoCo. Same motion (1.8 Hz), three controllers. Watch the red target, middle row.</a:t>
            </a:r>
            <a:endParaRPr lang="en-US" sz="1400" dirty="0"/>
          </a:p>
        </p:txBody>
      </p:sp>
      <p:sp>
        <p:nvSpPr>
          <p:cNvPr id="7" name="Text 4"/>
          <p:cNvSpPr txBox="1"/>
          <p:nvPr/>
        </p:nvSpPr>
        <p:spPr>
          <a:xfrm>
            <a:off x="8001000" y="1783080"/>
            <a:ext cx="3642055" cy="365760"/>
          </a:xfrm>
          <a:prstGeom prst="rect">
            <a:avLst/>
          </a:prstGeom>
          <a:noFill/>
          <a:ln/>
        </p:spPr>
        <p:txBody>
          <a:bodyPr wrap="square" lIns="0" tIns="0" rIns="0" bIns="0" rtlCol="0" anchor="t"/>
          <a:lstStyle/>
          <a:p>
            <a:pPr indent="0" marL="0">
              <a:buNone/>
            </a:pPr>
            <a:r>
              <a:rPr lang="en-US" sz="1800" b="1" dirty="0">
                <a:solidFill>
                  <a:schemeClr val="accent4"/>
                </a:solidFill>
              </a:rPr>
              <a:t>Hand error over 8 s (RMS)</a:t>
            </a:r>
            <a:endParaRPr lang="en-US" sz="1800" dirty="0"/>
          </a:p>
        </p:txBody>
      </p:sp>
      <p:sp>
        <p:nvSpPr>
          <p:cNvPr id="8" name="Sim stat 1"/>
          <p:cNvSpPr txBox="1"/>
          <p:nvPr/>
        </p:nvSpPr>
        <p:spPr>
          <a:xfrm>
            <a:off x="8001000" y="2240280"/>
            <a:ext cx="3642055" cy="731520"/>
          </a:xfrm>
          <a:prstGeom prst="rect">
            <a:avLst/>
          </a:prstGeom>
          <a:noFill/>
          <a:ln/>
        </p:spPr>
        <p:txBody>
          <a:bodyPr wrap="square" lIns="0" tIns="0" rIns="0" bIns="0" rtlCol="0" anchor="ctr"/>
          <a:lstStyle/>
          <a:p>
            <a:pPr indent="0" marL="0">
              <a:buNone/>
            </a:pPr>
            <a:r>
              <a:rPr lang="en-US" sz="5400" b="1" dirty="0">
                <a:solidFill>
                  <a:schemeClr val="accent4"/>
                </a:solidFill>
              </a:rPr>
              <a:t>31.0 mm</a:t>
            </a:r>
            <a:endParaRPr lang="en-US" sz="5400" dirty="0"/>
          </a:p>
        </p:txBody>
      </p:sp>
      <p:sp>
        <p:nvSpPr>
          <p:cNvPr id="9" name="Sim stat 1 label"/>
          <p:cNvSpPr txBox="1"/>
          <p:nvPr/>
        </p:nvSpPr>
        <p:spPr>
          <a:xfrm>
            <a:off x="8001000" y="2971800"/>
            <a:ext cx="3642055" cy="347472"/>
          </a:xfrm>
          <a:prstGeom prst="rect">
            <a:avLst/>
          </a:prstGeom>
          <a:noFill/>
          <a:ln/>
        </p:spPr>
        <p:txBody>
          <a:bodyPr wrap="square" lIns="0" tIns="0" rIns="0" bIns="0" rtlCol="0" anchor="t"/>
          <a:lstStyle/>
          <a:p>
            <a:pPr indent="0" marL="0">
              <a:buNone/>
            </a:pPr>
            <a:r>
              <a:rPr lang="en-US" sz="1800" dirty="0">
                <a:solidFill>
                  <a:schemeClr val="tx1"/>
                </a:solidFill>
              </a:rPr>
              <a:t>Arms locked</a:t>
            </a:r>
            <a:endParaRPr lang="en-US" sz="1800" dirty="0"/>
          </a:p>
        </p:txBody>
      </p:sp>
      <p:sp>
        <p:nvSpPr>
          <p:cNvPr id="10" name="Sim stat 2"/>
          <p:cNvSpPr txBox="1"/>
          <p:nvPr/>
        </p:nvSpPr>
        <p:spPr>
          <a:xfrm>
            <a:off x="8001000" y="3456432"/>
            <a:ext cx="3642055" cy="731520"/>
          </a:xfrm>
          <a:prstGeom prst="rect">
            <a:avLst/>
          </a:prstGeom>
          <a:noFill/>
          <a:ln/>
        </p:spPr>
        <p:txBody>
          <a:bodyPr wrap="square" lIns="0" tIns="0" rIns="0" bIns="0" rtlCol="0" anchor="ctr"/>
          <a:lstStyle/>
          <a:p>
            <a:pPr indent="0" marL="0">
              <a:buNone/>
            </a:pPr>
            <a:r>
              <a:rPr lang="en-US" sz="5400" b="1" dirty="0">
                <a:solidFill>
                  <a:schemeClr val="accent2"/>
                </a:solidFill>
              </a:rPr>
              <a:t>6.7 mm</a:t>
            </a:r>
            <a:endParaRPr lang="en-US" sz="5400" dirty="0"/>
          </a:p>
        </p:txBody>
      </p:sp>
      <p:sp>
        <p:nvSpPr>
          <p:cNvPr id="11" name="Sim stat 2 label"/>
          <p:cNvSpPr txBox="1"/>
          <p:nvPr/>
        </p:nvSpPr>
        <p:spPr>
          <a:xfrm>
            <a:off x="8001000" y="4187952"/>
            <a:ext cx="3642055" cy="347472"/>
          </a:xfrm>
          <a:prstGeom prst="rect">
            <a:avLst/>
          </a:prstGeom>
          <a:noFill/>
          <a:ln/>
        </p:spPr>
        <p:txBody>
          <a:bodyPr wrap="square" lIns="0" tIns="0" rIns="0" bIns="0" rtlCol="0" anchor="t"/>
          <a:lstStyle/>
          <a:p>
            <a:pPr indent="0" marL="0">
              <a:buNone/>
            </a:pPr>
            <a:r>
              <a:rPr lang="en-US" sz="1800" dirty="0">
                <a:solidFill>
                  <a:schemeClr val="tx1"/>
                </a:solidFill>
              </a:rPr>
              <a:t>Controller</a:t>
            </a:r>
            <a:endParaRPr lang="en-US" sz="1800" dirty="0"/>
          </a:p>
        </p:txBody>
      </p:sp>
      <p:sp>
        <p:nvSpPr>
          <p:cNvPr id="12" name="Sim stat 3"/>
          <p:cNvSpPr txBox="1"/>
          <p:nvPr/>
        </p:nvSpPr>
        <p:spPr>
          <a:xfrm>
            <a:off x="8001000" y="4672584"/>
            <a:ext cx="3642055" cy="731520"/>
          </a:xfrm>
          <a:prstGeom prst="rect">
            <a:avLst/>
          </a:prstGeom>
          <a:noFill/>
          <a:ln/>
        </p:spPr>
        <p:txBody>
          <a:bodyPr wrap="square" lIns="0" tIns="0" rIns="0" bIns="0" rtlCol="0" anchor="ctr"/>
          <a:lstStyle/>
          <a:p>
            <a:pPr indent="0" marL="0">
              <a:buNone/>
            </a:pPr>
            <a:r>
              <a:rPr lang="en-US" sz="5400" b="1" dirty="0">
                <a:solidFill>
                  <a:schemeClr val="accent3"/>
                </a:solidFill>
              </a:rPr>
              <a:t>2.6 mm</a:t>
            </a:r>
            <a:endParaRPr lang="en-US" sz="5400" dirty="0"/>
          </a:p>
        </p:txBody>
      </p:sp>
      <p:sp>
        <p:nvSpPr>
          <p:cNvPr id="13" name="Sim stat 3 label"/>
          <p:cNvSpPr txBox="1"/>
          <p:nvPr/>
        </p:nvSpPr>
        <p:spPr>
          <a:xfrm>
            <a:off x="8001000" y="5404104"/>
            <a:ext cx="3642055" cy="347472"/>
          </a:xfrm>
          <a:prstGeom prst="rect">
            <a:avLst/>
          </a:prstGeom>
          <a:noFill/>
          <a:ln/>
        </p:spPr>
        <p:txBody>
          <a:bodyPr wrap="square" lIns="0" tIns="0" rIns="0" bIns="0" rtlCol="0" anchor="t"/>
          <a:lstStyle/>
          <a:p>
            <a:pPr indent="0" marL="0">
              <a:buNone/>
            </a:pPr>
            <a:r>
              <a:rPr lang="en-US" sz="1800" dirty="0">
                <a:solidFill>
                  <a:schemeClr val="tx1"/>
                </a:solidFill>
              </a:rPr>
              <a:t>+ feedforward</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On real wearers: about 2/3 of walking motion removed</a:t>
            </a:r>
            <a:endParaRPr lang="en-US" sz="3200" dirty="0"/>
          </a:p>
        </p:txBody>
      </p:sp>
      <p:sp>
        <p:nvSpPr>
          <p:cNvPr id="4" name="Provenance"/>
          <p:cNvSpPr txBox="1"/>
          <p:nvPr/>
        </p:nvSpPr>
        <p:spPr>
          <a:xfrm>
            <a:off x="548640" y="1627632"/>
            <a:ext cx="11094415" cy="365760"/>
          </a:xfrm>
          <a:prstGeom prst="rect">
            <a:avLst/>
          </a:prstGeom>
          <a:noFill/>
          <a:ln/>
        </p:spPr>
        <p:txBody>
          <a:bodyPr wrap="square" lIns="0" tIns="0" rIns="0" bIns="0" rtlCol="0" anchor="t"/>
          <a:lstStyle/>
          <a:p>
            <a:pPr indent="0" marL="0">
              <a:buNone/>
            </a:pPr>
            <a:r>
              <a:rPr lang="en-US" sz="1800" dirty="0">
                <a:solidFill>
                  <a:schemeClr val="tx2"/>
                </a:solidFill>
              </a:rPr>
              <a:t>Trials ran a 400 Hz controller on the lab machine (Kalman-filtered Vicon). The analysis is mine.</a:t>
            </a:r>
            <a:endParaRPr lang="en-US" sz="1800" dirty="0"/>
          </a:p>
        </p:txBody>
      </p:sp>
      <p:sp>
        <p:nvSpPr>
          <p:cNvPr id="5" name="Frame hw_replay.gif"/>
          <p:cNvSpPr/>
          <p:nvPr/>
        </p:nvSpPr>
        <p:spPr>
          <a:xfrm>
            <a:off x="548640" y="2286000"/>
            <a:ext cx="6632143" cy="2800232"/>
          </a:xfrm>
          <a:prstGeom prst="roundRect">
            <a:avLst>
              <a:gd name="adj" fmla="val 391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359152"/>
            <a:ext cx="6485839" cy="2653928"/>
          </a:xfrm>
          <a:prstGeom prst="rect">
            <a:avLst/>
          </a:prstGeom>
        </p:spPr>
      </p:pic>
      <p:sp>
        <p:nvSpPr>
          <p:cNvPr id="7" name="Caption"/>
          <p:cNvSpPr txBox="1"/>
          <p:nvPr/>
        </p:nvSpPr>
        <p:spPr>
          <a:xfrm>
            <a:off x="548640" y="5195960"/>
            <a:ext cx="6632143" cy="320040"/>
          </a:xfrm>
          <a:prstGeom prst="rect">
            <a:avLst/>
          </a:prstGeom>
          <a:noFill/>
          <a:ln/>
        </p:spPr>
        <p:txBody>
          <a:bodyPr wrap="square" lIns="0" tIns="0" rIns="0" bIns="0" rtlCol="0" anchor="t"/>
          <a:lstStyle/>
          <a:p>
            <a:pPr indent="0" marL="0">
              <a:buNone/>
            </a:pPr>
            <a:r>
              <a:rPr lang="en-US" sz="1400" dirty="0">
                <a:solidFill>
                  <a:schemeClr val="accent4"/>
                </a:solidFill>
              </a:rPr>
              <a:t>Grey: where the hand would go if the arm were locked. Blue: where it went.</a:t>
            </a:r>
            <a:endParaRPr lang="en-US" sz="1400" dirty="0"/>
          </a:p>
        </p:txBody>
      </p:sp>
      <p:graphicFrame>
        <p:nvGraphicFramePr>
          <p:cNvPr id="8" name="Results chart" descr="Bar chart: 71, 63 and 56 percent of backpack motion removed at 0.5, 1.0 and 1.5 m/s"/>
          <p:cNvGraphicFramePr/>
          <p:nvPr/>
        </p:nvGraphicFramePr>
        <p:xfrm>
          <a:off x="7345375" y="2103120"/>
          <a:ext cx="4297680" cy="3593592"/>
        </p:xfrm>
        <a:graphic xmlns:a="http://schemas.openxmlformats.org/drawingml/2006/main">
          <a:graphicData uri="http://schemas.openxmlformats.org/drawingml/2006/chart">
            <c:chart xmlns:c="http://schemas.openxmlformats.org/drawingml/2006/chart" r:id="rId2"/>
          </a:graphicData>
        </a:graphic>
      </p:graphicFrame>
      <p:sp>
        <p:nvSpPr>
          <p:cNvPr id="9" name="Chart note"/>
          <p:cNvSpPr txBox="1"/>
          <p:nvPr/>
        </p:nvSpPr>
        <p:spPr>
          <a:xfrm>
            <a:off x="7482535" y="5715000"/>
            <a:ext cx="4160520" cy="548640"/>
          </a:xfrm>
          <a:prstGeom prst="rect">
            <a:avLst/>
          </a:prstGeom>
          <a:noFill/>
          <a:ln/>
        </p:spPr>
        <p:txBody>
          <a:bodyPr wrap="square" lIns="0" tIns="0" rIns="0" bIns="0" rtlCol="0" anchor="t"/>
          <a:lstStyle/>
          <a:p>
            <a:pPr indent="0" marL="0">
              <a:buNone/>
            </a:pPr>
            <a:r>
              <a:rPr lang="en-US" sz="1600" dirty="0">
                <a:solidFill>
                  <a:schemeClr val="accent4"/>
                </a:solidFill>
              </a:rPr>
              <a:t>Mean of 6 people (4 at 1.5 m/s) · 128 trials, mostly one arm</a:t>
            </a:r>
            <a:endParaRPr lang="en-US" sz="1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Trade-off: planning can never block the 2 ms loop</a:t>
            </a:r>
            <a:endParaRPr lang="en-US" sz="3200" dirty="0"/>
          </a:p>
        </p:txBody>
      </p:sp>
      <p:sp>
        <p:nvSpPr>
          <p:cNvPr id="4" name="Real-time band"/>
          <p:cNvSpPr/>
          <p:nvPr/>
        </p:nvSpPr>
        <p:spPr>
          <a:xfrm>
            <a:off x="548640" y="1783080"/>
            <a:ext cx="11094415" cy="1965960"/>
          </a:xfrm>
          <a:prstGeom prst="roundRect">
            <a:avLst>
              <a:gd name="adj" fmla="val 6512"/>
            </a:avLst>
          </a:prstGeom>
          <a:solidFill>
            <a:schemeClr val="bg2"/>
          </a:solidFill>
          <a:ln/>
        </p:spPr>
      </p:sp>
      <p:sp>
        <p:nvSpPr>
          <p:cNvPr id="5" name="Text 3"/>
          <p:cNvSpPr txBox="1"/>
          <p:nvPr/>
        </p:nvSpPr>
        <p:spPr>
          <a:xfrm>
            <a:off x="777240" y="1874520"/>
            <a:ext cx="45720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REAL-TIME PATH · EVERY 2 ms</a:t>
            </a:r>
            <a:endParaRPr lang="en-US" sz="1400" dirty="0"/>
          </a:p>
        </p:txBody>
      </p:sp>
      <p:sp>
        <p:nvSpPr>
          <p:cNvPr id="6" name="Vicon thread"/>
          <p:cNvSpPr txBox="1"/>
          <p:nvPr/>
        </p:nvSpPr>
        <p:spPr>
          <a:xfrm>
            <a:off x="777240" y="2240280"/>
            <a:ext cx="146304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Vicon thread</a:t>
            </a:r>
            <a:endParaRPr lang="en-US" sz="1800" dirty="0"/>
          </a:p>
          <a:p>
            <a:pPr algn="ctr" indent="0" marL="0">
              <a:buNone/>
            </a:pPr>
            <a:r>
              <a:rPr lang="en-US" sz="1800" b="1" dirty="0">
                <a:solidFill>
                  <a:schemeClr val="tx2"/>
                </a:solidFill>
              </a:rPr>
              <a:t>100 Hz</a:t>
            </a:r>
            <a:endParaRPr lang="en-US" sz="1800" dirty="0"/>
          </a:p>
        </p:txBody>
      </p:sp>
      <p:sp>
        <p:nvSpPr>
          <p:cNvPr id="7" name="Wait-free slot"/>
          <p:cNvSpPr txBox="1"/>
          <p:nvPr/>
        </p:nvSpPr>
        <p:spPr>
          <a:xfrm>
            <a:off x="2514600" y="2240280"/>
            <a:ext cx="1234440" cy="1325880"/>
          </a:xfrm>
          <a:prstGeom prst="roundRect">
            <a:avLst>
              <a:gd name="adj" fmla="val 740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Wait-free</a:t>
            </a:r>
            <a:endParaRPr lang="en-US" sz="1800" dirty="0"/>
          </a:p>
          <a:p>
            <a:pPr algn="ctr" indent="0" marL="0">
              <a:buNone/>
            </a:pPr>
            <a:r>
              <a:rPr lang="en-US" sz="1800" b="1" dirty="0">
                <a:solidFill>
                  <a:schemeClr val="tx2"/>
                </a:solidFill>
              </a:rPr>
              <a:t>slot</a:t>
            </a:r>
            <a:endParaRPr lang="en-US" sz="1800" dirty="0"/>
          </a:p>
        </p:txBody>
      </p:sp>
      <p:sp>
        <p:nvSpPr>
          <p:cNvPr id="8" name="Control core"/>
          <p:cNvSpPr/>
          <p:nvPr/>
        </p:nvSpPr>
        <p:spPr>
          <a:xfrm>
            <a:off x="4023360" y="2240280"/>
            <a:ext cx="4434840" cy="1325880"/>
          </a:xfrm>
          <a:prstGeom prst="roundRect">
            <a:avLst>
              <a:gd name="adj" fmla="val 6897"/>
            </a:avLst>
          </a:prstGeom>
          <a:solidFill>
            <a:schemeClr val="tx2"/>
          </a:solidFill>
          <a:ln/>
          <a:effectLst>
            <a:outerShdw sx="100000" sy="100000" kx="0" ky="0" algn="bl" rotWithShape="0" blurRad="127000" dist="38100" dir="5400000">
              <a:srgbClr val="000000">
                <a:alpha val="18000"/>
              </a:srgbClr>
            </a:outerShdw>
          </a:effectLst>
        </p:spPr>
      </p:sp>
      <p:sp>
        <p:nvSpPr>
          <p:cNvPr id="9" name="Text 7"/>
          <p:cNvSpPr txBox="1"/>
          <p:nvPr/>
        </p:nvSpPr>
        <p:spPr>
          <a:xfrm>
            <a:off x="4023360" y="2331720"/>
            <a:ext cx="4434840" cy="384048"/>
          </a:xfrm>
          <a:prstGeom prst="rect">
            <a:avLst/>
          </a:prstGeom>
          <a:noFill/>
          <a:ln/>
        </p:spPr>
        <p:txBody>
          <a:bodyPr wrap="square" lIns="0" tIns="0" rIns="0" bIns="0" rtlCol="0" anchor="t"/>
          <a:lstStyle/>
          <a:p>
            <a:pPr algn="ctr" indent="0" marL="0">
              <a:buNone/>
            </a:pPr>
            <a:r>
              <a:rPr lang="en-US" sz="2000" b="1" dirty="0">
                <a:solidFill>
                  <a:schemeClr val="bg1"/>
                </a:solidFill>
              </a:rPr>
              <a:t>500 Hz control core</a:t>
            </a:r>
            <a:endParaRPr lang="en-US" sz="2000" dirty="0"/>
          </a:p>
        </p:txBody>
      </p:sp>
      <p:sp>
        <p:nvSpPr>
          <p:cNvPr id="10" name="Core Kinematics"/>
          <p:cNvSpPr txBox="1"/>
          <p:nvPr/>
        </p:nvSpPr>
        <p:spPr>
          <a:xfrm>
            <a:off x="4133088"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Kinematics</a:t>
            </a:r>
            <a:endParaRPr lang="en-US" sz="1600" dirty="0"/>
          </a:p>
        </p:txBody>
      </p:sp>
      <p:sp>
        <p:nvSpPr>
          <p:cNvPr id="11" name="Shape 9"/>
          <p:cNvSpPr/>
          <p:nvPr/>
        </p:nvSpPr>
        <p:spPr>
          <a:xfrm>
            <a:off x="5440680" y="3136392"/>
            <a:ext cx="132588" cy="0"/>
          </a:xfrm>
          <a:prstGeom prst="line">
            <a:avLst/>
          </a:prstGeom>
          <a:noFill/>
          <a:ln w="22225">
            <a:solidFill>
              <a:schemeClr val="bg1"/>
            </a:solidFill>
            <a:prstDash val="solid"/>
            <a:tailEnd type="triangle"/>
          </a:ln>
        </p:spPr>
      </p:sp>
      <p:sp>
        <p:nvSpPr>
          <p:cNvPr id="12" name="Core Control law"/>
          <p:cNvSpPr txBox="1"/>
          <p:nvPr/>
        </p:nvSpPr>
        <p:spPr>
          <a:xfrm>
            <a:off x="5600700"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Control law</a:t>
            </a:r>
            <a:endParaRPr lang="en-US" sz="1600" dirty="0"/>
          </a:p>
        </p:txBody>
      </p:sp>
      <p:sp>
        <p:nvSpPr>
          <p:cNvPr id="13" name="Shape 11"/>
          <p:cNvSpPr/>
          <p:nvPr/>
        </p:nvSpPr>
        <p:spPr>
          <a:xfrm>
            <a:off x="6908292" y="3136392"/>
            <a:ext cx="132588" cy="0"/>
          </a:xfrm>
          <a:prstGeom prst="line">
            <a:avLst/>
          </a:prstGeom>
          <a:noFill/>
          <a:ln w="22225">
            <a:solidFill>
              <a:schemeClr val="bg1"/>
            </a:solidFill>
            <a:prstDash val="solid"/>
            <a:tailEnd type="triangle"/>
          </a:ln>
        </p:spPr>
      </p:sp>
      <p:sp>
        <p:nvSpPr>
          <p:cNvPr id="14" name="Core Clamp + integrate"/>
          <p:cNvSpPr txBox="1"/>
          <p:nvPr/>
        </p:nvSpPr>
        <p:spPr>
          <a:xfrm>
            <a:off x="7068312"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Clamp + integrate</a:t>
            </a:r>
            <a:endParaRPr lang="en-US" sz="1600" dirty="0"/>
          </a:p>
        </p:txBody>
      </p:sp>
      <p:sp>
        <p:nvSpPr>
          <p:cNvPr id="15" name="Kortex"/>
          <p:cNvSpPr txBox="1"/>
          <p:nvPr/>
        </p:nvSpPr>
        <p:spPr>
          <a:xfrm>
            <a:off x="8732520" y="2240280"/>
            <a:ext cx="160020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Kortex cyclic</a:t>
            </a:r>
            <a:endParaRPr lang="en-US" sz="1800" dirty="0"/>
          </a:p>
          <a:p>
            <a:pPr algn="ctr" indent="0" marL="0">
              <a:buNone/>
            </a:pPr>
            <a:r>
              <a:rPr lang="en-US" sz="1800" b="1" dirty="0">
                <a:solidFill>
                  <a:schemeClr val="tx2"/>
                </a:solidFill>
              </a:rPr>
              <a:t>exchange</a:t>
            </a:r>
            <a:endParaRPr lang="en-US" sz="1800" dirty="0"/>
          </a:p>
        </p:txBody>
      </p:sp>
      <p:sp>
        <p:nvSpPr>
          <p:cNvPr id="16" name="Arms"/>
          <p:cNvSpPr txBox="1"/>
          <p:nvPr/>
        </p:nvSpPr>
        <p:spPr>
          <a:xfrm>
            <a:off x="10607040" y="2240280"/>
            <a:ext cx="868680" cy="1325880"/>
          </a:xfrm>
          <a:prstGeom prst="roundRect">
            <a:avLst>
              <a:gd name="adj" fmla="val 10526"/>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Both</a:t>
            </a:r>
            <a:endParaRPr lang="en-US" sz="1800" dirty="0"/>
          </a:p>
          <a:p>
            <a:pPr algn="ctr" indent="0" marL="0">
              <a:buNone/>
            </a:pPr>
            <a:r>
              <a:rPr lang="en-US" sz="1800" b="1" dirty="0">
                <a:solidFill>
                  <a:schemeClr val="tx2"/>
                </a:solidFill>
              </a:rPr>
              <a:t>arms</a:t>
            </a:r>
            <a:endParaRPr lang="en-US" sz="1800" dirty="0"/>
          </a:p>
        </p:txBody>
      </p:sp>
      <p:sp>
        <p:nvSpPr>
          <p:cNvPr id="17" name="Shape 15"/>
          <p:cNvSpPr/>
          <p:nvPr/>
        </p:nvSpPr>
        <p:spPr>
          <a:xfrm>
            <a:off x="2276856" y="2903220"/>
            <a:ext cx="201168" cy="0"/>
          </a:xfrm>
          <a:prstGeom prst="line">
            <a:avLst/>
          </a:prstGeom>
          <a:noFill/>
          <a:ln w="28575">
            <a:solidFill>
              <a:schemeClr val="tx2"/>
            </a:solidFill>
            <a:prstDash val="solid"/>
            <a:tailEnd type="triangle"/>
          </a:ln>
        </p:spPr>
      </p:sp>
      <p:sp>
        <p:nvSpPr>
          <p:cNvPr id="18" name="Shape 16"/>
          <p:cNvSpPr/>
          <p:nvPr/>
        </p:nvSpPr>
        <p:spPr>
          <a:xfrm>
            <a:off x="3785616" y="2903220"/>
            <a:ext cx="201168" cy="0"/>
          </a:xfrm>
          <a:prstGeom prst="line">
            <a:avLst/>
          </a:prstGeom>
          <a:noFill/>
          <a:ln w="28575">
            <a:solidFill>
              <a:schemeClr val="tx2"/>
            </a:solidFill>
            <a:prstDash val="solid"/>
            <a:tailEnd type="triangle"/>
          </a:ln>
        </p:spPr>
      </p:sp>
      <p:sp>
        <p:nvSpPr>
          <p:cNvPr id="19" name="Shape 17"/>
          <p:cNvSpPr/>
          <p:nvPr/>
        </p:nvSpPr>
        <p:spPr>
          <a:xfrm>
            <a:off x="8494776" y="2903220"/>
            <a:ext cx="201168" cy="0"/>
          </a:xfrm>
          <a:prstGeom prst="line">
            <a:avLst/>
          </a:prstGeom>
          <a:noFill/>
          <a:ln w="28575">
            <a:solidFill>
              <a:schemeClr val="tx2"/>
            </a:solidFill>
            <a:prstDash val="solid"/>
            <a:tailEnd type="triangle"/>
          </a:ln>
        </p:spPr>
      </p:sp>
      <p:sp>
        <p:nvSpPr>
          <p:cNvPr id="20" name="Shape 18"/>
          <p:cNvSpPr/>
          <p:nvPr/>
        </p:nvSpPr>
        <p:spPr>
          <a:xfrm>
            <a:off x="10369296" y="2903220"/>
            <a:ext cx="201168" cy="0"/>
          </a:xfrm>
          <a:prstGeom prst="line">
            <a:avLst/>
          </a:prstGeom>
          <a:noFill/>
          <a:ln w="28575">
            <a:solidFill>
              <a:schemeClr val="tx2"/>
            </a:solidFill>
            <a:prstDash val="solid"/>
            <a:tailEnd type="triangle"/>
          </a:ln>
        </p:spPr>
      </p:sp>
      <p:sp>
        <p:nvSpPr>
          <p:cNvPr id="21" name="Planner thread"/>
          <p:cNvSpPr/>
          <p:nvPr/>
        </p:nvSpPr>
        <p:spPr>
          <a:xfrm>
            <a:off x="2651760" y="4160520"/>
            <a:ext cx="6995160" cy="1051560"/>
          </a:xfrm>
          <a:prstGeom prst="roundRect">
            <a:avLst>
              <a:gd name="adj" fmla="val 10435"/>
            </a:avLst>
          </a:prstGeom>
          <a:solidFill>
            <a:schemeClr val="bg1"/>
          </a:solidFill>
          <a:ln w="15875">
            <a:solidFill>
              <a:srgbClr val="9AA3A8"/>
            </a:solidFill>
            <a:prstDash val="dash"/>
          </a:ln>
        </p:spPr>
      </p:sp>
      <p:sp>
        <p:nvSpPr>
          <p:cNvPr id="22" name="Planner label"/>
          <p:cNvSpPr txBox="1"/>
          <p:nvPr/>
        </p:nvSpPr>
        <p:spPr>
          <a:xfrm>
            <a:off x="548640" y="4160520"/>
            <a:ext cx="1920240" cy="1051560"/>
          </a:xfrm>
          <a:prstGeom prst="rect">
            <a:avLst/>
          </a:prstGeom>
          <a:noFill/>
          <a:ln/>
        </p:spPr>
        <p:txBody>
          <a:bodyPr wrap="square" lIns="0" tIns="0" rIns="0" bIns="0" rtlCol="0" anchor="ctr"/>
          <a:lstStyle/>
          <a:p>
            <a:pPr algn="r" indent="0" marL="0">
              <a:buNone/>
            </a:pPr>
            <a:r>
              <a:rPr lang="en-US" sz="1400" b="1" spc="100" kern="0" dirty="0">
                <a:solidFill>
                  <a:schemeClr val="accent4"/>
                </a:solidFill>
              </a:rPr>
              <a:t>PLANNER THREAD</a:t>
            </a:r>
            <a:endParaRPr lang="en-US" sz="1400" dirty="0"/>
          </a:p>
          <a:p>
            <a:pPr algn="r" indent="0" marL="0">
              <a:buNone/>
            </a:pPr>
            <a:r>
              <a:rPr lang="en-US" sz="1400" b="1" spc="100" kern="0" dirty="0">
                <a:solidFill>
                  <a:schemeClr val="accent4"/>
                </a:solidFill>
              </a:rPr>
              <a:t>NOT REAL-TIME</a:t>
            </a:r>
            <a:endParaRPr lang="en-US" sz="1400" dirty="0"/>
          </a:p>
        </p:txBody>
      </p:sp>
      <p:sp>
        <p:nvSpPr>
          <p:cNvPr id="23" name="Planner GPMP2 planner"/>
          <p:cNvSpPr txBox="1"/>
          <p:nvPr/>
        </p:nvSpPr>
        <p:spPr>
          <a:xfrm>
            <a:off x="2834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GPMP2 planner</a:t>
            </a:r>
            <a:endParaRPr lang="en-US" sz="1800" dirty="0"/>
          </a:p>
        </p:txBody>
      </p:sp>
      <p:sp>
        <p:nvSpPr>
          <p:cNvPr id="24" name="Shape 22"/>
          <p:cNvSpPr/>
          <p:nvPr/>
        </p:nvSpPr>
        <p:spPr>
          <a:xfrm>
            <a:off x="4928616" y="4686300"/>
            <a:ext cx="155448" cy="0"/>
          </a:xfrm>
          <a:prstGeom prst="line">
            <a:avLst/>
          </a:prstGeom>
          <a:noFill/>
          <a:ln w="25400">
            <a:solidFill>
              <a:schemeClr val="tx2"/>
            </a:solidFill>
            <a:prstDash val="solid"/>
            <a:tailEnd type="triangle"/>
          </a:ln>
        </p:spPr>
      </p:sp>
      <p:sp>
        <p:nvSpPr>
          <p:cNvPr id="25" name="Planner Validator"/>
          <p:cNvSpPr txBox="1"/>
          <p:nvPr/>
        </p:nvSpPr>
        <p:spPr>
          <a:xfrm>
            <a:off x="5120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Validator</a:t>
            </a:r>
            <a:endParaRPr lang="en-US" sz="1800" dirty="0"/>
          </a:p>
        </p:txBody>
      </p:sp>
      <p:sp>
        <p:nvSpPr>
          <p:cNvPr id="26" name="Shape 24"/>
          <p:cNvSpPr/>
          <p:nvPr/>
        </p:nvSpPr>
        <p:spPr>
          <a:xfrm>
            <a:off x="7214616" y="4686300"/>
            <a:ext cx="155448" cy="0"/>
          </a:xfrm>
          <a:prstGeom prst="line">
            <a:avLst/>
          </a:prstGeom>
          <a:noFill/>
          <a:ln w="25400">
            <a:solidFill>
              <a:schemeClr val="tx2"/>
            </a:solidFill>
            <a:prstDash val="solid"/>
            <a:tailEnd type="triangle"/>
          </a:ln>
        </p:spPr>
      </p:sp>
      <p:sp>
        <p:nvSpPr>
          <p:cNvPr id="27" name="Planner Trajectory mailbox"/>
          <p:cNvSpPr txBox="1"/>
          <p:nvPr/>
        </p:nvSpPr>
        <p:spPr>
          <a:xfrm>
            <a:off x="7406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Trajectory mailbox</a:t>
            </a:r>
            <a:endParaRPr lang="en-US" sz="1800" dirty="0"/>
          </a:p>
        </p:txBody>
      </p:sp>
      <p:sp>
        <p:nvSpPr>
          <p:cNvPr id="28" name="Shape 26"/>
          <p:cNvSpPr/>
          <p:nvPr/>
        </p:nvSpPr>
        <p:spPr>
          <a:xfrm>
            <a:off x="4526280" y="3602736"/>
            <a:ext cx="0" cy="681228"/>
          </a:xfrm>
          <a:prstGeom prst="line">
            <a:avLst/>
          </a:prstGeom>
          <a:noFill/>
          <a:ln w="25400">
            <a:solidFill>
              <a:schemeClr val="tx2"/>
            </a:solidFill>
            <a:prstDash val="solid"/>
            <a:tailEnd type="triangle"/>
          </a:ln>
        </p:spPr>
      </p:sp>
      <p:sp>
        <p:nvSpPr>
          <p:cNvPr id="29" name="Text 27"/>
          <p:cNvSpPr txBox="1"/>
          <p:nvPr/>
        </p:nvSpPr>
        <p:spPr>
          <a:xfrm>
            <a:off x="2834640" y="3799332"/>
            <a:ext cx="1554480" cy="310896"/>
          </a:xfrm>
          <a:prstGeom prst="rect">
            <a:avLst/>
          </a:prstGeom>
          <a:noFill/>
          <a:ln/>
        </p:spPr>
        <p:txBody>
          <a:bodyPr wrap="square" lIns="0" tIns="0" rIns="0" bIns="0" rtlCol="0" anchor="t"/>
          <a:lstStyle/>
          <a:p>
            <a:pPr algn="r" indent="0" marL="0">
              <a:buNone/>
            </a:pPr>
            <a:r>
              <a:rPr lang="en-US" sz="1600" dirty="0">
                <a:solidFill>
                  <a:schemeClr val="accent4"/>
                </a:solidFill>
              </a:rPr>
              <a:t>plan request</a:t>
            </a:r>
            <a:endParaRPr lang="en-US" sz="1600" dirty="0"/>
          </a:p>
        </p:txBody>
      </p:sp>
      <p:sp>
        <p:nvSpPr>
          <p:cNvPr id="30" name="Shape 28"/>
          <p:cNvSpPr/>
          <p:nvPr/>
        </p:nvSpPr>
        <p:spPr>
          <a:xfrm flipV="1">
            <a:off x="8092440" y="3602736"/>
            <a:ext cx="0" cy="681228"/>
          </a:xfrm>
          <a:prstGeom prst="line">
            <a:avLst/>
          </a:prstGeom>
          <a:noFill/>
          <a:ln w="25400">
            <a:solidFill>
              <a:schemeClr val="tx2"/>
            </a:solidFill>
            <a:prstDash val="solid"/>
            <a:tailEnd type="triangle"/>
          </a:ln>
        </p:spPr>
      </p:sp>
      <p:sp>
        <p:nvSpPr>
          <p:cNvPr id="31" name="Text 29"/>
          <p:cNvSpPr txBox="1"/>
          <p:nvPr/>
        </p:nvSpPr>
        <p:spPr>
          <a:xfrm>
            <a:off x="8229600" y="3799332"/>
            <a:ext cx="2194560" cy="310896"/>
          </a:xfrm>
          <a:prstGeom prst="rect">
            <a:avLst/>
          </a:prstGeom>
          <a:noFill/>
          <a:ln/>
        </p:spPr>
        <p:txBody>
          <a:bodyPr wrap="square" lIns="0" tIns="0" rIns="0" bIns="0" rtlCol="0" anchor="t"/>
          <a:lstStyle/>
          <a:p>
            <a:pPr indent="0" marL="0">
              <a:buNone/>
            </a:pPr>
            <a:r>
              <a:rPr lang="en-US" sz="1600" dirty="0">
                <a:solidFill>
                  <a:schemeClr val="accent4"/>
                </a:solidFill>
              </a:rPr>
              <a:t>checked trajectory</a:t>
            </a:r>
            <a:endParaRPr lang="en-US" sz="1600" dirty="0"/>
          </a:p>
        </p:txBody>
      </p:sp>
      <p:sp>
        <p:nvSpPr>
          <p:cNvPr id="32" name="Gain and cost"/>
          <p:cNvSpPr txBox="1"/>
          <p:nvPr/>
        </p:nvSpPr>
        <p:spPr>
          <a:xfrm>
            <a:off x="548640" y="5513832"/>
            <a:ext cx="11094415" cy="566928"/>
          </a:xfrm>
          <a:prstGeom prst="rect">
            <a:avLst/>
          </a:prstGeom>
          <a:noFill/>
          <a:ln/>
        </p:spPr>
        <p:txBody>
          <a:bodyPr wrap="square" lIns="0" tIns="0" rIns="0" bIns="0" rtlCol="0" anchor="t"/>
          <a:lstStyle/>
          <a:p>
            <a:pPr indent="0" marL="0">
              <a:buNone/>
            </a:pPr>
            <a:r>
              <a:rPr lang="en-US" sz="1800" b="1" dirty="0">
                <a:solidFill>
                  <a:schemeClr val="tx2"/>
                </a:solidFill>
              </a:rPr>
              <a:t>Gain: </a:t>
            </a:r>
            <a:pPr indent="0" marL="0">
              <a:buNone/>
            </a:pPr>
            <a:r>
              <a:rPr lang="en-US" sz="1800" dirty="0">
                <a:solidFill>
                  <a:schemeClr val="tx1"/>
                </a:solidFill>
              </a:rPr>
              <a:t>the 2 ms loop never waits on Vicon or the planner.</a:t>
            </a:r>
            <a:endParaRPr lang="en-US" sz="1800" dirty="0"/>
          </a:p>
          <a:p>
            <a:pPr indent="0" marL="0">
              <a:buNone/>
            </a:pPr>
            <a:r>
              <a:rPr lang="en-US" sz="1800" b="1" dirty="0">
                <a:solidFill>
                  <a:schemeClr val="tx2"/>
                </a:solidFill>
              </a:rPr>
              <a:t>Cost: </a:t>
            </a:r>
            <a:pPr indent="0" marL="0">
              <a:buNone/>
            </a:pPr>
            <a:r>
              <a:rPr lang="en-US" sz="1800" dirty="0">
                <a:solidFill>
                  <a:schemeClr val="tx1"/>
                </a:solidFill>
              </a:rPr>
              <a:t>a new plan starts later, only after it passes the validator.</a:t>
            </a:r>
            <a:endParaRPr lang="en-US" sz="1800" dirty="0"/>
          </a:p>
        </p:txBody>
      </p:sp>
      <p:sp>
        <p:nvSpPr>
          <p:cNvPr id="33" name="Caption"/>
          <p:cNvSpPr txBox="1"/>
          <p:nvPr/>
        </p:nvSpPr>
        <p:spPr>
          <a:xfrm>
            <a:off x="548640" y="6117336"/>
            <a:ext cx="11094415" cy="256032"/>
          </a:xfrm>
          <a:prstGeom prst="rect">
            <a:avLst/>
          </a:prstGeom>
          <a:noFill/>
          <a:ln/>
        </p:spPr>
        <p:txBody>
          <a:bodyPr wrap="square" lIns="0" tIns="0" rIns="0" bIns="0" rtlCol="0" anchor="t"/>
          <a:lstStyle/>
          <a:p>
            <a:pPr indent="0" marL="0">
              <a:buNone/>
            </a:pPr>
            <a:r>
              <a:rPr lang="en-US" sz="1400" dirty="0">
                <a:solidFill>
                  <a:schemeClr val="accent4"/>
                </a:solidFill>
              </a:rPr>
              <a:t>My C++ controller (HumanSL_MAIN); a MuJoCo twin runs the same core.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Compare 1"/>
          <p:cNvSpPr txBox="1"/>
          <p:nvPr/>
        </p:nvSpPr>
        <p:spPr>
          <a:xfrm>
            <a:off x="16610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4"/>
                </a:solidFill>
              </a:rPr>
              <a:t>38%</a:t>
            </a:r>
            <a:endParaRPr lang="en-US" sz="9600" dirty="0"/>
          </a:p>
        </p:txBody>
      </p:sp>
      <p:sp>
        <p:nvSpPr>
          <p:cNvPr id="5" name="Compare 1 label"/>
          <p:cNvSpPr txBox="1"/>
          <p:nvPr/>
        </p:nvSpPr>
        <p:spPr>
          <a:xfrm>
            <a:off x="16610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predicted drop near 1 Hz</a:t>
            </a:r>
            <a:endParaRPr lang="en-US" sz="2200" dirty="0"/>
          </a:p>
        </p:txBody>
      </p:sp>
      <p:sp>
        <p:nvSpPr>
          <p:cNvPr id="6" name="Compare 2"/>
          <p:cNvSpPr txBox="1"/>
          <p:nvPr/>
        </p:nvSpPr>
        <p:spPr>
          <a:xfrm>
            <a:off x="66902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3"/>
                </a:solidFill>
              </a:rPr>
              <a:t>9%</a:t>
            </a:r>
            <a:endParaRPr lang="en-US" sz="9600" dirty="0"/>
          </a:p>
        </p:txBody>
      </p:sp>
      <p:sp>
        <p:nvSpPr>
          <p:cNvPr id="7" name="Compare 2 label"/>
          <p:cNvSpPr txBox="1"/>
          <p:nvPr/>
        </p:nvSpPr>
        <p:spPr>
          <a:xfrm>
            <a:off x="66902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measured drop near 1 Hz</a:t>
            </a:r>
            <a:endParaRPr lang="en-US" sz="2200" dirty="0"/>
          </a:p>
        </p:txBody>
      </p:sp>
      <p:sp>
        <p:nvSpPr>
          <p:cNvPr id="8" name="Text 6"/>
          <p:cNvSpPr txBox="1"/>
          <p:nvPr/>
        </p:nvSpPr>
        <p:spPr>
          <a:xfrm>
            <a:off x="5547208" y="2194560"/>
            <a:ext cx="1097280" cy="1417320"/>
          </a:xfrm>
          <a:prstGeom prst="rect">
            <a:avLst/>
          </a:prstGeom>
          <a:noFill/>
          <a:ln/>
        </p:spPr>
        <p:txBody>
          <a:bodyPr wrap="square" lIns="0" tIns="0" rIns="0" bIns="0" rtlCol="0" anchor="ctr"/>
          <a:lstStyle/>
          <a:p>
            <a:pPr algn="ctr" indent="0" marL="0">
              <a:buNone/>
            </a:pPr>
            <a:r>
              <a:rPr lang="en-US" sz="2800" dirty="0">
                <a:solidFill>
                  <a:schemeClr val="accent4"/>
                </a:solidFill>
              </a:rPr>
              <a:t>vs</a:t>
            </a:r>
            <a:endParaRPr lang="en-US" sz="2800" dirty="0"/>
          </a:p>
        </p:txBody>
      </p:sp>
      <p:sp>
        <p:nvSpPr>
          <p:cNvPr id="9" name="Pilot"/>
          <p:cNvSpPr txBox="1"/>
          <p:nvPr/>
        </p:nvSpPr>
        <p:spPr>
          <a:xfrm>
            <a:off x="548640" y="4526280"/>
            <a:ext cx="11094415" cy="411480"/>
          </a:xfrm>
          <a:prstGeom prst="rect">
            <a:avLst/>
          </a:prstGeom>
          <a:noFill/>
          <a:ln/>
        </p:spPr>
        <p:txBody>
          <a:bodyPr wrap="square" lIns="0" tIns="0" rIns="0" bIns="0" rtlCol="0" anchor="t"/>
          <a:lstStyle/>
          <a:p>
            <a:pPr algn="ctr" indent="0" marL="0">
              <a:buNone/>
            </a:pPr>
            <a:r>
              <a:rPr lang="en-US" sz="2200" dirty="0">
                <a:solidFill>
                  <a:schemeClr val="accent4"/>
                </a:solidFill>
              </a:rPr>
              <a:t>Pilot, one wearer: velocity gain Kd raised 0.8 → 2.6</a:t>
            </a:r>
            <a:endParaRPr lang="en-US" sz="2200" dirty="0"/>
          </a:p>
        </p:txBody>
      </p:sp>
      <p:sp>
        <p:nvSpPr>
          <p:cNvPr id="10" name="Takeaway"/>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3200" b="1" dirty="0">
                <a:solidFill>
                  <a:schemeClr val="tx2"/>
                </a:solidFill>
              </a:rPr>
              <a:t>The velocity term was barely acting. Why?</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Best explanation: the velocity arrives 61–71 ms late</a:t>
            </a:r>
            <a:endParaRPr lang="en-US" sz="3200" dirty="0"/>
          </a:p>
        </p:txBody>
      </p:sp>
      <p:sp>
        <p:nvSpPr>
          <p:cNvPr id="4" name="Kalman lag (36 ms)"/>
          <p:cNvSpPr/>
          <p:nvPr/>
        </p:nvSpPr>
        <p:spPr>
          <a:xfrm>
            <a:off x="548640" y="2103120"/>
            <a:ext cx="4136797" cy="1005840"/>
          </a:xfrm>
          <a:prstGeom prst="rect">
            <a:avLst/>
          </a:prstGeom>
          <a:solidFill>
            <a:schemeClr val="accent3"/>
          </a:solidFill>
          <a:ln/>
        </p:spPr>
      </p:sp>
      <p:pic>
        <p:nvPicPr>
          <p:cNvPr id="5" name="Kalman lag fade (36-46 ms)" descr="Kalman lag range, 36 to 46 ms">    </p:cNvPr>
          <p:cNvPicPr>
            <a:picLocks noChangeAspect="1"/>
          </p:cNvPicPr>
          <p:nvPr/>
        </p:nvPicPr>
        <p:blipFill>
          <a:blip r:embed="rId1"/>
          <a:stretch>
            <a:fillRect/>
          </a:stretch>
        </p:blipFill>
        <p:spPr>
          <a:xfrm>
            <a:off x="4667149" y="2103120"/>
            <a:ext cx="1144030" cy="1005840"/>
          </a:xfrm>
          <a:prstGeom prst="rect">
            <a:avLst/>
          </a:prstGeom>
        </p:spPr>
      </p:pic>
      <p:sp>
        <p:nvSpPr>
          <p:cNvPr id="6" name="Kalman label"/>
          <p:cNvSpPr txBox="1"/>
          <p:nvPr/>
        </p:nvSpPr>
        <p:spPr>
          <a:xfrm>
            <a:off x="548640" y="2103120"/>
            <a:ext cx="5262539" cy="100584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7" name="Delay segment sensing"/>
          <p:cNvSpPr/>
          <p:nvPr/>
        </p:nvSpPr>
        <p:spPr>
          <a:xfrm>
            <a:off x="5811179" y="2103120"/>
            <a:ext cx="1144030" cy="1005840"/>
          </a:xfrm>
          <a:prstGeom prst="rect">
            <a:avLst/>
          </a:prstGeom>
          <a:solidFill>
            <a:schemeClr val="accent3">
              <a:alpha val="75000"/>
            </a:schemeClr>
          </a:solidFill>
          <a:ln/>
        </p:spPr>
      </p:sp>
      <p:sp>
        <p:nvSpPr>
          <p:cNvPr id="8" name="Delay divider 1"/>
          <p:cNvSpPr/>
          <p:nvPr/>
        </p:nvSpPr>
        <p:spPr>
          <a:xfrm>
            <a:off x="5811179" y="2103120"/>
            <a:ext cx="0" cy="1005840"/>
          </a:xfrm>
          <a:prstGeom prst="line">
            <a:avLst/>
          </a:prstGeom>
          <a:noFill/>
          <a:ln w="31750">
            <a:solidFill>
              <a:schemeClr val="bg1"/>
            </a:solidFill>
            <a:prstDash val="solid"/>
          </a:ln>
        </p:spPr>
      </p:sp>
      <p:sp>
        <p:nvSpPr>
          <p:cNvPr id="9" name="Text 6"/>
          <p:cNvSpPr txBox="1"/>
          <p:nvPr/>
        </p:nvSpPr>
        <p:spPr>
          <a:xfrm>
            <a:off x="5811179" y="2103120"/>
            <a:ext cx="1144030" cy="100584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10" name="Delay segment joints"/>
          <p:cNvSpPr/>
          <p:nvPr/>
        </p:nvSpPr>
        <p:spPr>
          <a:xfrm>
            <a:off x="6955210" y="2103120"/>
            <a:ext cx="1716045" cy="1005840"/>
          </a:xfrm>
          <a:prstGeom prst="rect">
            <a:avLst/>
          </a:prstGeom>
          <a:solidFill>
            <a:schemeClr val="accent3">
              <a:alpha val="55000"/>
            </a:schemeClr>
          </a:solidFill>
          <a:ln/>
        </p:spPr>
      </p:sp>
      <p:sp>
        <p:nvSpPr>
          <p:cNvPr id="11" name="Delay divider 2"/>
          <p:cNvSpPr/>
          <p:nvPr/>
        </p:nvSpPr>
        <p:spPr>
          <a:xfrm>
            <a:off x="6955210" y="2103120"/>
            <a:ext cx="0" cy="1005840"/>
          </a:xfrm>
          <a:prstGeom prst="line">
            <a:avLst/>
          </a:prstGeom>
          <a:noFill/>
          <a:ln w="31750">
            <a:solidFill>
              <a:schemeClr val="bg1"/>
            </a:solidFill>
            <a:prstDash val="solid"/>
          </a:ln>
        </p:spPr>
      </p:sp>
      <p:sp>
        <p:nvSpPr>
          <p:cNvPr id="12" name="Text 9"/>
          <p:cNvSpPr txBox="1"/>
          <p:nvPr/>
        </p:nvSpPr>
        <p:spPr>
          <a:xfrm>
            <a:off x="6955210" y="2103120"/>
            <a:ext cx="1716045" cy="100584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3" name="Delay total"/>
          <p:cNvSpPr txBox="1"/>
          <p:nvPr/>
        </p:nvSpPr>
        <p:spPr>
          <a:xfrm>
            <a:off x="8899855" y="2103120"/>
            <a:ext cx="2743200" cy="1005840"/>
          </a:xfrm>
          <a:prstGeom prst="rect">
            <a:avLst/>
          </a:prstGeom>
          <a:noFill/>
          <a:ln/>
        </p:spPr>
        <p:txBody>
          <a:bodyPr wrap="square" lIns="0" tIns="0" rIns="0" bIns="0" rtlCol="0" anchor="ctr"/>
          <a:lstStyle/>
          <a:p>
            <a:pPr indent="0" marL="0">
              <a:buNone/>
            </a:pPr>
            <a:r>
              <a:rPr lang="en-US" sz="3600" b="1" dirty="0">
                <a:solidFill>
                  <a:schemeClr val="accent3"/>
                </a:solidFill>
              </a:rPr>
              <a:t>= 61–71 ms</a:t>
            </a:r>
            <a:endParaRPr lang="en-US" sz="3600" dirty="0"/>
          </a:p>
        </p:txBody>
      </p:sp>
      <p:sp>
        <p:nvSpPr>
          <p:cNvPr id="14" name="Delay formula"/>
          <p:cNvSpPr txBox="1"/>
          <p:nvPr/>
        </p:nvSpPr>
        <p:spPr>
          <a:xfrm>
            <a:off x="548640" y="365760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share of velocity left uncancelled =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15" name="Formula key"/>
          <p:cNvSpPr txBox="1"/>
          <p:nvPr/>
        </p:nvSpPr>
        <p:spPr>
          <a:xfrm>
            <a:off x="548640" y="4343400"/>
            <a:ext cx="11094415" cy="292608"/>
          </a:xfrm>
          <a:prstGeom prst="rect">
            <a:avLst/>
          </a:prstGeom>
          <a:noFill/>
          <a:ln/>
        </p:spPr>
        <p:txBody>
          <a:bodyPr wrap="square" lIns="0" tIns="0" rIns="0" bIns="0" rtlCol="0" anchor="t"/>
          <a:lstStyle/>
          <a:p>
            <a:pPr indent="0" marL="0">
              <a:buNone/>
            </a:pPr>
            <a:r>
              <a:rPr lang="en-US" sz="1600" dirty="0">
                <a:solidFill>
                  <a:schemeClr val="accent4"/>
                </a:solidFill>
              </a:rPr>
              <a:t>ω = 2π × step frequency · d: delay</a:t>
            </a:r>
            <a:endParaRPr lang="en-US" sz="1600" dirty="0"/>
          </a:p>
        </p:txBody>
      </p:sp>
      <p:sp>
        <p:nvSpPr>
          <p:cNvPr id="16" name="Formula gloss"/>
          <p:cNvSpPr txBox="1"/>
          <p:nvPr/>
        </p:nvSpPr>
        <p:spPr>
          <a:xfrm>
            <a:off x="548640" y="4846320"/>
            <a:ext cx="11094415" cy="457200"/>
          </a:xfrm>
          <a:prstGeom prst="rect">
            <a:avLst/>
          </a:prstGeom>
          <a:noFill/>
          <a:ln/>
        </p:spPr>
        <p:txBody>
          <a:bodyPr wrap="square" lIns="0" tIns="0" rIns="0" bIns="0" rtlCol="0" anchor="t"/>
          <a:lstStyle/>
          <a:p>
            <a:pPr indent="0" marL="0">
              <a:buNone/>
            </a:pPr>
            <a:r>
              <a:rPr lang="en-US" sz="2400" dirty="0">
                <a:solidFill>
                  <a:schemeClr val="tx1"/>
                </a:solidFill>
              </a:rPr>
              <a:t>Steps at 1.8 Hz, 60 ms late: the velocity is off by </a:t>
            </a:r>
            <a:pPr indent="0" marL="0">
              <a:buNone/>
            </a:pPr>
            <a:r>
              <a:rPr lang="en-US" sz="2400" b="1" dirty="0">
                <a:solidFill>
                  <a:schemeClr val="accent3"/>
                </a:solidFill>
              </a:rPr>
              <a:t>two-thirds</a:t>
            </a:r>
            <a:pPr indent="0" marL="0">
              <a:buNone/>
            </a:pPr>
            <a:r>
              <a:rPr lang="en-US" sz="2400" dirty="0">
                <a:solidFill>
                  <a:schemeClr val="tx1"/>
                </a:solidFill>
              </a:rPr>
              <a:t> of its own size.</a:t>
            </a:r>
            <a:endParaRPr lang="en-US" sz="2400" dirty="0"/>
          </a:p>
        </p:txBody>
      </p:sp>
      <p:sp>
        <p:nvSpPr>
          <p:cNvPr id="17" name="Evidence"/>
          <p:cNvSpPr txBox="1"/>
          <p:nvPr/>
        </p:nvSpPr>
        <p:spPr>
          <a:xfrm>
            <a:off x="548640" y="5532120"/>
            <a:ext cx="11094415" cy="411480"/>
          </a:xfrm>
          <a:prstGeom prst="rect">
            <a:avLst/>
          </a:prstGeom>
          <a:noFill/>
          <a:ln/>
        </p:spPr>
        <p:txBody>
          <a:bodyPr wrap="square" lIns="0" tIns="0" rIns="0" bIns="0" rtlCol="0" anchor="t"/>
          <a:lstStyle/>
          <a:p>
            <a:pPr indent="0" marL="0">
              <a:buNone/>
            </a:pPr>
            <a:r>
              <a:rPr lang="en-US" sz="2000" dirty="0">
                <a:solidFill>
                  <a:schemeClr val="accent4"/>
                </a:solidFill>
              </a:rPr>
              <a:t>Measured delay, nothing fitted: it beats a no-velocity model in 6 of 6 people.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transfers</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1051560"/>
          </a:xfrm>
          <a:prstGeom prst="rect">
            <a:avLst/>
          </a:prstGeom>
          <a:noFill/>
          <a:ln/>
        </p:spPr>
        <p:txBody>
          <a:bodyPr wrap="square" lIns="0" tIns="0" rIns="0" bIns="0" rtlCol="0" anchor="t"/>
          <a:lstStyle/>
          <a:p>
            <a:pPr indent="0" marL="0">
              <a:buNone/>
            </a:pPr>
            <a:r>
              <a:rPr lang="en-US" sz="2200" dirty="0">
                <a:solidFill>
                  <a:schemeClr val="bg1"/>
                </a:solidFill>
              </a:rPr>
              <a:t>of walking motion removed on real arms, worn by 7 people</a:t>
            </a:r>
            <a:endParaRPr lang="en-US" sz="2200" dirty="0"/>
          </a:p>
          <a:p>
            <a:pPr indent="0" marL="0">
              <a:buNone/>
            </a:pPr>
            <a:r>
              <a:rPr lang="en-US" sz="2200" dirty="0">
                <a:solidFill>
                  <a:schemeClr val="bg1"/>
                </a:solidFill>
              </a:rPr>
              <a:t>(56–71%)</a:t>
            </a:r>
            <a:endParaRPr lang="en-US" sz="2200" dirty="0"/>
          </a:p>
        </p:txBody>
      </p:sp>
      <p:sp>
        <p:nvSpPr>
          <p:cNvPr id="7" name="Found-why panel"/>
          <p:cNvSpPr/>
          <p:nvPr/>
        </p:nvSpPr>
        <p:spPr>
          <a:xfrm>
            <a:off x="777240" y="4800600"/>
            <a:ext cx="4480560" cy="1188720"/>
          </a:xfrm>
          <a:prstGeom prst="roundRect">
            <a:avLst>
              <a:gd name="adj" fmla="val 7692"/>
            </a:avLst>
          </a:prstGeom>
          <a:solidFill>
            <a:schemeClr val="accent1"/>
          </a:solidFill>
          <a:ln/>
        </p:spPr>
      </p:sp>
      <p:sp>
        <p:nvSpPr>
          <p:cNvPr id="8" name="Found why"/>
          <p:cNvSpPr txBox="1"/>
          <p:nvPr/>
        </p:nvSpPr>
        <p:spPr>
          <a:xfrm>
            <a:off x="1005840" y="4800600"/>
            <a:ext cx="4023360" cy="1188720"/>
          </a:xfrm>
          <a:prstGeom prst="rect">
            <a:avLst/>
          </a:prstGeom>
          <a:noFill/>
          <a:ln/>
        </p:spPr>
        <p:txBody>
          <a:bodyPr wrap="square" lIns="0" tIns="0" rIns="0" bIns="0" rtlCol="0" anchor="ctr"/>
          <a:lstStyle/>
          <a:p>
            <a:pPr indent="0" marL="0">
              <a:buNone/>
            </a:pPr>
            <a:r>
              <a:rPr lang="en-US" sz="2000" b="1" dirty="0">
                <a:solidFill>
                  <a:schemeClr val="bg1"/>
                </a:solidFill>
              </a:rPr>
              <a:t>Diagnosed from data: </a:t>
            </a:r>
            <a:pPr indent="0" marL="0">
              <a:buNone/>
            </a:pPr>
            <a:r>
              <a:rPr lang="en-US" sz="2000" dirty="0">
                <a:solidFill>
                  <a:schemeClr val="bg1"/>
                </a:solidFill>
              </a:rPr>
              <a:t>a 61–71 ms velocity delay. </a:t>
            </a:r>
            <a:pPr indent="0" marL="0">
              <a:buNone/>
            </a:pPr>
            <a:r>
              <a:rPr lang="en-US" sz="2000" b="1" dirty="0">
                <a:solidFill>
                  <a:schemeClr val="bg1"/>
                </a:solidFill>
              </a:rPr>
              <a:t>Next test: </a:t>
            </a:r>
            <a:pPr indent="0" marL="0">
              <a:buNone/>
            </a:pPr>
            <a:r>
              <a:rPr lang="en-US" sz="2000" dirty="0">
                <a:solidFill>
                  <a:schemeClr val="bg1"/>
                </a:solidFill>
              </a:rPr>
              <a:t>change the estimator.</a:t>
            </a:r>
            <a:endParaRPr lang="en-US" sz="2000" dirty="0"/>
          </a:p>
        </p:txBody>
      </p:sp>
      <p:sp>
        <p:nvSpPr>
          <p:cNvPr id="9" name="Transfers heading"/>
          <p:cNvSpPr txBox="1"/>
          <p:nvPr/>
        </p:nvSpPr>
        <p:spPr>
          <a:xfrm>
            <a:off x="6035040" y="1828800"/>
            <a:ext cx="5608015" cy="457200"/>
          </a:xfrm>
          <a:prstGeom prst="rect">
            <a:avLst/>
          </a:prstGeom>
          <a:noFill/>
          <a:ln/>
        </p:spPr>
        <p:txBody>
          <a:bodyPr wrap="square" lIns="0" tIns="0" rIns="0" bIns="0" rtlCol="0" anchor="t"/>
          <a:lstStyle/>
          <a:p>
            <a:pPr indent="0" marL="0">
              <a:buNone/>
            </a:pPr>
            <a:r>
              <a:rPr lang="en-US" sz="2600" b="1" dirty="0">
                <a:solidFill>
                  <a:schemeClr val="tx2"/>
                </a:solidFill>
              </a:rPr>
              <a:t>What transfers</a:t>
            </a:r>
            <a:endParaRPr lang="en-US" sz="2600" dirty="0"/>
          </a:p>
        </p:txBody>
      </p:sp>
      <p:sp>
        <p:nvSpPr>
          <p:cNvPr id="10" name="Transfer dot 1"/>
          <p:cNvSpPr/>
          <p:nvPr/>
        </p:nvSpPr>
        <p:spPr>
          <a:xfrm>
            <a:off x="6035040" y="2624328"/>
            <a:ext cx="274320" cy="274320"/>
          </a:xfrm>
          <a:prstGeom prst="ellipse">
            <a:avLst/>
          </a:prstGeom>
          <a:solidFill>
            <a:schemeClr val="accent2"/>
          </a:solidFill>
          <a:ln/>
        </p:spPr>
      </p:sp>
      <p:sp>
        <p:nvSpPr>
          <p:cNvPr id="11" name="Transfer 1"/>
          <p:cNvSpPr txBox="1"/>
          <p:nvPr/>
        </p:nvSpPr>
        <p:spPr>
          <a:xfrm>
            <a:off x="6537960" y="2560320"/>
            <a:ext cx="5105095" cy="960120"/>
          </a:xfrm>
          <a:prstGeom prst="rect">
            <a:avLst/>
          </a:prstGeom>
          <a:noFill/>
          <a:ln/>
        </p:spPr>
        <p:txBody>
          <a:bodyPr wrap="square" lIns="0" tIns="0" rIns="0" bIns="0" rtlCol="0" anchor="t"/>
          <a:lstStyle/>
          <a:p>
            <a:pPr indent="0" marL="0">
              <a:buNone/>
            </a:pPr>
            <a:r>
              <a:rPr lang="en-US" sz="2200" b="1" dirty="0">
                <a:solidFill>
                  <a:schemeClr val="tx2"/>
                </a:solidFill>
              </a:rPr>
              <a:t>3D frames and calibration: </a:t>
            </a:r>
            <a:pPr indent="0" marL="0">
              <a:buNone/>
            </a:pPr>
            <a:r>
              <a:rPr lang="en-US" sz="2200" dirty="0">
                <a:solidFill>
                  <a:schemeClr val="tx1"/>
                </a:solidFill>
              </a:rPr>
              <a:t>the same maths as camera extrinsics</a:t>
            </a:r>
            <a:endParaRPr lang="en-US" sz="2200" dirty="0"/>
          </a:p>
        </p:txBody>
      </p:sp>
      <p:sp>
        <p:nvSpPr>
          <p:cNvPr id="12" name="Transfer dot 2"/>
          <p:cNvSpPr/>
          <p:nvPr/>
        </p:nvSpPr>
        <p:spPr>
          <a:xfrm>
            <a:off x="6035040" y="3813048"/>
            <a:ext cx="274320" cy="274320"/>
          </a:xfrm>
          <a:prstGeom prst="ellipse">
            <a:avLst/>
          </a:prstGeom>
          <a:solidFill>
            <a:schemeClr val="accent1"/>
          </a:solidFill>
          <a:ln/>
        </p:spPr>
      </p:sp>
      <p:sp>
        <p:nvSpPr>
          <p:cNvPr id="13" name="Transfer 2"/>
          <p:cNvSpPr txBox="1"/>
          <p:nvPr/>
        </p:nvSpPr>
        <p:spPr>
          <a:xfrm>
            <a:off x="6537960" y="3749040"/>
            <a:ext cx="5105095" cy="960120"/>
          </a:xfrm>
          <a:prstGeom prst="rect">
            <a:avLst/>
          </a:prstGeom>
          <a:noFill/>
          <a:ln/>
        </p:spPr>
        <p:txBody>
          <a:bodyPr wrap="square" lIns="0" tIns="0" rIns="0" bIns="0" rtlCol="0" anchor="t"/>
          <a:lstStyle/>
          <a:p>
            <a:pPr indent="0" marL="0">
              <a:buNone/>
            </a:pPr>
            <a:r>
              <a:rPr lang="en-US" sz="2200" b="1" dirty="0">
                <a:solidFill>
                  <a:schemeClr val="tx2"/>
                </a:solidFill>
              </a:rPr>
              <a:t>Latency budgets: </a:t>
            </a:r>
            <a:pPr indent="0" marL="0">
              <a:buNone/>
            </a:pPr>
            <a:r>
              <a:rPr lang="en-US" sz="2200" dirty="0">
                <a:solidFill>
                  <a:schemeClr val="tx1"/>
                </a:solidFill>
              </a:rPr>
              <a:t>time-align sensors before tuning anything</a:t>
            </a:r>
            <a:endParaRPr lang="en-US" sz="2200" dirty="0"/>
          </a:p>
        </p:txBody>
      </p:sp>
      <p:sp>
        <p:nvSpPr>
          <p:cNvPr id="14" name="Transfer dot 3"/>
          <p:cNvSpPr/>
          <p:nvPr/>
        </p:nvSpPr>
        <p:spPr>
          <a:xfrm>
            <a:off x="6035040" y="5001768"/>
            <a:ext cx="274320" cy="274320"/>
          </a:xfrm>
          <a:prstGeom prst="ellipse">
            <a:avLst/>
          </a:prstGeom>
          <a:solidFill>
            <a:schemeClr val="accent1"/>
          </a:solidFill>
          <a:ln/>
        </p:spPr>
      </p:sp>
      <p:sp>
        <p:nvSpPr>
          <p:cNvPr id="15" name="Transfer 3"/>
          <p:cNvSpPr txBox="1"/>
          <p:nvPr/>
        </p:nvSpPr>
        <p:spPr>
          <a:xfrm>
            <a:off x="6537960" y="4937760"/>
            <a:ext cx="5105095" cy="960120"/>
          </a:xfrm>
          <a:prstGeom prst="rect">
            <a:avLst/>
          </a:prstGeom>
          <a:noFill/>
          <a:ln/>
        </p:spPr>
        <p:txBody>
          <a:bodyPr wrap="square" lIns="0" tIns="0" rIns="0" bIns="0" rtlCol="0" anchor="t"/>
          <a:lstStyle/>
          <a:p>
            <a:pPr indent="0" marL="0">
              <a:buNone/>
            </a:pPr>
            <a:r>
              <a:rPr lang="en-US" sz="2200" b="1" dirty="0">
                <a:solidFill>
                  <a:schemeClr val="tx2"/>
                </a:solidFill>
              </a:rPr>
              <a:t>Validate the metric first: </a:t>
            </a:r>
            <a:pPr indent="0" marL="0">
              <a:buNone/>
            </a:pPr>
            <a:r>
              <a:rPr lang="en-US" sz="2200" dirty="0">
                <a:solidFill>
                  <a:schemeClr val="tx1"/>
                </a:solidFill>
              </a:rPr>
              <a:t>0.5% check against ground truth</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control loop (simulation)</a:t>
            </a:r>
            <a:endParaRPr lang="en-US" sz="3200" dirty="0"/>
          </a:p>
        </p:txBody>
      </p:sp>
      <p:sp>
        <p:nvSpPr>
          <p:cNvPr id="3" name="Frame control_loop.png"/>
          <p:cNvSpPr/>
          <p:nvPr/>
        </p:nvSpPr>
        <p:spPr>
          <a:xfrm>
            <a:off x="2806019" y="1783080"/>
            <a:ext cx="6579657"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control_loop.png" descr="Block diagram of the control loop">    </p:cNvPr>
          <p:cNvPicPr>
            <a:picLocks noChangeAspect="1"/>
          </p:cNvPicPr>
          <p:nvPr/>
        </p:nvPicPr>
        <p:blipFill>
          <a:blip r:embed="rId1"/>
          <a:stretch>
            <a:fillRect/>
          </a:stretch>
        </p:blipFill>
        <p:spPr>
          <a:xfrm>
            <a:off x="2879171" y="1856232"/>
            <a:ext cx="6433353"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Per cycle, every 2 ms in simulation. Orange dashes: feedforward (simulation only).</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frequency response, 1.0 m/s</a:t>
            </a:r>
            <a:endParaRPr lang="en-US" sz="3200" dirty="0"/>
          </a:p>
        </p:txBody>
      </p:sp>
      <p:sp>
        <p:nvSpPr>
          <p:cNvPr id="3" name="Frame hw_rejection_bc.png"/>
          <p:cNvSpPr/>
          <p:nvPr/>
        </p:nvSpPr>
        <p:spPr>
          <a:xfrm>
            <a:off x="3923732" y="1783080"/>
            <a:ext cx="4344231" cy="3840480"/>
          </a:xfrm>
          <a:prstGeom prst="roundRect">
            <a:avLst>
              <a:gd name="adj" fmla="val 285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hw_rejection_bc.png" descr="Frequency response at 1.0 m/s: measured and three models">    </p:cNvPr>
          <p:cNvPicPr>
            <a:picLocks noChangeAspect="1"/>
          </p:cNvPicPr>
          <p:nvPr/>
        </p:nvPicPr>
        <p:blipFill>
          <a:blip r:embed="rId1"/>
          <a:stretch>
            <a:fillRect/>
          </a:stretch>
        </p:blipFill>
        <p:spPr>
          <a:xfrm>
            <a:off x="3996884" y="1856232"/>
            <a:ext cx="4197927" cy="3694176"/>
          </a:xfrm>
          <a:prstGeom prst="rect">
            <a:avLst/>
          </a:prstGeom>
        </p:spPr>
      </p:pic>
      <p:sp>
        <p:nvSpPr>
          <p:cNvPr id="5" name="Caption"/>
          <p:cNvSpPr txBox="1"/>
          <p:nvPr/>
        </p:nvSpPr>
        <p:spPr>
          <a:xfrm>
            <a:off x="548640" y="5751576"/>
            <a:ext cx="11094415" cy="502920"/>
          </a:xfrm>
          <a:prstGeom prst="rect">
            <a:avLst/>
          </a:prstGeom>
          <a:noFill/>
          <a:ln/>
        </p:spPr>
        <p:txBody>
          <a:bodyPr wrap="square" lIns="0" tIns="0" rIns="0" bIns="0" rtlCol="0" anchor="t"/>
          <a:lstStyle/>
          <a:p>
            <a:pPr algn="ctr" indent="0" marL="0">
              <a:buNone/>
            </a:pPr>
            <a:r>
              <a:rPr lang="en-US" sz="1400" dirty="0">
                <a:solidFill>
                  <a:schemeClr val="accent4"/>
                </a:solidFill>
              </a:rPr>
              <a:t>Median of 6 people. In amplitude (top), measured follows the no-velocity model (dotted). Green: late-velocity model, delay fitted per person (65–90 ms). Lower = more removed.</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simulation, error vs delay</a:t>
            </a:r>
            <a:endParaRPr lang="en-US" sz="3200" dirty="0"/>
          </a:p>
        </p:txBody>
      </p:sp>
      <p:sp>
        <p:nvSpPr>
          <p:cNvPr id="3" name="Frame velocity_delay.png"/>
          <p:cNvSpPr/>
          <p:nvPr/>
        </p:nvSpPr>
        <p:spPr>
          <a:xfrm>
            <a:off x="1270102" y="1783080"/>
            <a:ext cx="9651492"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velocity_delay.png" descr="Simulation: hand error against delay on the velocity signal">    </p:cNvPr>
          <p:cNvPicPr>
            <a:picLocks noChangeAspect="1"/>
          </p:cNvPicPr>
          <p:nvPr/>
        </p:nvPicPr>
        <p:blipFill>
          <a:blip r:embed="rId1"/>
          <a:stretch>
            <a:fillRect/>
          </a:stretch>
        </p:blipFill>
        <p:spPr>
          <a:xfrm>
            <a:off x="1343254" y="1856232"/>
            <a:ext cx="9505188"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Velocity signal delayed on purpose, 1.8 Hz. Grey band: the delay measured on hardware.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limits the data showed</a:t>
            </a:r>
            <a:endParaRPr lang="en-US" sz="3200" dirty="0"/>
          </a:p>
        </p:txBody>
      </p:sp>
      <p:sp>
        <p:nvSpPr>
          <p:cNvPr id="3" name="Limit Re-planning"/>
          <p:cNvSpPr txBox="1"/>
          <p:nvPr/>
        </p:nvSpPr>
        <p:spPr>
          <a:xfrm>
            <a:off x="548640" y="205740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Re-planning</a:t>
            </a:r>
            <a:endParaRPr lang="en-US" sz="2200" dirty="0"/>
          </a:p>
        </p:txBody>
      </p:sp>
      <p:sp>
        <p:nvSpPr>
          <p:cNvPr id="4" name="Limit 1 text"/>
          <p:cNvSpPr txBox="1"/>
          <p:nvPr/>
        </p:nvSpPr>
        <p:spPr>
          <a:xfrm>
            <a:off x="3474720" y="2057400"/>
            <a:ext cx="8168335" cy="960120"/>
          </a:xfrm>
          <a:prstGeom prst="rect">
            <a:avLst/>
          </a:prstGeom>
          <a:noFill/>
          <a:ln/>
        </p:spPr>
        <p:txBody>
          <a:bodyPr wrap="square" lIns="0" tIns="0" rIns="0" bIns="0" rtlCol="0" anchor="ctr"/>
          <a:lstStyle/>
          <a:p>
            <a:pPr indent="0" marL="0">
              <a:buNone/>
            </a:pPr>
            <a:r>
              <a:rPr lang="en-US" sz="2200" dirty="0">
                <a:solidFill>
                  <a:schemeClr val="tx1"/>
                </a:solidFill>
              </a:rPr>
              <a:t>12 of 128 trials: the planner moved the target &gt; 100 mm; those had the most hand motion → a planner setting</a:t>
            </a:r>
            <a:endParaRPr lang="en-US" sz="2200" dirty="0"/>
          </a:p>
        </p:txBody>
      </p:sp>
      <p:sp>
        <p:nvSpPr>
          <p:cNvPr id="5" name="Limit Joint speed"/>
          <p:cNvSpPr txBox="1"/>
          <p:nvPr/>
        </p:nvSpPr>
        <p:spPr>
          <a:xfrm>
            <a:off x="548640" y="338328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Joint speed</a:t>
            </a:r>
            <a:endParaRPr lang="en-US" sz="2200" dirty="0"/>
          </a:p>
        </p:txBody>
      </p:sp>
      <p:sp>
        <p:nvSpPr>
          <p:cNvPr id="6" name="Limit 2 text"/>
          <p:cNvSpPr txBox="1"/>
          <p:nvPr/>
        </p:nvSpPr>
        <p:spPr>
          <a:xfrm>
            <a:off x="3474720" y="3383280"/>
            <a:ext cx="8168335" cy="960120"/>
          </a:xfrm>
          <a:prstGeom prst="rect">
            <a:avLst/>
          </a:prstGeom>
          <a:noFill/>
          <a:ln/>
        </p:spPr>
        <p:txBody>
          <a:bodyPr wrap="square" lIns="0" tIns="0" rIns="0" bIns="0" rtlCol="0" anchor="ctr"/>
          <a:lstStyle/>
          <a:p>
            <a:pPr indent="0" marL="0">
              <a:buNone/>
            </a:pPr>
            <a:r>
              <a:rPr lang="en-US" sz="2200" dirty="0">
                <a:solidFill>
                  <a:schemeClr val="tx1"/>
                </a:solidFill>
              </a:rPr>
              <a:t>at 1.5 m/s a joint at its limit 32% of the time, mostly wrist (~10% at slower walking speeds)</a:t>
            </a:r>
            <a:endParaRPr lang="en-US" sz="2200" dirty="0"/>
          </a:p>
        </p:txBody>
      </p:sp>
      <p:sp>
        <p:nvSpPr>
          <p:cNvPr id="7" name="Limit Fixed offset"/>
          <p:cNvSpPr txBox="1"/>
          <p:nvPr/>
        </p:nvSpPr>
        <p:spPr>
          <a:xfrm>
            <a:off x="548640" y="470916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Fixed offset</a:t>
            </a:r>
            <a:endParaRPr lang="en-US" sz="2200" dirty="0"/>
          </a:p>
        </p:txBody>
      </p:sp>
      <p:sp>
        <p:nvSpPr>
          <p:cNvPr id="8" name="Limit 3 text"/>
          <p:cNvSpPr txBox="1"/>
          <p:nvPr/>
        </p:nvSpPr>
        <p:spPr>
          <a:xfrm>
            <a:off x="3474720" y="4709160"/>
            <a:ext cx="8168335" cy="960120"/>
          </a:xfrm>
          <a:prstGeom prst="rect">
            <a:avLst/>
          </a:prstGeom>
          <a:noFill/>
          <a:ln/>
        </p:spPr>
        <p:txBody>
          <a:bodyPr wrap="square" lIns="0" tIns="0" rIns="0" bIns="0" rtlCol="0" anchor="ctr"/>
          <a:lstStyle/>
          <a:p>
            <a:pPr indent="0" marL="0">
              <a:buNone/>
            </a:pPr>
            <a:r>
              <a:rPr lang="en-US" sz="2200" dirty="0">
                <a:solidFill>
                  <a:schemeClr val="tx1"/>
                </a:solidFill>
              </a:rPr>
              <a:t>constant 18–21 mm from the goal follows model-vs-Vicon disagreement → calibration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pitching and swaying platform</a:t>
            </a:r>
            <a:endParaRPr lang="en-US" sz="3200" dirty="0"/>
          </a:p>
        </p:txBody>
      </p:sp>
      <p:sp>
        <p:nvSpPr>
          <p:cNvPr id="3" name="Platform stat"/>
          <p:cNvSpPr txBox="1"/>
          <p:nvPr/>
        </p:nvSpPr>
        <p:spPr>
          <a:xfrm>
            <a:off x="548640" y="2148840"/>
            <a:ext cx="4572000" cy="1463040"/>
          </a:xfrm>
          <a:prstGeom prst="rect">
            <a:avLst/>
          </a:prstGeom>
          <a:noFill/>
          <a:ln/>
        </p:spPr>
        <p:txBody>
          <a:bodyPr wrap="square" lIns="0" tIns="0" rIns="0" bIns="0" rtlCol="0" anchor="ctr"/>
          <a:lstStyle/>
          <a:p>
            <a:pPr indent="0" marL="0">
              <a:buNone/>
            </a:pPr>
            <a:r>
              <a:rPr lang="en-US" sz="11000" b="1" dirty="0">
                <a:solidFill>
                  <a:schemeClr val="accent1"/>
                </a:solidFill>
              </a:rPr>
              <a:t>78%</a:t>
            </a:r>
            <a:endParaRPr lang="en-US" sz="11000" dirty="0"/>
          </a:p>
        </p:txBody>
      </p:sp>
      <p:sp>
        <p:nvSpPr>
          <p:cNvPr id="4" name="Text 2"/>
          <p:cNvSpPr txBox="1"/>
          <p:nvPr/>
        </p:nvSpPr>
        <p:spPr>
          <a:xfrm>
            <a:off x="548640" y="3657600"/>
            <a:ext cx="5669280" cy="457200"/>
          </a:xfrm>
          <a:prstGeom prst="rect">
            <a:avLst/>
          </a:prstGeom>
          <a:noFill/>
          <a:ln/>
        </p:spPr>
        <p:txBody>
          <a:bodyPr wrap="square" lIns="0" tIns="0" rIns="0" bIns="0" rtlCol="0" anchor="t"/>
          <a:lstStyle/>
          <a:p>
            <a:pPr indent="0" marL="0">
              <a:buNone/>
            </a:pPr>
            <a:r>
              <a:rPr lang="en-US" sz="2400" dirty="0">
                <a:solidFill>
                  <a:schemeClr val="tx1"/>
                </a:solidFill>
              </a:rPr>
              <a:t>of platform motion removed (5 people)</a:t>
            </a:r>
            <a:endParaRPr lang="en-US" sz="2400" dirty="0"/>
          </a:p>
        </p:txBody>
      </p:sp>
      <p:sp>
        <p:nvSpPr>
          <p:cNvPr id="5" name="Text 3"/>
          <p:cNvSpPr txBox="1"/>
          <p:nvPr/>
        </p:nvSpPr>
        <p:spPr>
          <a:xfrm>
            <a:off x="6400800" y="2286000"/>
            <a:ext cx="5242255" cy="365760"/>
          </a:xfrm>
          <a:prstGeom prst="rect">
            <a:avLst/>
          </a:prstGeom>
          <a:noFill/>
          <a:ln/>
        </p:spPr>
        <p:txBody>
          <a:bodyPr wrap="square" lIns="0" tIns="0" rIns="0" bIns="0" rtlCol="0" anchor="t"/>
          <a:lstStyle/>
          <a:p>
            <a:pPr indent="0" marL="0">
              <a:buNone/>
            </a:pPr>
            <a:r>
              <a:rPr lang="en-US" sz="1800" b="1" dirty="0">
                <a:solidFill>
                  <a:schemeClr val="accent4"/>
                </a:solidFill>
              </a:rPr>
              <a:t>Locked arm → hand, RMS</a:t>
            </a:r>
            <a:endParaRPr lang="en-US" sz="1800" dirty="0"/>
          </a:p>
        </p:txBody>
      </p:sp>
      <p:sp>
        <p:nvSpPr>
          <p:cNvPr id="6" name="Text 4"/>
          <p:cNvSpPr txBox="1"/>
          <p:nvPr/>
        </p:nvSpPr>
        <p:spPr>
          <a:xfrm>
            <a:off x="6400800" y="2743200"/>
            <a:ext cx="5242255" cy="1280160"/>
          </a:xfrm>
          <a:prstGeom prst="rect">
            <a:avLst/>
          </a:prstGeom>
          <a:noFill/>
          <a:ln/>
        </p:spPr>
        <p:txBody>
          <a:bodyPr wrap="square" lIns="0" tIns="0" rIns="0" bIns="0" rtlCol="0" anchor="t"/>
          <a:lstStyle/>
          <a:p>
            <a:pPr indent="0" marL="0">
              <a:spcAft>
                <a:spcPts val="1000"/>
              </a:spcAft>
              <a:buNone/>
            </a:pPr>
            <a:r>
              <a:rPr lang="en-US" sz="3200" b="1" dirty="0">
                <a:solidFill>
                  <a:schemeClr val="tx2"/>
                </a:solidFill>
              </a:rPr>
              <a:t>Pitch: 94 mm → 14 mm</a:t>
            </a:r>
            <a:endParaRPr lang="en-US" sz="3200" dirty="0"/>
          </a:p>
          <a:p>
            <a:pPr indent="0" marL="0">
              <a:spcAft>
                <a:spcPts val="1000"/>
              </a:spcAft>
              <a:buNone/>
            </a:pPr>
            <a:r>
              <a:rPr lang="en-US" sz="3200" b="1" dirty="0">
                <a:solidFill>
                  <a:schemeClr val="tx2"/>
                </a:solidFill>
              </a:rPr>
              <a:t>Sway: 81 mm → 17 mm</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rig</a:t>
            </a:r>
            <a:endParaRPr lang="en-US" sz="3200" dirty="0"/>
          </a:p>
        </p:txBody>
      </p:sp>
      <p:sp>
        <p:nvSpPr>
          <p:cNvPr id="3" name="Frame rig.jpg"/>
          <p:cNvSpPr/>
          <p:nvPr/>
        </p:nvSpPr>
        <p:spPr>
          <a:xfrm>
            <a:off x="3483788" y="1783080"/>
            <a:ext cx="5224120"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rig.jpg" descr="Two robot arms on a backpack worn by a person on a treadmill">    </p:cNvPr>
          <p:cNvPicPr>
            <a:picLocks noChangeAspect="1"/>
          </p:cNvPicPr>
          <p:nvPr/>
        </p:nvPicPr>
        <p:blipFill>
          <a:blip r:embed="rId1"/>
          <a:stretch>
            <a:fillRect/>
          </a:stretch>
        </p:blipFill>
        <p:spPr>
          <a:xfrm>
            <a:off x="3556940" y="1856232"/>
            <a:ext cx="5077816"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Two Kinova Gen3 arms on a backpack (mount); Vicon cameras around the treadmill.</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2026-10-11T23:51:42Z</dcterms:created>
  <dcterms:modified xsi:type="dcterms:W3CDTF">2026-10-11T23:51:42Z</dcterms:modified>
</cp:coreProperties>
</file>