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7b4bd5-70c6-23b4-a92d-f7d339949c38}">
          <p14:sldIdLst>
            <p14:sldId id="256"/>
          </p14:sldIdLst>
        </p14:section>
        <p14:section name="Problem" id="{4ebf8c01-0c11-e053-469e-e5a4ee7a6ee4}">
          <p14:sldIdLst>
            <p14:sldId id="257"/>
          </p14:sldIdLst>
        </p14:section>
        <p14:section name="Approach &amp; solution" id="{ca1b1136-d38a-7f2d-dac8-e477daa560f9}">
          <p14:sldIdLst>
            <p14:sldId id="258"/>
            <p14:sldId id="259"/>
            <p14:sldId id="260"/>
            <p14:sldId id="261"/>
          </p14:sldIdLst>
        </p14:section>
        <p14:section name="Trade-offs &amp; challenges" id="{8bdb7b8b-0c22-961b-9700-625d88d5ffaf}">
          <p14:sldIdLst>
            <p14:sldId id="262"/>
            <p14:sldId id="263"/>
          </p14:sldIdLst>
        </p14:section>
        <p14:section name="Impact" id="{8264779b-61e8-7fe8-c4a7-8ea735b21760}">
          <p14:sldIdLst>
            <p14:sldId id="264"/>
          </p14:sldIdLst>
        </p14:section>
        <p14:section name="Close" id="{db9067cd-cd03-8f39-2fcf-9002c23a0ff9}">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0:30] Imagine wearing two extra robot arms on your back and asking them to hold something still while you walk. Every step shakes them. I'm Christian Akabueze, and this was my MSc project at Imperial, in the MUVE Lab. In this clip the wearer twists about sixty degrees. The elbows swing; the hands barely move. It works, mostly. This talk is about the part that didn't, and why the obvious fix did almost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1:15] The arms are two Kinova Gen3 robots, seven joints each, on a backpack. Motion-capture cameras around the room, a Vicon system, track the backpack. An arm you wear is an extra pair of hands, until you take a step: anything it holds moves with you. With the arms locked, the hands move 63 to 68 millimetres on average, at every walking speed we tried. Steps come about 1.8 times a second, so this is fast, repeating motion, not slow drift. Remember that number, 1.8 steps a second. It comes back. So the goal is to hold each hand fixed in the room, not on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2:05] The idea is a chain of coordinate frames. The cameras give me where the backpack is in the room. The arm's base sits at a fixed, known spot on the backpack. The joint angles then place the hand relative to that base. Chain the three and I know where the hand is in the room, and how each joint moves the hand. On top sits a feedback controller on the error in the room: how far the hand is from its spot, and how fast it's drifting. That gets turned into joint speeds, staying smooth near awkward poses. The same law runs in my simulation, my C++ controller, and the lab controller used in the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2:45] Before hardware, I tested my Python controller in MuJoCo, a physics engine, with the backpack following a walking-like motion at 1.8 steps a second. Same motion three times. Arms locked: 31 millimetres of error. My controller: 6.7. Add feedforward, which tells the controller how the backpack is moving: 2.6. So knowing the backpack's velocity is worth a lot. Hold on to that, because on real hardware, getting that velocity on time turns out to be the hard part. The sim is stiffer than the rig, so read trends, not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3:35] The first problem on real hardware wasn't accuracy. It was shaking. The camera signal is noisy, and fed straight in, the arm vibrated. Unusable. So I added a Kalman filter, a smoothing filter, to estimate the backpack's position and speed cleanly, and the shaking stopped. But a filter buys smoothness with time. Its estimate comes out late, so the position built from it is late too. So I fight the delay with the speed itself: if I know how fast the backpack is moving, I can predict its position a short step into the future and cancel part of the lag. The filter pushes me into the past; the prediction pulls me back toward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4:30] Seven participants wore the arms on a treadmill at 0.5, 1 and 1.5 metres per second. The controller ran 400 times a second on the lab machine, with no feedforward; the trial analysis is mine. To score a trial, I replay what a locked arm would have done and compare it with the real hand: the percent removed is how much less the hand moved than the locked arm would have. On arms that weren't being controlled, that locked model is right to within half a percent. Averaged over six of the seven people: 71 percent removed at slow walking, 63 at normal, 56 at fast, across 128 walking trials. On a pitching, swaying platform, 78 percent. But notice the trend. The faster you walk, the less it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5:20] So where does the missing third go? I split the motion by how fast it repeats. Slow sway, about once every four seconds: 85 percent cancelled. The bounce of each step, twice a second: only 29. That's a speed problem, and the textbook answer is to react harder to velocity. Turn up the velocity gain. In a pilot with one wearer, I raised it from 0.8 to 2.6, more than three times. My model said the response near the stride rate would drop by 38 percent. It dropped by 9. And across six people, the arm behaves like a model with no velocity term at all, as if the velocity wasn't there. That's when I stopped tuning and started asking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6:35] I traced the velocity signal end to end. Remember the prediction: it uses the velocity to pull the position back toward now. But nothing pulls the velocity itself forward. The smoothing filter's velocity estimate trails the real motion by 36 to 46 milliseconds. The camera measurement is about 10 milliseconds old, and the joints take about 15 to respond. In total, the velocity is 61 to 71 milliseconds late. A late velocity has the right size but the wrong timing, so subtracting it doesn't cancel the real one. The leftover is two times the sine of half the timing error, measured as an angle of the step cycle. At 1.8 steps a second and 60 milliseconds, that's two-thirds of the velocity, wrong. And it explains the trend: walk faster, steps come quicker, and the same delay costs more. With the measured delay and nothing fitted, the full model matches the hardware better than the no-velocity model in six of six people. Confirming it directly means changing the speed estimate on hardware. That's the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7:50] On real arms worn by seven people, the controller removes about two-thirds of walking motion: 56 to 71 percent, depending on speed. The part I'm proudest of is the diagnosis. When tuning stopped helping, I traced it in the data to a 61 to 71 millisecond delay. That sets the order of what comes next. First, a faster velocity estimate. Only then feedforward: in simulation with no delay it cut the error from 6.7 to 2.6 millimetres, but at 60 milliseconds it loses that advantage, to around 8. I also wrote my own real-time controller in C++ for this rig, built so the path planner can never block the 2 millisecond control loop. With what I know now, I can see the same weak spot there: its own smoothing filter adds about 45 milliseconds of lag at step frequency, so the speed estimate is the next piece there too. The lesson I'd carry to any robot that sees through sensors: measure every delay in the chain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8:00] Thank you. The code and results are on GitHub; the links are on the slide.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0-1.png"/><Relationship Id="rId4" Type="http://schemas.openxmlformats.org/officeDocument/2006/relationships/image" Target="../media/image-10-2.png"/><Relationship Id="rId8" Type="http://schemas.openxmlformats.org/officeDocument/2006/relationships/slideLayout" Target="../slideLayouts/slideLayout4.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06040"/>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679192"/>
            <a:ext cx="4837176" cy="3301898"/>
          </a:xfrm>
          <a:prstGeom prst="rect">
            <a:avLst/>
          </a:prstGeom>
        </p:spPr>
      </p:pic>
      <p:sp>
        <p:nvSpPr>
          <p:cNvPr id="6" name="Caption"/>
          <p:cNvSpPr txBox="1"/>
          <p:nvPr/>
        </p:nvSpPr>
        <p:spPr>
          <a:xfrm>
            <a:off x="6659575" y="6127394"/>
            <a:ext cx="4983480" cy="274320"/>
          </a:xfrm>
          <a:prstGeom prst="rect">
            <a:avLst/>
          </a:prstGeom>
          <a:noFill/>
          <a:ln/>
        </p:spPr>
        <p:txBody>
          <a:bodyPr wrap="square" lIns="0" tIns="0" rIns="0" bIns="0" rtlCol="0" anchor="t"/>
          <a:lstStyle/>
          <a:p>
            <a:pPr indent="0" marL="0">
              <a:buNone/>
            </a:pPr>
            <a:r>
              <a:rPr lang="en-US" sz="1600" dirty="0">
                <a:solidFill>
                  <a:schemeClr val="bg1"/>
                </a:solidFill>
              </a:rPr>
              <a:t>Watch the hands, not the elbows.</a:t>
            </a:r>
            <a:endParaRPr lang="en-US" sz="1600" dirty="0"/>
          </a:p>
        </p:txBody>
      </p:sp>
      <p:sp>
        <p:nvSpPr>
          <p:cNvPr id="7" name="Presenter"/>
          <p:cNvSpPr txBox="1"/>
          <p:nvPr/>
        </p:nvSpPr>
        <p:spPr>
          <a:xfrm>
            <a:off x="548640" y="3735781"/>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Stat 63–68 mm"/>
          <p:cNvSpPr txBox="1"/>
          <p:nvPr/>
        </p:nvSpPr>
        <p:spPr>
          <a:xfrm>
            <a:off x="4045347" y="214884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63–68 mm</a:t>
            </a:r>
            <a:endParaRPr lang="en-US" sz="8000" dirty="0"/>
          </a:p>
        </p:txBody>
      </p:sp>
      <p:sp>
        <p:nvSpPr>
          <p:cNvPr id="7" name="Stat 63–68 mm label"/>
          <p:cNvSpPr txBox="1"/>
          <p:nvPr/>
        </p:nvSpPr>
        <p:spPr>
          <a:xfrm>
            <a:off x="4045347" y="325526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hand motion, arm locked (average)</a:t>
            </a:r>
            <a:endParaRPr lang="en-US" sz="2400" dirty="0"/>
          </a:p>
        </p:txBody>
      </p:sp>
      <p:sp>
        <p:nvSpPr>
          <p:cNvPr id="8" name="Stat ~1.8 Hz"/>
          <p:cNvSpPr txBox="1"/>
          <p:nvPr/>
        </p:nvSpPr>
        <p:spPr>
          <a:xfrm>
            <a:off x="4045347" y="379476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~1.8 Hz</a:t>
            </a:r>
            <a:endParaRPr lang="en-US" sz="8000" dirty="0"/>
          </a:p>
        </p:txBody>
      </p:sp>
      <p:sp>
        <p:nvSpPr>
          <p:cNvPr id="9" name="Stat ~1.8 Hz label"/>
          <p:cNvSpPr txBox="1"/>
          <p:nvPr/>
        </p:nvSpPr>
        <p:spPr>
          <a:xfrm>
            <a:off x="4045347" y="490118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steps per second</a:t>
            </a:r>
            <a:endParaRPr lang="en-US" sz="2400" dirty="0"/>
          </a:p>
        </p:txBody>
      </p:sp>
      <p:sp>
        <p:nvSpPr>
          <p:cNvPr id="10" name="Goal"/>
          <p:cNvSpPr txBox="1"/>
          <p:nvPr/>
        </p:nvSpPr>
        <p:spPr>
          <a:xfrm>
            <a:off x="4045347" y="5943600"/>
            <a:ext cx="7597709" cy="457200"/>
          </a:xfrm>
          <a:prstGeom prst="rect">
            <a:avLst/>
          </a:prstGeom>
          <a:noFill/>
          <a:ln/>
        </p:spPr>
        <p:txBody>
          <a:bodyPr wrap="square" lIns="0" tIns="0" rIns="0" bIns="0" rtlCol="0" anchor="b"/>
          <a:lstStyle/>
          <a:p>
            <a:pPr indent="0" marL="0">
              <a:buNone/>
            </a:pPr>
            <a:r>
              <a:rPr lang="en-US" sz="2600" b="1" dirty="0">
                <a:solidFill>
                  <a:schemeClr val="tx2"/>
                </a:solidFill>
              </a:rPr>
              <a:t>Goal: hands fixed in the room, not the body</a:t>
            </a:r>
            <a:endParaRPr lang="en-US" sz="2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World</a:t>
            </a:r>
            <a:endParaRPr lang="en-US" sz="2400" dirty="0"/>
          </a:p>
        </p:txBody>
      </p:sp>
      <p:sp>
        <p:nvSpPr>
          <p:cNvPr id="5" name="Frame Backpack"/>
          <p:cNvSpPr txBox="1"/>
          <p:nvPr/>
        </p:nvSpPr>
        <p:spPr>
          <a:xfrm>
            <a:off x="3545738"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Backpack</a:t>
            </a:r>
            <a:endParaRPr lang="en-US" sz="2400" dirty="0"/>
          </a:p>
        </p:txBody>
      </p:sp>
      <p:sp>
        <p:nvSpPr>
          <p:cNvPr id="6" name="Frame Arm base"/>
          <p:cNvSpPr txBox="1"/>
          <p:nvPr/>
        </p:nvSpPr>
        <p:spPr>
          <a:xfrm>
            <a:off x="6542837"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Arm base</a:t>
            </a:r>
            <a:endParaRPr lang="en-US" sz="2400" dirty="0"/>
          </a:p>
        </p:txBody>
      </p:sp>
      <p:sp>
        <p:nvSpPr>
          <p:cNvPr id="7" name="Frame Hand"/>
          <p:cNvSpPr txBox="1"/>
          <p:nvPr/>
        </p:nvSpPr>
        <p:spPr>
          <a:xfrm>
            <a:off x="9539935"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Hand</a:t>
            </a:r>
            <a:endParaRPr lang="en-US" sz="2400" dirty="0"/>
          </a:p>
        </p:txBody>
      </p:sp>
      <p:sp>
        <p:nvSpPr>
          <p:cNvPr id="8" name="Shape 6"/>
          <p:cNvSpPr/>
          <p:nvPr/>
        </p:nvSpPr>
        <p:spPr>
          <a:xfrm>
            <a:off x="2724912" y="2400300"/>
            <a:ext cx="747674" cy="0"/>
          </a:xfrm>
          <a:prstGeom prst="line">
            <a:avLst/>
          </a:prstGeom>
          <a:noFill/>
          <a:ln w="28575">
            <a:solidFill>
              <a:schemeClr val="tx2"/>
            </a:solidFill>
            <a:prstDash val="solid"/>
            <a:tailEnd type="triangle"/>
          </a:ln>
        </p:spPr>
      </p:sp>
      <p:sp>
        <p:nvSpPr>
          <p:cNvPr id="9" name="Edge Vicon, live"/>
          <p:cNvSpPr txBox="1"/>
          <p:nvPr/>
        </p:nvSpPr>
        <p:spPr>
          <a:xfrm>
            <a:off x="1727149" y="3127248"/>
            <a:ext cx="2743200" cy="594360"/>
          </a:xfrm>
          <a:prstGeom prst="roundRect">
            <a:avLst>
              <a:gd name="adj" fmla="val 18462"/>
            </a:avLst>
          </a:prstGeom>
          <a:solidFill>
            <a:schemeClr val="accent2"/>
          </a:solidFill>
          <a:ln/>
        </p:spPr>
        <p:txBody>
          <a:bodyPr wrap="square" lIns="508" tIns="508" rIns="508" bIns="508" rtlCol="0" anchor="ctr"/>
          <a:lstStyle/>
          <a:p>
            <a:pPr algn="ctr" indent="0" marL="0">
              <a:buNone/>
            </a:pPr>
            <a:r>
              <a:rPr lang="en-US" sz="2000" b="1" dirty="0">
                <a:solidFill>
                  <a:schemeClr val="bg1"/>
                </a:solidFill>
              </a:rPr>
              <a:t>Vicon, live</a:t>
            </a:r>
            <a:endParaRPr lang="en-US" sz="2000" dirty="0"/>
          </a:p>
        </p:txBody>
      </p:sp>
      <p:sp>
        <p:nvSpPr>
          <p:cNvPr id="10" name="Shape 8"/>
          <p:cNvSpPr/>
          <p:nvPr/>
        </p:nvSpPr>
        <p:spPr>
          <a:xfrm>
            <a:off x="5722010" y="2400300"/>
            <a:ext cx="747674" cy="0"/>
          </a:xfrm>
          <a:prstGeom prst="line">
            <a:avLst/>
          </a:prstGeom>
          <a:noFill/>
          <a:ln w="28575">
            <a:solidFill>
              <a:schemeClr val="tx2"/>
            </a:solidFill>
            <a:prstDash val="solid"/>
            <a:tailEnd type="triangle"/>
          </a:ln>
        </p:spPr>
      </p:sp>
      <p:sp>
        <p:nvSpPr>
          <p:cNvPr id="11" name="Edge fixed offset"/>
          <p:cNvSpPr txBox="1"/>
          <p:nvPr/>
        </p:nvSpPr>
        <p:spPr>
          <a:xfrm>
            <a:off x="4724248" y="3127248"/>
            <a:ext cx="2743200" cy="594360"/>
          </a:xfrm>
          <a:prstGeom prst="roundRect">
            <a:avLst>
              <a:gd name="adj" fmla="val 18462"/>
            </a:avLst>
          </a:prstGeom>
          <a:solidFill>
            <a:schemeClr val="bg2"/>
          </a:solidFill>
          <a:ln/>
        </p:spPr>
        <p:txBody>
          <a:bodyPr wrap="square" lIns="508" tIns="508" rIns="508" bIns="508" rtlCol="0" anchor="ctr"/>
          <a:lstStyle/>
          <a:p>
            <a:pPr algn="ctr" indent="0" marL="0">
              <a:buNone/>
            </a:pPr>
            <a:r>
              <a:rPr lang="en-US" sz="2000" b="1" dirty="0">
                <a:solidFill>
                  <a:schemeClr val="tx2"/>
                </a:solidFill>
              </a:rPr>
              <a:t>fixed offset</a:t>
            </a:r>
            <a:endParaRPr lang="en-US" sz="2000" dirty="0"/>
          </a:p>
        </p:txBody>
      </p:sp>
      <p:sp>
        <p:nvSpPr>
          <p:cNvPr id="12" name="Shape 10"/>
          <p:cNvSpPr/>
          <p:nvPr/>
        </p:nvSpPr>
        <p:spPr>
          <a:xfrm>
            <a:off x="8719109" y="2400300"/>
            <a:ext cx="747674" cy="0"/>
          </a:xfrm>
          <a:prstGeom prst="line">
            <a:avLst/>
          </a:prstGeom>
          <a:noFill/>
          <a:ln w="28575">
            <a:solidFill>
              <a:schemeClr val="tx2"/>
            </a:solidFill>
            <a:prstDash val="solid"/>
            <a:tailEnd type="triangle"/>
          </a:ln>
        </p:spPr>
      </p:sp>
      <p:sp>
        <p:nvSpPr>
          <p:cNvPr id="13" name="Edge joint angles"/>
          <p:cNvSpPr txBox="1"/>
          <p:nvPr/>
        </p:nvSpPr>
        <p:spPr>
          <a:xfrm>
            <a:off x="7721346" y="3127248"/>
            <a:ext cx="2743200" cy="594360"/>
          </a:xfrm>
          <a:prstGeom prst="roundRect">
            <a:avLst>
              <a:gd name="adj" fmla="val 18462"/>
            </a:avLst>
          </a:prstGeom>
          <a:solidFill>
            <a:schemeClr val="accent5"/>
          </a:solidFill>
          <a:ln/>
        </p:spPr>
        <p:txBody>
          <a:bodyPr wrap="square" lIns="508" tIns="508" rIns="508" bIns="508" rtlCol="0" anchor="ctr"/>
          <a:lstStyle/>
          <a:p>
            <a:pPr algn="ctr" indent="0" marL="0">
              <a:buNone/>
            </a:pPr>
            <a:r>
              <a:rPr lang="en-US" sz="2000" b="1" dirty="0">
                <a:solidFill>
                  <a:schemeClr val="tx2"/>
                </a:solidFill>
              </a:rPr>
              <a:t>joint angles</a:t>
            </a:r>
            <a:endParaRPr lang="en-US" sz="2000" dirty="0"/>
          </a:p>
        </p:txBody>
      </p:sp>
      <p:sp>
        <p:nvSpPr>
          <p:cNvPr id="14" name="Equation card"/>
          <p:cNvSpPr/>
          <p:nvPr/>
        </p:nvSpPr>
        <p:spPr>
          <a:xfrm>
            <a:off x="548640" y="4069080"/>
            <a:ext cx="11094415" cy="1097280"/>
          </a:xfrm>
          <a:prstGeom prst="roundRect">
            <a:avLst>
              <a:gd name="adj" fmla="val 11667"/>
            </a:avLst>
          </a:prstGeom>
          <a:solidFill>
            <a:schemeClr val="bg2"/>
          </a:solidFill>
          <a:ln/>
        </p:spPr>
      </p:sp>
      <p:sp>
        <p:nvSpPr>
          <p:cNvPr id="15" name="Control law"/>
          <p:cNvSpPr txBox="1"/>
          <p:nvPr/>
        </p:nvSpPr>
        <p:spPr>
          <a:xfrm>
            <a:off x="548640" y="4069080"/>
            <a:ext cx="11094415" cy="1097280"/>
          </a:xfrm>
          <a:prstGeom prst="rect">
            <a:avLst/>
          </a:prstGeom>
          <a:noFill/>
          <a:ln/>
        </p:spPr>
        <p:txBody>
          <a:bodyPr wrap="square" lIns="0" tIns="0" rIns="0" bIns="0" rtlCol="0" anchor="ctr"/>
          <a:lstStyle/>
          <a:p>
            <a:pPr algn="ctr" indent="0" marL="0">
              <a:buNone/>
            </a:pPr>
            <a:r>
              <a:rPr lang="en-US" sz="4400" b="1" dirty="0">
                <a:solidFill>
                  <a:schemeClr val="tx2"/>
                </a:solidFill>
              </a:rPr>
              <a:t>q̇ = </a:t>
            </a:r>
            <a:pPr algn="ctr" indent="0" marL="0">
              <a:buNone/>
            </a:pPr>
            <a:r>
              <a:rPr lang="en-US" sz="4400" b="1" dirty="0">
                <a:solidFill>
                  <a:schemeClr val="accent1"/>
                </a:solidFill>
              </a:rPr>
              <a:t>J</a:t>
            </a:r>
            <a:pPr algn="ctr" indent="0" marL="0">
              <a:buNone/>
            </a:pPr>
            <a:r>
              <a:rPr lang="en-US" sz="4400" b="1" baseline="30000" dirty="0">
                <a:solidFill>
                  <a:schemeClr val="accent1"/>
                </a:solidFill>
              </a:rPr>
              <a:t>+</a:t>
            </a:r>
            <a:pPr algn="ctr" indent="0" marL="0">
              <a:buNone/>
            </a:pPr>
            <a:r>
              <a:rPr lang="en-US" sz="4400" b="1" baseline="-40000" dirty="0">
                <a:solidFill>
                  <a:schemeClr val="accent1"/>
                </a:solidFill>
              </a:rPr>
              <a:t>λ</a:t>
            </a:r>
            <a:pPr algn="ctr" indent="0" marL="0">
              <a:buNone/>
            </a:pPr>
            <a:r>
              <a:rPr lang="en-US" sz="4400" b="1" dirty="0">
                <a:solidFill>
                  <a:schemeClr val="accent2"/>
                </a:solidFill>
              </a:rPr>
              <a:t> (K</a:t>
            </a:r>
            <a:pPr algn="ctr" indent="0" marL="0">
              <a:buNone/>
            </a:pPr>
            <a:r>
              <a:rPr lang="en-US" sz="4400" b="1" baseline="-40000" dirty="0">
                <a:solidFill>
                  <a:schemeClr val="accent2"/>
                </a:solidFill>
              </a:rPr>
              <a:t>p</a:t>
            </a:r>
            <a:pPr algn="ctr" indent="0" marL="0">
              <a:buNone/>
            </a:pPr>
            <a:r>
              <a:rPr lang="en-US" sz="4400" b="1" dirty="0">
                <a:solidFill>
                  <a:schemeClr val="accent2"/>
                </a:solidFill>
              </a:rPr>
              <a:t>·e + </a:t>
            </a:r>
            <a:pPr algn="ctr" indent="0" marL="0">
              <a:buNone/>
            </a:pPr>
            <a:r>
              <a:rPr lang="en-US" sz="4400" b="1" dirty="0">
                <a:solidFill>
                  <a:schemeClr val="accent3"/>
                </a:solidFill>
              </a:rPr>
              <a:t>K</a:t>
            </a:r>
            <a:pPr algn="ctr" indent="0" marL="0">
              <a:buNone/>
            </a:pPr>
            <a:r>
              <a:rPr lang="en-US" sz="4400" b="1" baseline="-40000" dirty="0">
                <a:solidFill>
                  <a:schemeClr val="accent3"/>
                </a:solidFill>
              </a:rPr>
              <a:t>d</a:t>
            </a:r>
            <a:pPr algn="ctr" indent="0" marL="0">
              <a:buNone/>
            </a:pPr>
            <a:r>
              <a:rPr lang="en-US" sz="4400" b="1" dirty="0">
                <a:solidFill>
                  <a:schemeClr val="accent3"/>
                </a:solidFill>
              </a:rPr>
              <a:t>·ė</a:t>
            </a:r>
            <a:pPr algn="ctr" indent="0" marL="0">
              <a:buNone/>
            </a:pPr>
            <a:r>
              <a:rPr lang="en-US" sz="4400" b="1" dirty="0">
                <a:solidFill>
                  <a:schemeClr val="accent2"/>
                </a:solidFill>
              </a:rPr>
              <a:t>)</a:t>
            </a:r>
            <a:endParaRPr lang="en-US" sz="4400" dirty="0"/>
          </a:p>
        </p:txBody>
      </p:sp>
      <p:sp>
        <p:nvSpPr>
          <p:cNvPr id="16" name="Velocity-term marker"/>
          <p:cNvSpPr/>
          <p:nvPr/>
        </p:nvSpPr>
        <p:spPr>
          <a:xfrm>
            <a:off x="7781544" y="5422392"/>
            <a:ext cx="182880" cy="155448"/>
          </a:xfrm>
          <a:prstGeom prst="triangle">
            <a:avLst/>
          </a:prstGeom>
          <a:solidFill>
            <a:schemeClr val="accent3"/>
          </a:solidFill>
          <a:ln/>
        </p:spPr>
      </p:sp>
      <p:sp>
        <p:nvSpPr>
          <p:cNvPr id="17" name="Velocity-term label"/>
          <p:cNvSpPr txBox="1"/>
          <p:nvPr/>
        </p:nvSpPr>
        <p:spPr>
          <a:xfrm>
            <a:off x="8055864" y="5349240"/>
            <a:ext cx="2194560" cy="365760"/>
          </a:xfrm>
          <a:prstGeom prst="rect">
            <a:avLst/>
          </a:prstGeom>
          <a:noFill/>
          <a:ln/>
        </p:spPr>
        <p:txBody>
          <a:bodyPr wrap="square" lIns="0" tIns="0" rIns="0" bIns="0" rtlCol="0" anchor="ctr"/>
          <a:lstStyle/>
          <a:p>
            <a:pPr indent="0" marL="0">
              <a:buNone/>
            </a:pPr>
            <a:r>
              <a:rPr lang="en-US" sz="2000" dirty="0">
                <a:solidFill>
                  <a:schemeClr val="accent3"/>
                </a:solidFill>
              </a:rPr>
              <a:t>velocity term</a:t>
            </a:r>
            <a:endParaRPr lang="en-US" sz="2000" dirty="0"/>
          </a:p>
        </p:txBody>
      </p:sp>
      <p:sp>
        <p:nvSpPr>
          <p:cNvPr id="18" name="Control-law gloss"/>
          <p:cNvSpPr txBox="1"/>
          <p:nvPr/>
        </p:nvSpPr>
        <p:spPr>
          <a:xfrm>
            <a:off x="548640" y="5349240"/>
            <a:ext cx="6729984" cy="365760"/>
          </a:xfrm>
          <a:prstGeom prst="rect">
            <a:avLst/>
          </a:prstGeom>
          <a:noFill/>
          <a:ln/>
        </p:spPr>
        <p:txBody>
          <a:bodyPr wrap="square" lIns="0" tIns="0" rIns="0" bIns="0" rtlCol="0" anchor="ctr"/>
          <a:lstStyle/>
          <a:p>
            <a:pPr algn="r" indent="0" marL="0">
              <a:buNone/>
            </a:pPr>
            <a:r>
              <a:rPr lang="en-US" sz="2000" dirty="0">
                <a:solidFill>
                  <a:schemeClr val="accent4"/>
                </a:solidFill>
              </a:rPr>
              <a:t>error in the room → joint speeds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knowing the velocity is worth a lot</a:t>
            </a:r>
            <a:endParaRPr lang="en-US" sz="3200" dirty="0"/>
          </a:p>
        </p:txBody>
      </p:sp>
      <p:sp>
        <p:nvSpPr>
          <p:cNvPr id="4" name="Frame hold_pose.gif"/>
          <p:cNvSpPr/>
          <p:nvPr/>
        </p:nvSpPr>
        <p:spPr>
          <a:xfrm>
            <a:off x="548640" y="1783080"/>
            <a:ext cx="7656928" cy="4480560"/>
          </a:xfrm>
          <a:prstGeom prst="roundRect">
            <a:avLst>
              <a:gd name="adj" fmla="val 244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reactive controller with feedforward">    </p:cNvPr>
          <p:cNvPicPr>
            <a:picLocks noChangeAspect="1"/>
          </p:cNvPicPr>
          <p:nvPr/>
        </p:nvPicPr>
        <p:blipFill>
          <a:blip r:embed="rId1"/>
          <a:stretch>
            <a:fillRect/>
          </a:stretch>
        </p:blipFill>
        <p:spPr>
          <a:xfrm>
            <a:off x="621792" y="1856232"/>
            <a:ext cx="7510624" cy="4334256"/>
          </a:xfrm>
          <a:prstGeom prst="rect">
            <a:avLst/>
          </a:prstGeom>
        </p:spPr>
      </p:pic>
      <p:sp>
        <p:nvSpPr>
          <p:cNvPr id="6" name="Sim header"/>
          <p:cNvSpPr txBox="1"/>
          <p:nvPr/>
        </p:nvSpPr>
        <p:spPr>
          <a:xfrm>
            <a:off x="8617048" y="1783080"/>
            <a:ext cx="3026007" cy="365760"/>
          </a:xfrm>
          <a:prstGeom prst="rect">
            <a:avLst/>
          </a:prstGeom>
          <a:noFill/>
          <a:ln/>
        </p:spPr>
        <p:txBody>
          <a:bodyPr wrap="square" lIns="0" tIns="0" rIns="0" bIns="0" rtlCol="0" anchor="t"/>
          <a:lstStyle/>
          <a:p>
            <a:pPr indent="0" marL="0">
              <a:buNone/>
            </a:pPr>
            <a:r>
              <a:rPr lang="en-US" sz="1800" b="1" dirty="0">
                <a:solidFill>
                  <a:schemeClr val="accent4"/>
                </a:solidFill>
              </a:rPr>
              <a:t>Hand error, 8 s average</a:t>
            </a:r>
            <a:endParaRPr lang="en-US" sz="1800" dirty="0"/>
          </a:p>
        </p:txBody>
      </p:sp>
      <p:sp>
        <p:nvSpPr>
          <p:cNvPr id="7" name="Stat 31.0 mm"/>
          <p:cNvSpPr txBox="1"/>
          <p:nvPr/>
        </p:nvSpPr>
        <p:spPr>
          <a:xfrm>
            <a:off x="8617048" y="2331720"/>
            <a:ext cx="3026007" cy="777240"/>
          </a:xfrm>
          <a:prstGeom prst="rect">
            <a:avLst/>
          </a:prstGeom>
          <a:noFill/>
          <a:ln/>
        </p:spPr>
        <p:txBody>
          <a:bodyPr wrap="square" lIns="0" tIns="0" rIns="0" bIns="0" rtlCol="0" anchor="ctr"/>
          <a:lstStyle/>
          <a:p>
            <a:pPr algn="l" indent="0" marL="0">
              <a:buNone/>
            </a:pPr>
            <a:r>
              <a:rPr lang="en-US" sz="5400" b="1" dirty="0">
                <a:solidFill>
                  <a:schemeClr val="accent4"/>
                </a:solidFill>
              </a:rPr>
              <a:t>31.0 mm</a:t>
            </a:r>
            <a:endParaRPr lang="en-US" sz="5400" dirty="0"/>
          </a:p>
        </p:txBody>
      </p:sp>
      <p:sp>
        <p:nvSpPr>
          <p:cNvPr id="8" name="Stat 31.0 mm label"/>
          <p:cNvSpPr txBox="1"/>
          <p:nvPr/>
        </p:nvSpPr>
        <p:spPr>
          <a:xfrm>
            <a:off x="8617048" y="31272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arms locked</a:t>
            </a:r>
            <a:endParaRPr lang="en-US" sz="2000" dirty="0"/>
          </a:p>
        </p:txBody>
      </p:sp>
      <p:sp>
        <p:nvSpPr>
          <p:cNvPr id="9" name="Stat 6.7 mm"/>
          <p:cNvSpPr txBox="1"/>
          <p:nvPr/>
        </p:nvSpPr>
        <p:spPr>
          <a:xfrm>
            <a:off x="8617048" y="3703320"/>
            <a:ext cx="3026007" cy="777240"/>
          </a:xfrm>
          <a:prstGeom prst="rect">
            <a:avLst/>
          </a:prstGeom>
          <a:noFill/>
          <a:ln/>
        </p:spPr>
        <p:txBody>
          <a:bodyPr wrap="square" lIns="0" tIns="0" rIns="0" bIns="0" rtlCol="0" anchor="ctr"/>
          <a:lstStyle/>
          <a:p>
            <a:pPr algn="l" indent="0" marL="0">
              <a:buNone/>
            </a:pPr>
            <a:r>
              <a:rPr lang="en-US" sz="5400" b="1" dirty="0">
                <a:solidFill>
                  <a:schemeClr val="accent2"/>
                </a:solidFill>
              </a:rPr>
              <a:t>6.7 mm</a:t>
            </a:r>
            <a:endParaRPr lang="en-US" sz="5400" dirty="0"/>
          </a:p>
        </p:txBody>
      </p:sp>
      <p:sp>
        <p:nvSpPr>
          <p:cNvPr id="10" name="Stat 6.7 mm label"/>
          <p:cNvSpPr txBox="1"/>
          <p:nvPr/>
        </p:nvSpPr>
        <p:spPr>
          <a:xfrm>
            <a:off x="8617048" y="44988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my controller</a:t>
            </a:r>
            <a:endParaRPr lang="en-US" sz="2000" dirty="0"/>
          </a:p>
        </p:txBody>
      </p:sp>
      <p:sp>
        <p:nvSpPr>
          <p:cNvPr id="11" name="Stat 2.6 mm"/>
          <p:cNvSpPr txBox="1"/>
          <p:nvPr/>
        </p:nvSpPr>
        <p:spPr>
          <a:xfrm>
            <a:off x="8617048" y="5074920"/>
            <a:ext cx="3026007" cy="777240"/>
          </a:xfrm>
          <a:prstGeom prst="rect">
            <a:avLst/>
          </a:prstGeom>
          <a:noFill/>
          <a:ln/>
        </p:spPr>
        <p:txBody>
          <a:bodyPr wrap="square" lIns="0" tIns="0" rIns="0" bIns="0" rtlCol="0" anchor="ctr"/>
          <a:lstStyle/>
          <a:p>
            <a:pPr algn="l" indent="0" marL="0">
              <a:buNone/>
            </a:pPr>
            <a:r>
              <a:rPr lang="en-US" sz="5400" b="1" dirty="0">
                <a:solidFill>
                  <a:schemeClr val="accent3"/>
                </a:solidFill>
              </a:rPr>
              <a:t>2.6 mm</a:t>
            </a:r>
            <a:endParaRPr lang="en-US" sz="5400" dirty="0"/>
          </a:p>
        </p:txBody>
      </p:sp>
      <p:sp>
        <p:nvSpPr>
          <p:cNvPr id="12" name="Stat 2.6 mm label"/>
          <p:cNvSpPr txBox="1"/>
          <p:nvPr/>
        </p:nvSpPr>
        <p:spPr>
          <a:xfrm>
            <a:off x="8617048" y="58704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 speed fed forward</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Making it usable: a filter that costs time</a:t>
            </a:r>
            <a:endParaRPr lang="en-US" sz="3200" dirty="0"/>
          </a:p>
        </p:txBody>
      </p:sp>
      <p:sp>
        <p:nvSpPr>
          <p:cNvPr id="4" name="Filter step 1"/>
          <p:cNvSpPr txBox="1"/>
          <p:nvPr/>
        </p:nvSpPr>
        <p:spPr>
          <a:xfrm>
            <a:off x="548640" y="2468880"/>
            <a:ext cx="3200400" cy="1828800"/>
          </a:xfrm>
          <a:prstGeom prst="roundRect">
            <a:avLst>
              <a:gd name="adj" fmla="val 7000"/>
            </a:avLst>
          </a:prstGeom>
          <a:solidFill>
            <a:schemeClr val="bg2"/>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2200" b="1" dirty="0">
                <a:solidFill>
                  <a:schemeClr val="tx2"/>
                </a:solidFill>
              </a:rPr>
              <a:t>Raw camera tracking</a:t>
            </a:r>
            <a:endParaRPr lang="en-US" sz="1800" dirty="0"/>
          </a:p>
          <a:p>
            <a:pPr algn="ctr" indent="0" marL="0">
              <a:buNone/>
            </a:pPr>
            <a:r>
              <a:rPr lang="en-US" sz="2000" dirty="0">
                <a:solidFill>
                  <a:schemeClr val="tx2"/>
                </a:solidFill>
              </a:rPr>
              <a:t>noisy, arm shakes</a:t>
            </a:r>
            <a:endParaRPr lang="en-US" sz="1800" dirty="0"/>
          </a:p>
        </p:txBody>
      </p:sp>
      <p:sp>
        <p:nvSpPr>
          <p:cNvPr id="5" name="Shape 3"/>
          <p:cNvSpPr/>
          <p:nvPr/>
        </p:nvSpPr>
        <p:spPr>
          <a:xfrm>
            <a:off x="3822192" y="3383280"/>
            <a:ext cx="600304" cy="0"/>
          </a:xfrm>
          <a:prstGeom prst="line">
            <a:avLst/>
          </a:prstGeom>
          <a:noFill/>
          <a:ln w="31750">
            <a:solidFill>
              <a:schemeClr val="tx2"/>
            </a:solidFill>
            <a:prstDash val="solid"/>
            <a:tailEnd type="triangle"/>
          </a:ln>
        </p:spPr>
      </p:sp>
      <p:sp>
        <p:nvSpPr>
          <p:cNvPr id="6" name="Filter step 2"/>
          <p:cNvSpPr txBox="1"/>
          <p:nvPr/>
        </p:nvSpPr>
        <p:spPr>
          <a:xfrm>
            <a:off x="4495648" y="2468880"/>
            <a:ext cx="3200400" cy="1828800"/>
          </a:xfrm>
          <a:prstGeom prst="roundRect">
            <a:avLst>
              <a:gd name="adj" fmla="val 7000"/>
            </a:avLst>
          </a:prstGeom>
          <a:solidFill>
            <a:schemeClr val="accent3"/>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2200" b="1" dirty="0">
                <a:solidFill>
                  <a:schemeClr val="bg1"/>
                </a:solidFill>
              </a:rPr>
              <a:t>Smoothing filter (Kalman)</a:t>
            </a:r>
            <a:endParaRPr lang="en-US" sz="1800" dirty="0"/>
          </a:p>
          <a:p>
            <a:pPr algn="ctr" indent="0" marL="0">
              <a:buNone/>
            </a:pPr>
            <a:r>
              <a:rPr lang="en-US" sz="2000" dirty="0">
                <a:solidFill>
                  <a:schemeClr val="bg1"/>
                </a:solidFill>
              </a:rPr>
              <a:t>steady, but late</a:t>
            </a:r>
            <a:endParaRPr lang="en-US" sz="1800" dirty="0"/>
          </a:p>
        </p:txBody>
      </p:sp>
      <p:sp>
        <p:nvSpPr>
          <p:cNvPr id="7" name="Shape 5"/>
          <p:cNvSpPr/>
          <p:nvPr/>
        </p:nvSpPr>
        <p:spPr>
          <a:xfrm>
            <a:off x="7769200" y="3383280"/>
            <a:ext cx="600304" cy="0"/>
          </a:xfrm>
          <a:prstGeom prst="line">
            <a:avLst/>
          </a:prstGeom>
          <a:noFill/>
          <a:ln w="31750">
            <a:solidFill>
              <a:schemeClr val="tx2"/>
            </a:solidFill>
            <a:prstDash val="solid"/>
            <a:tailEnd type="triangle"/>
          </a:ln>
        </p:spPr>
      </p:sp>
      <p:sp>
        <p:nvSpPr>
          <p:cNvPr id="8" name="Filter step 3"/>
          <p:cNvSpPr txBox="1"/>
          <p:nvPr/>
        </p:nvSpPr>
        <p:spPr>
          <a:xfrm>
            <a:off x="8442655" y="2468880"/>
            <a:ext cx="3200400" cy="1828800"/>
          </a:xfrm>
          <a:prstGeom prst="roundRect">
            <a:avLst>
              <a:gd name="adj" fmla="val 7000"/>
            </a:avLst>
          </a:prstGeom>
          <a:solidFill>
            <a:schemeClr val="accent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2200" b="1" dirty="0">
                <a:solidFill>
                  <a:schemeClr val="bg1"/>
                </a:solidFill>
              </a:rPr>
              <a:t>Predict ahead from speed</a:t>
            </a:r>
            <a:endParaRPr lang="en-US" sz="1800" dirty="0"/>
          </a:p>
          <a:p>
            <a:pPr algn="ctr" indent="0" marL="0">
              <a:buNone/>
            </a:pPr>
            <a:r>
              <a:rPr lang="en-US" sz="2000" dirty="0">
                <a:solidFill>
                  <a:schemeClr val="bg1"/>
                </a:solidFill>
              </a:rPr>
              <a:t>pulls back toward now</a:t>
            </a:r>
            <a:endParaRPr lang="en-US" sz="1800" dirty="0"/>
          </a:p>
        </p:txBody>
      </p:sp>
      <p:sp>
        <p:nvSpPr>
          <p:cNvPr id="9" name="Takeaway"/>
          <p:cNvSpPr txBox="1"/>
          <p:nvPr/>
        </p:nvSpPr>
        <p:spPr>
          <a:xfrm>
            <a:off x="548640" y="4892040"/>
            <a:ext cx="11094415" cy="731520"/>
          </a:xfrm>
          <a:prstGeom prst="rect">
            <a:avLst/>
          </a:prstGeom>
          <a:noFill/>
          <a:ln/>
        </p:spPr>
        <p:txBody>
          <a:bodyPr wrap="square" lIns="0" tIns="0" rIns="0" bIns="0" rtlCol="0" anchor="ctr"/>
          <a:lstStyle/>
          <a:p>
            <a:pPr algn="ctr" indent="0" marL="0">
              <a:buNone/>
            </a:pPr>
            <a:r>
              <a:rPr lang="en-US" sz="3600" b="1" dirty="0">
                <a:solidFill>
                  <a:schemeClr val="tx2"/>
                </a:solidFill>
              </a:rPr>
              <a:t>Smoothness costs time.</a:t>
            </a:r>
            <a:endParaRPr lang="en-US" sz="3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On real wearers: about 2/3 of walking motion removed</a:t>
            </a:r>
            <a:endParaRPr lang="en-US" sz="3200" dirty="0"/>
          </a:p>
        </p:txBody>
      </p:sp>
      <p:sp>
        <p:nvSpPr>
          <p:cNvPr id="4" name="Provenance"/>
          <p:cNvSpPr txBox="1"/>
          <p:nvPr/>
        </p:nvSpPr>
        <p:spPr>
          <a:xfrm>
            <a:off x="548640" y="1691640"/>
            <a:ext cx="11094415" cy="365760"/>
          </a:xfrm>
          <a:prstGeom prst="rect">
            <a:avLst/>
          </a:prstGeom>
          <a:noFill/>
          <a:ln/>
        </p:spPr>
        <p:txBody>
          <a:bodyPr wrap="square" lIns="0" tIns="0" rIns="0" bIns="0" rtlCol="0" anchor="t"/>
          <a:lstStyle/>
          <a:p>
            <a:pPr indent="0" marL="0">
              <a:buNone/>
            </a:pPr>
            <a:r>
              <a:rPr lang="en-US" sz="2000" dirty="0">
                <a:solidFill>
                  <a:schemeClr val="tx2"/>
                </a:solidFill>
              </a:rPr>
              <a:t>Controller: 400 Hz on the lab machine, no feedforward. Analysis: mine.</a:t>
            </a:r>
            <a:endParaRPr lang="en-US" sz="2000" dirty="0"/>
          </a:p>
        </p:txBody>
      </p:sp>
      <p:sp>
        <p:nvSpPr>
          <p:cNvPr id="5" name="Frame hw_replay.gif"/>
          <p:cNvSpPr/>
          <p:nvPr/>
        </p:nvSpPr>
        <p:spPr>
          <a:xfrm>
            <a:off x="548640" y="2514600"/>
            <a:ext cx="7955280" cy="3341644"/>
          </a:xfrm>
          <a:prstGeom prst="roundRect">
            <a:avLst>
              <a:gd name="adj" fmla="val 328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587752"/>
            <a:ext cx="7808976" cy="3195340"/>
          </a:xfrm>
          <a:prstGeom prst="rect">
            <a:avLst/>
          </a:prstGeom>
        </p:spPr>
      </p:pic>
      <p:sp>
        <p:nvSpPr>
          <p:cNvPr id="7" name="Stat 71%"/>
          <p:cNvSpPr txBox="1"/>
          <p:nvPr/>
        </p:nvSpPr>
        <p:spPr>
          <a:xfrm>
            <a:off x="8869680" y="2286000"/>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71%</a:t>
            </a:r>
            <a:endParaRPr lang="en-US" sz="6000" dirty="0"/>
          </a:p>
        </p:txBody>
      </p:sp>
      <p:sp>
        <p:nvSpPr>
          <p:cNvPr id="8" name="Stat 71% label"/>
          <p:cNvSpPr txBox="1"/>
          <p:nvPr/>
        </p:nvSpPr>
        <p:spPr>
          <a:xfrm>
            <a:off x="8869680" y="3063240"/>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0.5 m/s</a:t>
            </a:r>
            <a:endParaRPr lang="en-US" sz="2000" dirty="0"/>
          </a:p>
        </p:txBody>
      </p:sp>
      <p:sp>
        <p:nvSpPr>
          <p:cNvPr id="9" name="Stat 63%"/>
          <p:cNvSpPr txBox="1"/>
          <p:nvPr/>
        </p:nvSpPr>
        <p:spPr>
          <a:xfrm>
            <a:off x="8869680" y="3401568"/>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63%</a:t>
            </a:r>
            <a:endParaRPr lang="en-US" sz="6000" dirty="0"/>
          </a:p>
        </p:txBody>
      </p:sp>
      <p:sp>
        <p:nvSpPr>
          <p:cNvPr id="10" name="Stat 63% label"/>
          <p:cNvSpPr txBox="1"/>
          <p:nvPr/>
        </p:nvSpPr>
        <p:spPr>
          <a:xfrm>
            <a:off x="8869680" y="4178808"/>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1.0 m/s</a:t>
            </a:r>
            <a:endParaRPr lang="en-US" sz="2000" dirty="0"/>
          </a:p>
        </p:txBody>
      </p:sp>
      <p:sp>
        <p:nvSpPr>
          <p:cNvPr id="11" name="Stat 56%"/>
          <p:cNvSpPr txBox="1"/>
          <p:nvPr/>
        </p:nvSpPr>
        <p:spPr>
          <a:xfrm>
            <a:off x="8869680" y="4517136"/>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56%</a:t>
            </a:r>
            <a:endParaRPr lang="en-US" sz="6000" dirty="0"/>
          </a:p>
        </p:txBody>
      </p:sp>
      <p:sp>
        <p:nvSpPr>
          <p:cNvPr id="12" name="Stat 56% label"/>
          <p:cNvSpPr txBox="1"/>
          <p:nvPr/>
        </p:nvSpPr>
        <p:spPr>
          <a:xfrm>
            <a:off x="8869680" y="5294376"/>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1.5 m/s</a:t>
            </a:r>
            <a:endParaRPr lang="en-US" sz="2000" dirty="0"/>
          </a:p>
        </p:txBody>
      </p:sp>
      <p:sp>
        <p:nvSpPr>
          <p:cNvPr id="13" name="Results note"/>
          <p:cNvSpPr txBox="1"/>
          <p:nvPr/>
        </p:nvSpPr>
        <p:spPr>
          <a:xfrm>
            <a:off x="8869680" y="5660136"/>
            <a:ext cx="2773375" cy="566928"/>
          </a:xfrm>
          <a:prstGeom prst="rect">
            <a:avLst/>
          </a:prstGeom>
          <a:noFill/>
          <a:ln/>
        </p:spPr>
        <p:txBody>
          <a:bodyPr wrap="square" lIns="0" tIns="0" rIns="0" bIns="0" rtlCol="0" anchor="t"/>
          <a:lstStyle/>
          <a:p>
            <a:pPr indent="0" marL="0">
              <a:buNone/>
            </a:pPr>
            <a:r>
              <a:rPr lang="en-US" sz="1800" dirty="0">
                <a:solidFill>
                  <a:schemeClr val="accent4"/>
                </a:solidFill>
              </a:rPr>
              <a:t>Mean of 6 of 7 wearers · 128 trials</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obvious fix did almost nothing</a:t>
            </a:r>
            <a:endParaRPr lang="en-US" sz="3200" dirty="0"/>
          </a:p>
        </p:txBody>
      </p:sp>
      <p:sp>
        <p:nvSpPr>
          <p:cNvPr id="4" name="Pilot set-up"/>
          <p:cNvSpPr txBox="1"/>
          <p:nvPr/>
        </p:nvSpPr>
        <p:spPr>
          <a:xfrm>
            <a:off x="548640" y="2240280"/>
            <a:ext cx="11094415" cy="457200"/>
          </a:xfrm>
          <a:prstGeom prst="rect">
            <a:avLst/>
          </a:prstGeom>
          <a:noFill/>
          <a:ln/>
        </p:spPr>
        <p:txBody>
          <a:bodyPr wrap="square" lIns="0" tIns="0" rIns="0" bIns="0" rtlCol="0" anchor="ctr"/>
          <a:lstStyle/>
          <a:p>
            <a:pPr algn="ctr" indent="0" marL="0">
              <a:buNone/>
            </a:pPr>
            <a:r>
              <a:rPr lang="en-US" sz="2200" dirty="0">
                <a:solidFill>
                  <a:schemeClr val="accent4"/>
                </a:solidFill>
              </a:rPr>
              <a:t>One-wearer pilot: velocity gain 0.8 → 2.6. Hand motion near 1 Hz fell:</a:t>
            </a:r>
            <a:endParaRPr lang="en-US" sz="2200" dirty="0"/>
          </a:p>
        </p:txBody>
      </p:sp>
      <p:sp>
        <p:nvSpPr>
          <p:cNvPr id="5" name="Stat 38%"/>
          <p:cNvSpPr txBox="1"/>
          <p:nvPr/>
        </p:nvSpPr>
        <p:spPr>
          <a:xfrm>
            <a:off x="1569568" y="2788920"/>
            <a:ext cx="4023360" cy="1737360"/>
          </a:xfrm>
          <a:prstGeom prst="rect">
            <a:avLst/>
          </a:prstGeom>
          <a:noFill/>
          <a:ln/>
        </p:spPr>
        <p:txBody>
          <a:bodyPr wrap="square" lIns="0" tIns="0" rIns="0" bIns="0" rtlCol="0" anchor="ctr"/>
          <a:lstStyle/>
          <a:p>
            <a:pPr algn="ctr" indent="0" marL="0">
              <a:buNone/>
            </a:pPr>
            <a:r>
              <a:rPr lang="en-US" sz="13000" b="1" dirty="0">
                <a:solidFill>
                  <a:schemeClr val="accent4"/>
                </a:solidFill>
              </a:rPr>
              <a:t>38%</a:t>
            </a:r>
            <a:endParaRPr lang="en-US" sz="13000" dirty="0"/>
          </a:p>
        </p:txBody>
      </p:sp>
      <p:sp>
        <p:nvSpPr>
          <p:cNvPr id="6" name="Stat 38% label"/>
          <p:cNvSpPr txBox="1"/>
          <p:nvPr/>
        </p:nvSpPr>
        <p:spPr>
          <a:xfrm>
            <a:off x="1569568" y="454456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predicted</a:t>
            </a:r>
            <a:endParaRPr lang="en-US" sz="2400" dirty="0"/>
          </a:p>
        </p:txBody>
      </p:sp>
      <p:sp>
        <p:nvSpPr>
          <p:cNvPr id="7" name="Stat 9%"/>
          <p:cNvSpPr txBox="1"/>
          <p:nvPr/>
        </p:nvSpPr>
        <p:spPr>
          <a:xfrm>
            <a:off x="6598768" y="2788920"/>
            <a:ext cx="4023360" cy="1737360"/>
          </a:xfrm>
          <a:prstGeom prst="rect">
            <a:avLst/>
          </a:prstGeom>
          <a:noFill/>
          <a:ln/>
        </p:spPr>
        <p:txBody>
          <a:bodyPr wrap="square" lIns="0" tIns="0" rIns="0" bIns="0" rtlCol="0" anchor="ctr"/>
          <a:lstStyle/>
          <a:p>
            <a:pPr algn="ctr" indent="0" marL="0">
              <a:buNone/>
            </a:pPr>
            <a:r>
              <a:rPr lang="en-US" sz="13000" b="1" dirty="0">
                <a:solidFill>
                  <a:schemeClr val="accent3"/>
                </a:solidFill>
              </a:rPr>
              <a:t>9%</a:t>
            </a:r>
            <a:endParaRPr lang="en-US" sz="13000" dirty="0"/>
          </a:p>
        </p:txBody>
      </p:sp>
      <p:sp>
        <p:nvSpPr>
          <p:cNvPr id="8" name="Stat 9% label"/>
          <p:cNvSpPr txBox="1"/>
          <p:nvPr/>
        </p:nvSpPr>
        <p:spPr>
          <a:xfrm>
            <a:off x="6598768" y="454456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measured</a:t>
            </a:r>
            <a:endParaRPr lang="en-US" sz="2400" dirty="0"/>
          </a:p>
        </p:txBody>
      </p:sp>
      <p:sp>
        <p:nvSpPr>
          <p:cNvPr id="9" name="Frequency split"/>
          <p:cNvSpPr txBox="1"/>
          <p:nvPr/>
        </p:nvSpPr>
        <p:spPr>
          <a:xfrm>
            <a:off x="548640" y="5532120"/>
            <a:ext cx="11094415" cy="457200"/>
          </a:xfrm>
          <a:prstGeom prst="rect">
            <a:avLst/>
          </a:prstGeom>
          <a:noFill/>
          <a:ln/>
        </p:spPr>
        <p:txBody>
          <a:bodyPr wrap="square" lIns="0" tIns="0" rIns="0" bIns="0" rtlCol="0" anchor="ctr"/>
          <a:lstStyle/>
          <a:p>
            <a:pPr algn="ctr" indent="0" marL="0">
              <a:buNone/>
            </a:pPr>
            <a:r>
              <a:rPr lang="en-US" sz="2200" dirty="0">
                <a:solidFill>
                  <a:schemeClr val="accent4"/>
                </a:solidFill>
              </a:rPr>
              <a:t>Slow sway: 85% removed · Step bounce: only 29%</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velocity arrives 61–71 ms late</a:t>
            </a:r>
            <a:endParaRPr lang="en-US" sz="3200" dirty="0"/>
          </a:p>
        </p:txBody>
      </p:sp>
      <p:sp>
        <p:nvSpPr>
          <p:cNvPr id="4" name="Kalman lag (36 ms)"/>
          <p:cNvSpPr/>
          <p:nvPr/>
        </p:nvSpPr>
        <p:spPr>
          <a:xfrm>
            <a:off x="548640" y="2103120"/>
            <a:ext cx="4075133" cy="1188720"/>
          </a:xfrm>
          <a:prstGeom prst="rect">
            <a:avLst/>
          </a:prstGeom>
          <a:solidFill>
            <a:schemeClr val="accent3"/>
          </a:solidFill>
          <a:ln/>
        </p:spPr>
      </p:sp>
      <p:sp>
        <p:nvSpPr>
          <p:cNvPr id="5" name="Kalman lag fade 1"/>
          <p:cNvSpPr/>
          <p:nvPr/>
        </p:nvSpPr>
        <p:spPr>
          <a:xfrm>
            <a:off x="4605485" y="2103120"/>
            <a:ext cx="42276" cy="1188720"/>
          </a:xfrm>
          <a:prstGeom prst="rect">
            <a:avLst/>
          </a:prstGeom>
          <a:solidFill>
            <a:srgbClr val="D24202"/>
          </a:solidFill>
          <a:ln/>
        </p:spPr>
      </p:sp>
      <p:sp>
        <p:nvSpPr>
          <p:cNvPr id="6" name="Kalman lag fade 2"/>
          <p:cNvSpPr/>
          <p:nvPr/>
        </p:nvSpPr>
        <p:spPr>
          <a:xfrm>
            <a:off x="4636788" y="2103120"/>
            <a:ext cx="42276" cy="1188720"/>
          </a:xfrm>
          <a:prstGeom prst="rect">
            <a:avLst/>
          </a:prstGeom>
          <a:solidFill>
            <a:srgbClr val="D34507"/>
          </a:solidFill>
          <a:ln/>
        </p:spPr>
      </p:sp>
      <p:sp>
        <p:nvSpPr>
          <p:cNvPr id="7" name="Kalman lag fade 3"/>
          <p:cNvSpPr/>
          <p:nvPr/>
        </p:nvSpPr>
        <p:spPr>
          <a:xfrm>
            <a:off x="4668091" y="2103120"/>
            <a:ext cx="42276" cy="1188720"/>
          </a:xfrm>
          <a:prstGeom prst="rect">
            <a:avLst/>
          </a:prstGeom>
          <a:solidFill>
            <a:srgbClr val="D4490C"/>
          </a:solidFill>
          <a:ln/>
        </p:spPr>
      </p:sp>
      <p:sp>
        <p:nvSpPr>
          <p:cNvPr id="8" name="Kalman lag fade 4"/>
          <p:cNvSpPr/>
          <p:nvPr/>
        </p:nvSpPr>
        <p:spPr>
          <a:xfrm>
            <a:off x="4699394" y="2103120"/>
            <a:ext cx="42276" cy="1188720"/>
          </a:xfrm>
          <a:prstGeom prst="rect">
            <a:avLst/>
          </a:prstGeom>
          <a:solidFill>
            <a:srgbClr val="D54C10"/>
          </a:solidFill>
          <a:ln/>
        </p:spPr>
      </p:sp>
      <p:sp>
        <p:nvSpPr>
          <p:cNvPr id="9" name="Kalman lag fade 5"/>
          <p:cNvSpPr/>
          <p:nvPr/>
        </p:nvSpPr>
        <p:spPr>
          <a:xfrm>
            <a:off x="4730696" y="2103120"/>
            <a:ext cx="42276" cy="1188720"/>
          </a:xfrm>
          <a:prstGeom prst="rect">
            <a:avLst/>
          </a:prstGeom>
          <a:solidFill>
            <a:srgbClr val="D65015"/>
          </a:solidFill>
          <a:ln/>
        </p:spPr>
      </p:sp>
      <p:sp>
        <p:nvSpPr>
          <p:cNvPr id="10" name="Kalman lag fade 6"/>
          <p:cNvSpPr/>
          <p:nvPr/>
        </p:nvSpPr>
        <p:spPr>
          <a:xfrm>
            <a:off x="4761999" y="2103120"/>
            <a:ext cx="42276" cy="1188720"/>
          </a:xfrm>
          <a:prstGeom prst="rect">
            <a:avLst/>
          </a:prstGeom>
          <a:solidFill>
            <a:srgbClr val="D65319"/>
          </a:solidFill>
          <a:ln/>
        </p:spPr>
      </p:sp>
      <p:sp>
        <p:nvSpPr>
          <p:cNvPr id="11" name="Kalman lag fade 7"/>
          <p:cNvSpPr/>
          <p:nvPr/>
        </p:nvSpPr>
        <p:spPr>
          <a:xfrm>
            <a:off x="4793302" y="2103120"/>
            <a:ext cx="42276" cy="1188720"/>
          </a:xfrm>
          <a:prstGeom prst="rect">
            <a:avLst/>
          </a:prstGeom>
          <a:solidFill>
            <a:srgbClr val="D7561E"/>
          </a:solidFill>
          <a:ln/>
        </p:spPr>
      </p:sp>
      <p:sp>
        <p:nvSpPr>
          <p:cNvPr id="12" name="Kalman lag fade 8"/>
          <p:cNvSpPr/>
          <p:nvPr/>
        </p:nvSpPr>
        <p:spPr>
          <a:xfrm>
            <a:off x="4824605" y="2103120"/>
            <a:ext cx="42276" cy="1188720"/>
          </a:xfrm>
          <a:prstGeom prst="rect">
            <a:avLst/>
          </a:prstGeom>
          <a:solidFill>
            <a:srgbClr val="D85A23"/>
          </a:solidFill>
          <a:ln/>
        </p:spPr>
      </p:sp>
      <p:sp>
        <p:nvSpPr>
          <p:cNvPr id="13" name="Kalman lag fade 9"/>
          <p:cNvSpPr/>
          <p:nvPr/>
        </p:nvSpPr>
        <p:spPr>
          <a:xfrm>
            <a:off x="4855908" y="2103120"/>
            <a:ext cx="42276" cy="1188720"/>
          </a:xfrm>
          <a:prstGeom prst="rect">
            <a:avLst/>
          </a:prstGeom>
          <a:solidFill>
            <a:srgbClr val="D95D27"/>
          </a:solidFill>
          <a:ln/>
        </p:spPr>
      </p:sp>
      <p:sp>
        <p:nvSpPr>
          <p:cNvPr id="14" name="Kalman lag fade 10"/>
          <p:cNvSpPr/>
          <p:nvPr/>
        </p:nvSpPr>
        <p:spPr>
          <a:xfrm>
            <a:off x="4887210" y="2103120"/>
            <a:ext cx="42276" cy="1188720"/>
          </a:xfrm>
          <a:prstGeom prst="rect">
            <a:avLst/>
          </a:prstGeom>
          <a:solidFill>
            <a:srgbClr val="DA612C"/>
          </a:solidFill>
          <a:ln/>
        </p:spPr>
      </p:sp>
      <p:sp>
        <p:nvSpPr>
          <p:cNvPr id="15" name="Kalman lag fade 11"/>
          <p:cNvSpPr/>
          <p:nvPr/>
        </p:nvSpPr>
        <p:spPr>
          <a:xfrm>
            <a:off x="4918513" y="2103120"/>
            <a:ext cx="42276" cy="1188720"/>
          </a:xfrm>
          <a:prstGeom prst="rect">
            <a:avLst/>
          </a:prstGeom>
          <a:solidFill>
            <a:srgbClr val="DB6430"/>
          </a:solidFill>
          <a:ln/>
        </p:spPr>
      </p:sp>
      <p:sp>
        <p:nvSpPr>
          <p:cNvPr id="16" name="Kalman lag fade 12"/>
          <p:cNvSpPr/>
          <p:nvPr/>
        </p:nvSpPr>
        <p:spPr>
          <a:xfrm>
            <a:off x="4949816" y="2103120"/>
            <a:ext cx="42276" cy="1188720"/>
          </a:xfrm>
          <a:prstGeom prst="rect">
            <a:avLst/>
          </a:prstGeom>
          <a:solidFill>
            <a:srgbClr val="DB6835"/>
          </a:solidFill>
          <a:ln/>
        </p:spPr>
      </p:sp>
      <p:sp>
        <p:nvSpPr>
          <p:cNvPr id="17" name="Kalman lag fade 13"/>
          <p:cNvSpPr/>
          <p:nvPr/>
        </p:nvSpPr>
        <p:spPr>
          <a:xfrm>
            <a:off x="4981119" y="2103120"/>
            <a:ext cx="42276" cy="1188720"/>
          </a:xfrm>
          <a:prstGeom prst="rect">
            <a:avLst/>
          </a:prstGeom>
          <a:solidFill>
            <a:srgbClr val="DC6B3A"/>
          </a:solidFill>
          <a:ln/>
        </p:spPr>
      </p:sp>
      <p:sp>
        <p:nvSpPr>
          <p:cNvPr id="18" name="Kalman lag fade 14"/>
          <p:cNvSpPr/>
          <p:nvPr/>
        </p:nvSpPr>
        <p:spPr>
          <a:xfrm>
            <a:off x="5012422" y="2103120"/>
            <a:ext cx="42276" cy="1188720"/>
          </a:xfrm>
          <a:prstGeom prst="rect">
            <a:avLst/>
          </a:prstGeom>
          <a:solidFill>
            <a:srgbClr val="DD6F3E"/>
          </a:solidFill>
          <a:ln/>
        </p:spPr>
      </p:sp>
      <p:sp>
        <p:nvSpPr>
          <p:cNvPr id="19" name="Kalman lag fade 15"/>
          <p:cNvSpPr/>
          <p:nvPr/>
        </p:nvSpPr>
        <p:spPr>
          <a:xfrm>
            <a:off x="5043725" y="2103120"/>
            <a:ext cx="42276" cy="1188720"/>
          </a:xfrm>
          <a:prstGeom prst="rect">
            <a:avLst/>
          </a:prstGeom>
          <a:solidFill>
            <a:srgbClr val="DE7243"/>
          </a:solidFill>
          <a:ln/>
        </p:spPr>
      </p:sp>
      <p:sp>
        <p:nvSpPr>
          <p:cNvPr id="20" name="Kalman lag fade 16"/>
          <p:cNvSpPr/>
          <p:nvPr/>
        </p:nvSpPr>
        <p:spPr>
          <a:xfrm>
            <a:off x="5075027" y="2103120"/>
            <a:ext cx="42276" cy="1188720"/>
          </a:xfrm>
          <a:prstGeom prst="rect">
            <a:avLst/>
          </a:prstGeom>
          <a:solidFill>
            <a:srgbClr val="DF7547"/>
          </a:solidFill>
          <a:ln/>
        </p:spPr>
      </p:sp>
      <p:sp>
        <p:nvSpPr>
          <p:cNvPr id="21" name="Kalman lag fade 17"/>
          <p:cNvSpPr/>
          <p:nvPr/>
        </p:nvSpPr>
        <p:spPr>
          <a:xfrm>
            <a:off x="5106330" y="2103120"/>
            <a:ext cx="42276" cy="1188720"/>
          </a:xfrm>
          <a:prstGeom prst="rect">
            <a:avLst/>
          </a:prstGeom>
          <a:solidFill>
            <a:srgbClr val="DF794C"/>
          </a:solidFill>
          <a:ln/>
        </p:spPr>
      </p:sp>
      <p:sp>
        <p:nvSpPr>
          <p:cNvPr id="22" name="Kalman lag fade 18"/>
          <p:cNvSpPr/>
          <p:nvPr/>
        </p:nvSpPr>
        <p:spPr>
          <a:xfrm>
            <a:off x="5137633" y="2103120"/>
            <a:ext cx="42276" cy="1188720"/>
          </a:xfrm>
          <a:prstGeom prst="rect">
            <a:avLst/>
          </a:prstGeom>
          <a:solidFill>
            <a:srgbClr val="E07C51"/>
          </a:solidFill>
          <a:ln/>
        </p:spPr>
      </p:sp>
      <p:sp>
        <p:nvSpPr>
          <p:cNvPr id="23" name="Kalman lag fade 19"/>
          <p:cNvSpPr/>
          <p:nvPr/>
        </p:nvSpPr>
        <p:spPr>
          <a:xfrm>
            <a:off x="5168936" y="2103120"/>
            <a:ext cx="42276" cy="1188720"/>
          </a:xfrm>
          <a:prstGeom prst="rect">
            <a:avLst/>
          </a:prstGeom>
          <a:solidFill>
            <a:srgbClr val="E18055"/>
          </a:solidFill>
          <a:ln/>
        </p:spPr>
      </p:sp>
      <p:sp>
        <p:nvSpPr>
          <p:cNvPr id="24" name="Kalman lag fade 20"/>
          <p:cNvSpPr/>
          <p:nvPr/>
        </p:nvSpPr>
        <p:spPr>
          <a:xfrm>
            <a:off x="5200239" y="2103120"/>
            <a:ext cx="42276" cy="1188720"/>
          </a:xfrm>
          <a:prstGeom prst="rect">
            <a:avLst/>
          </a:prstGeom>
          <a:solidFill>
            <a:srgbClr val="E2835A"/>
          </a:solidFill>
          <a:ln/>
        </p:spPr>
      </p:sp>
      <p:sp>
        <p:nvSpPr>
          <p:cNvPr id="25" name="Kalman lag fade 21"/>
          <p:cNvSpPr/>
          <p:nvPr/>
        </p:nvSpPr>
        <p:spPr>
          <a:xfrm>
            <a:off x="5231541" y="2103120"/>
            <a:ext cx="42276" cy="1188720"/>
          </a:xfrm>
          <a:prstGeom prst="rect">
            <a:avLst/>
          </a:prstGeom>
          <a:solidFill>
            <a:srgbClr val="E3875E"/>
          </a:solidFill>
          <a:ln/>
        </p:spPr>
      </p:sp>
      <p:sp>
        <p:nvSpPr>
          <p:cNvPr id="26" name="Kalman lag fade 22"/>
          <p:cNvSpPr/>
          <p:nvPr/>
        </p:nvSpPr>
        <p:spPr>
          <a:xfrm>
            <a:off x="5262844" y="2103120"/>
            <a:ext cx="42276" cy="1188720"/>
          </a:xfrm>
          <a:prstGeom prst="rect">
            <a:avLst/>
          </a:prstGeom>
          <a:solidFill>
            <a:srgbClr val="E38A63"/>
          </a:solidFill>
          <a:ln/>
        </p:spPr>
      </p:sp>
      <p:sp>
        <p:nvSpPr>
          <p:cNvPr id="27" name="Kalman lag fade 23"/>
          <p:cNvSpPr/>
          <p:nvPr/>
        </p:nvSpPr>
        <p:spPr>
          <a:xfrm>
            <a:off x="5294147" y="2103120"/>
            <a:ext cx="42276" cy="1188720"/>
          </a:xfrm>
          <a:prstGeom prst="rect">
            <a:avLst/>
          </a:prstGeom>
          <a:solidFill>
            <a:srgbClr val="E48E68"/>
          </a:solidFill>
          <a:ln/>
        </p:spPr>
      </p:sp>
      <p:sp>
        <p:nvSpPr>
          <p:cNvPr id="28" name="Kalman lag fade 24"/>
          <p:cNvSpPr/>
          <p:nvPr/>
        </p:nvSpPr>
        <p:spPr>
          <a:xfrm>
            <a:off x="5325450" y="2103120"/>
            <a:ext cx="42276" cy="1188720"/>
          </a:xfrm>
          <a:prstGeom prst="rect">
            <a:avLst/>
          </a:prstGeom>
          <a:solidFill>
            <a:srgbClr val="E5916C"/>
          </a:solidFill>
          <a:ln/>
        </p:spPr>
      </p:sp>
      <p:sp>
        <p:nvSpPr>
          <p:cNvPr id="29" name="Kalman lag fade 25"/>
          <p:cNvSpPr/>
          <p:nvPr/>
        </p:nvSpPr>
        <p:spPr>
          <a:xfrm>
            <a:off x="5356753" y="2103120"/>
            <a:ext cx="42276" cy="1188720"/>
          </a:xfrm>
          <a:prstGeom prst="rect">
            <a:avLst/>
          </a:prstGeom>
          <a:solidFill>
            <a:srgbClr val="E69471"/>
          </a:solidFill>
          <a:ln/>
        </p:spPr>
      </p:sp>
      <p:sp>
        <p:nvSpPr>
          <p:cNvPr id="30" name="Kalman lag fade 26"/>
          <p:cNvSpPr/>
          <p:nvPr/>
        </p:nvSpPr>
        <p:spPr>
          <a:xfrm>
            <a:off x="5388055" y="2103120"/>
            <a:ext cx="42276" cy="1188720"/>
          </a:xfrm>
          <a:prstGeom prst="rect">
            <a:avLst/>
          </a:prstGeom>
          <a:solidFill>
            <a:srgbClr val="E79875"/>
          </a:solidFill>
          <a:ln/>
        </p:spPr>
      </p:sp>
      <p:sp>
        <p:nvSpPr>
          <p:cNvPr id="31" name="Kalman lag fade 27"/>
          <p:cNvSpPr/>
          <p:nvPr/>
        </p:nvSpPr>
        <p:spPr>
          <a:xfrm>
            <a:off x="5419358" y="2103120"/>
            <a:ext cx="42276" cy="1188720"/>
          </a:xfrm>
          <a:prstGeom prst="rect">
            <a:avLst/>
          </a:prstGeom>
          <a:solidFill>
            <a:srgbClr val="E89B7A"/>
          </a:solidFill>
          <a:ln/>
        </p:spPr>
      </p:sp>
      <p:sp>
        <p:nvSpPr>
          <p:cNvPr id="32" name="Kalman lag fade 28"/>
          <p:cNvSpPr/>
          <p:nvPr/>
        </p:nvSpPr>
        <p:spPr>
          <a:xfrm>
            <a:off x="5450661" y="2103120"/>
            <a:ext cx="42276" cy="1188720"/>
          </a:xfrm>
          <a:prstGeom prst="rect">
            <a:avLst/>
          </a:prstGeom>
          <a:solidFill>
            <a:srgbClr val="E89F7F"/>
          </a:solidFill>
          <a:ln/>
        </p:spPr>
      </p:sp>
      <p:sp>
        <p:nvSpPr>
          <p:cNvPr id="33" name="Kalman lag fade 29"/>
          <p:cNvSpPr/>
          <p:nvPr/>
        </p:nvSpPr>
        <p:spPr>
          <a:xfrm>
            <a:off x="5481964" y="2103120"/>
            <a:ext cx="42276" cy="1188720"/>
          </a:xfrm>
          <a:prstGeom prst="rect">
            <a:avLst/>
          </a:prstGeom>
          <a:solidFill>
            <a:srgbClr val="E9A283"/>
          </a:solidFill>
          <a:ln/>
        </p:spPr>
      </p:sp>
      <p:sp>
        <p:nvSpPr>
          <p:cNvPr id="34" name="Kalman lag fade 30"/>
          <p:cNvSpPr/>
          <p:nvPr/>
        </p:nvSpPr>
        <p:spPr>
          <a:xfrm>
            <a:off x="5513267" y="2103120"/>
            <a:ext cx="42276" cy="1188720"/>
          </a:xfrm>
          <a:prstGeom prst="rect">
            <a:avLst/>
          </a:prstGeom>
          <a:solidFill>
            <a:srgbClr val="EAA688"/>
          </a:solidFill>
          <a:ln/>
        </p:spPr>
      </p:sp>
      <p:sp>
        <p:nvSpPr>
          <p:cNvPr id="35" name="Kalman lag fade 31"/>
          <p:cNvSpPr/>
          <p:nvPr/>
        </p:nvSpPr>
        <p:spPr>
          <a:xfrm>
            <a:off x="5544570" y="2103120"/>
            <a:ext cx="42276" cy="1188720"/>
          </a:xfrm>
          <a:prstGeom prst="rect">
            <a:avLst/>
          </a:prstGeom>
          <a:solidFill>
            <a:srgbClr val="EBA98C"/>
          </a:solidFill>
          <a:ln/>
        </p:spPr>
      </p:sp>
      <p:sp>
        <p:nvSpPr>
          <p:cNvPr id="36" name="Kalman lag fade 32"/>
          <p:cNvSpPr/>
          <p:nvPr/>
        </p:nvSpPr>
        <p:spPr>
          <a:xfrm>
            <a:off x="5575872" y="2103120"/>
            <a:ext cx="42276" cy="1188720"/>
          </a:xfrm>
          <a:prstGeom prst="rect">
            <a:avLst/>
          </a:prstGeom>
          <a:solidFill>
            <a:srgbClr val="ECAD91"/>
          </a:solidFill>
          <a:ln/>
        </p:spPr>
      </p:sp>
      <p:sp>
        <p:nvSpPr>
          <p:cNvPr id="37" name="Kalman lag fade 33"/>
          <p:cNvSpPr/>
          <p:nvPr/>
        </p:nvSpPr>
        <p:spPr>
          <a:xfrm>
            <a:off x="5607175" y="2103120"/>
            <a:ext cx="42276" cy="1188720"/>
          </a:xfrm>
          <a:prstGeom prst="rect">
            <a:avLst/>
          </a:prstGeom>
          <a:solidFill>
            <a:srgbClr val="ECB096"/>
          </a:solidFill>
          <a:ln/>
        </p:spPr>
      </p:sp>
      <p:sp>
        <p:nvSpPr>
          <p:cNvPr id="38" name="Kalman lag fade 34"/>
          <p:cNvSpPr/>
          <p:nvPr/>
        </p:nvSpPr>
        <p:spPr>
          <a:xfrm>
            <a:off x="5638478" y="2103120"/>
            <a:ext cx="42276" cy="1188720"/>
          </a:xfrm>
          <a:prstGeom prst="rect">
            <a:avLst/>
          </a:prstGeom>
          <a:solidFill>
            <a:srgbClr val="EDB49A"/>
          </a:solidFill>
          <a:ln/>
        </p:spPr>
      </p:sp>
      <p:sp>
        <p:nvSpPr>
          <p:cNvPr id="39" name="Kalman lag fade 35"/>
          <p:cNvSpPr/>
          <p:nvPr/>
        </p:nvSpPr>
        <p:spPr>
          <a:xfrm>
            <a:off x="5669781" y="2103120"/>
            <a:ext cx="42276" cy="1188720"/>
          </a:xfrm>
          <a:prstGeom prst="rect">
            <a:avLst/>
          </a:prstGeom>
          <a:solidFill>
            <a:srgbClr val="EEB79F"/>
          </a:solidFill>
          <a:ln/>
        </p:spPr>
      </p:sp>
      <p:sp>
        <p:nvSpPr>
          <p:cNvPr id="40" name="Kalman lag fade 36"/>
          <p:cNvSpPr/>
          <p:nvPr/>
        </p:nvSpPr>
        <p:spPr>
          <a:xfrm>
            <a:off x="5701084" y="2103120"/>
            <a:ext cx="31303" cy="1188720"/>
          </a:xfrm>
          <a:prstGeom prst="rect">
            <a:avLst/>
          </a:prstGeom>
          <a:solidFill>
            <a:srgbClr val="EFBAA3"/>
          </a:solidFill>
          <a:ln/>
        </p:spPr>
      </p:sp>
      <p:sp>
        <p:nvSpPr>
          <p:cNvPr id="41" name="Kalman label"/>
          <p:cNvSpPr txBox="1"/>
          <p:nvPr/>
        </p:nvSpPr>
        <p:spPr>
          <a:xfrm>
            <a:off x="548640" y="2103120"/>
            <a:ext cx="5183746" cy="1188720"/>
          </a:xfrm>
          <a:prstGeom prst="rect">
            <a:avLst/>
          </a:prstGeom>
          <a:noFill/>
          <a:ln/>
        </p:spPr>
        <p:txBody>
          <a:bodyPr wrap="square" lIns="0" tIns="0" rIns="0" bIns="0" rtlCol="0" anchor="ctr"/>
          <a:lstStyle/>
          <a:p>
            <a:pPr algn="ctr" indent="0" marL="0">
              <a:buNone/>
            </a:pPr>
            <a:r>
              <a:rPr lang="en-US" sz="2000" b="1" dirty="0">
                <a:solidFill>
                  <a:schemeClr val="bg1"/>
                </a:solidFill>
              </a:rPr>
              <a:t>Smoothing filter 36–46 ms</a:t>
            </a:r>
            <a:endParaRPr lang="en-US" sz="2000" dirty="0"/>
          </a:p>
        </p:txBody>
      </p:sp>
      <p:sp>
        <p:nvSpPr>
          <p:cNvPr id="42" name="Delay segment camera"/>
          <p:cNvSpPr/>
          <p:nvPr/>
        </p:nvSpPr>
        <p:spPr>
          <a:xfrm>
            <a:off x="5732386" y="2103120"/>
            <a:ext cx="1126901" cy="1188720"/>
          </a:xfrm>
          <a:prstGeom prst="rect">
            <a:avLst/>
          </a:prstGeom>
          <a:solidFill>
            <a:schemeClr val="accent3">
              <a:alpha val="75000"/>
            </a:schemeClr>
          </a:solidFill>
          <a:ln/>
        </p:spPr>
      </p:sp>
      <p:sp>
        <p:nvSpPr>
          <p:cNvPr id="43" name="Delay divider 1"/>
          <p:cNvSpPr/>
          <p:nvPr/>
        </p:nvSpPr>
        <p:spPr>
          <a:xfrm>
            <a:off x="5732386" y="2103120"/>
            <a:ext cx="0" cy="1188720"/>
          </a:xfrm>
          <a:prstGeom prst="line">
            <a:avLst/>
          </a:prstGeom>
          <a:noFill/>
          <a:ln w="31750">
            <a:solidFill>
              <a:schemeClr val="bg1"/>
            </a:solidFill>
            <a:prstDash val="solid"/>
          </a:ln>
        </p:spPr>
      </p:sp>
      <p:sp>
        <p:nvSpPr>
          <p:cNvPr id="44" name="Text 42"/>
          <p:cNvSpPr txBox="1"/>
          <p:nvPr/>
        </p:nvSpPr>
        <p:spPr>
          <a:xfrm>
            <a:off x="5732386" y="2103120"/>
            <a:ext cx="1126901" cy="1188720"/>
          </a:xfrm>
          <a:prstGeom prst="rect">
            <a:avLst/>
          </a:prstGeom>
          <a:noFill/>
          <a:ln/>
        </p:spPr>
        <p:txBody>
          <a:bodyPr wrap="square" lIns="0" tIns="0" rIns="0" bIns="0" rtlCol="0" anchor="ctr"/>
          <a:lstStyle/>
          <a:p>
            <a:pPr algn="ctr" indent="0" marL="0">
              <a:buNone/>
            </a:pPr>
            <a:r>
              <a:rPr lang="en-US" sz="2000" b="1" dirty="0">
                <a:solidFill>
                  <a:schemeClr val="tx2"/>
                </a:solidFill>
              </a:rPr>
              <a:t>camera</a:t>
            </a:r>
            <a:endParaRPr lang="en-US" sz="2000" dirty="0"/>
          </a:p>
          <a:p>
            <a:pPr algn="ctr" indent="0" marL="0">
              <a:buNone/>
            </a:pPr>
            <a:r>
              <a:rPr lang="en-US" sz="2000" b="1" dirty="0">
                <a:solidFill>
                  <a:schemeClr val="tx2"/>
                </a:solidFill>
              </a:rPr>
              <a:t>~10 ms</a:t>
            </a:r>
            <a:endParaRPr lang="en-US" sz="2000" dirty="0"/>
          </a:p>
        </p:txBody>
      </p:sp>
      <p:sp>
        <p:nvSpPr>
          <p:cNvPr id="45" name="Delay segment joints"/>
          <p:cNvSpPr/>
          <p:nvPr/>
        </p:nvSpPr>
        <p:spPr>
          <a:xfrm>
            <a:off x="6859288" y="2103120"/>
            <a:ext cx="1690352" cy="1188720"/>
          </a:xfrm>
          <a:prstGeom prst="rect">
            <a:avLst/>
          </a:prstGeom>
          <a:solidFill>
            <a:schemeClr val="accent3">
              <a:alpha val="55000"/>
            </a:schemeClr>
          </a:solidFill>
          <a:ln/>
        </p:spPr>
      </p:sp>
      <p:sp>
        <p:nvSpPr>
          <p:cNvPr id="46" name="Delay divider 2"/>
          <p:cNvSpPr/>
          <p:nvPr/>
        </p:nvSpPr>
        <p:spPr>
          <a:xfrm>
            <a:off x="6859288" y="2103120"/>
            <a:ext cx="0" cy="1188720"/>
          </a:xfrm>
          <a:prstGeom prst="line">
            <a:avLst/>
          </a:prstGeom>
          <a:noFill/>
          <a:ln w="31750">
            <a:solidFill>
              <a:schemeClr val="bg1"/>
            </a:solidFill>
            <a:prstDash val="solid"/>
          </a:ln>
        </p:spPr>
      </p:sp>
      <p:sp>
        <p:nvSpPr>
          <p:cNvPr id="47" name="Text 45"/>
          <p:cNvSpPr txBox="1"/>
          <p:nvPr/>
        </p:nvSpPr>
        <p:spPr>
          <a:xfrm>
            <a:off x="6859288" y="2103120"/>
            <a:ext cx="1690352" cy="118872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48" name="Delay total"/>
          <p:cNvSpPr txBox="1"/>
          <p:nvPr/>
        </p:nvSpPr>
        <p:spPr>
          <a:xfrm>
            <a:off x="8750808" y="2103120"/>
            <a:ext cx="2892247" cy="1188720"/>
          </a:xfrm>
          <a:prstGeom prst="rect">
            <a:avLst/>
          </a:prstGeom>
          <a:noFill/>
          <a:ln/>
        </p:spPr>
        <p:txBody>
          <a:bodyPr wrap="square" lIns="0" tIns="0" rIns="0" bIns="0" rtlCol="0" anchor="ctr"/>
          <a:lstStyle/>
          <a:p>
            <a:pPr indent="0" marL="0">
              <a:buNone/>
            </a:pPr>
            <a:r>
              <a:rPr lang="en-US" sz="4000" b="1" dirty="0">
                <a:solidFill>
                  <a:schemeClr val="accent3"/>
                </a:solidFill>
              </a:rPr>
              <a:t>= 61–71 ms</a:t>
            </a:r>
            <a:endParaRPr lang="en-US" sz="4000" dirty="0"/>
          </a:p>
        </p:txBody>
      </p:sp>
      <p:sp>
        <p:nvSpPr>
          <p:cNvPr id="49" name="Delay formula"/>
          <p:cNvSpPr txBox="1"/>
          <p:nvPr/>
        </p:nvSpPr>
        <p:spPr>
          <a:xfrm>
            <a:off x="548640" y="384048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Velocity error: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50" name="Formula gloss"/>
          <p:cNvSpPr txBox="1"/>
          <p:nvPr/>
        </p:nvSpPr>
        <p:spPr>
          <a:xfrm>
            <a:off x="548640" y="4572000"/>
            <a:ext cx="11094415" cy="457200"/>
          </a:xfrm>
          <a:prstGeom prst="rect">
            <a:avLst/>
          </a:prstGeom>
          <a:noFill/>
          <a:ln/>
        </p:spPr>
        <p:txBody>
          <a:bodyPr wrap="square" lIns="0" tIns="0" rIns="0" bIns="0" rtlCol="0" anchor="ctr"/>
          <a:lstStyle/>
          <a:p>
            <a:pPr indent="0" marL="0">
              <a:buNone/>
            </a:pPr>
            <a:r>
              <a:rPr lang="en-US" sz="2400" dirty="0">
                <a:solidFill>
                  <a:schemeClr val="tx1"/>
                </a:solidFill>
              </a:rPr>
              <a:t>Late by 60 ms at 1.8 steps/s → </a:t>
            </a:r>
            <a:pPr indent="0" marL="0">
              <a:buNone/>
            </a:pPr>
            <a:r>
              <a:rPr lang="en-US" sz="2400" b="1" dirty="0">
                <a:solidFill>
                  <a:schemeClr val="accent3"/>
                </a:solidFill>
              </a:rPr>
              <a:t>two-thirds</a:t>
            </a:r>
            <a:pPr indent="0" marL="0">
              <a:buNone/>
            </a:pPr>
            <a:r>
              <a:rPr lang="en-US" sz="2400" dirty="0">
                <a:solidFill>
                  <a:schemeClr val="tx1"/>
                </a:solidFill>
              </a:rPr>
              <a:t> of the speed signal is wrong</a:t>
            </a:r>
            <a:endParaRPr lang="en-US" sz="2400" dirty="0"/>
          </a:p>
        </p:txBody>
      </p:sp>
      <p:sp>
        <p:nvSpPr>
          <p:cNvPr id="51" name="Evidence"/>
          <p:cNvSpPr txBox="1"/>
          <p:nvPr/>
        </p:nvSpPr>
        <p:spPr>
          <a:xfrm>
            <a:off x="548640" y="5257800"/>
            <a:ext cx="11094415" cy="411480"/>
          </a:xfrm>
          <a:prstGeom prst="rect">
            <a:avLst/>
          </a:prstGeom>
          <a:noFill/>
          <a:ln/>
        </p:spPr>
        <p:txBody>
          <a:bodyPr wrap="square" lIns="0" tIns="0" rIns="0" bIns="0" rtlCol="0" anchor="ctr"/>
          <a:lstStyle/>
          <a:p>
            <a:pPr indent="0" marL="0">
              <a:buNone/>
            </a:pPr>
            <a:r>
              <a:rPr lang="en-US" sz="2000" dirty="0">
                <a:solidFill>
                  <a:schemeClr val="accent4"/>
                </a:solidFill>
              </a:rPr>
              <a:t>Nothing fitted: explains the hardware better than a no-speed model, 6 of 6 wearers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What it achieved, and what comes next</a:t>
            </a:r>
            <a:endParaRPr lang="en-US" sz="3200" dirty="0"/>
          </a:p>
        </p:txBody>
      </p:sp>
      <p:sp>
        <p:nvSpPr>
          <p:cNvPr id="4" name="Impact card"/>
          <p:cNvSpPr/>
          <p:nvPr/>
        </p:nvSpPr>
        <p:spPr>
          <a:xfrm>
            <a:off x="548640" y="1783080"/>
            <a:ext cx="493776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14400" y="2011680"/>
            <a:ext cx="4206240" cy="1508760"/>
          </a:xfrm>
          <a:prstGeom prst="rect">
            <a:avLst/>
          </a:prstGeom>
          <a:noFill/>
          <a:ln/>
        </p:spPr>
        <p:txBody>
          <a:bodyPr wrap="square" lIns="0" tIns="0" rIns="0" bIns="0" rtlCol="0" anchor="ctr"/>
          <a:lstStyle/>
          <a:p>
            <a:pPr indent="0" marL="0">
              <a:buNone/>
            </a:pPr>
            <a:r>
              <a:rPr lang="en-US" sz="12000" b="1" dirty="0">
                <a:solidFill>
                  <a:schemeClr val="bg1"/>
                </a:solidFill>
              </a:rPr>
              <a:t>~2/3</a:t>
            </a:r>
            <a:endParaRPr lang="en-US" sz="12000" dirty="0"/>
          </a:p>
        </p:txBody>
      </p:sp>
      <p:sp>
        <p:nvSpPr>
          <p:cNvPr id="6" name="Impact label"/>
          <p:cNvSpPr txBox="1"/>
          <p:nvPr/>
        </p:nvSpPr>
        <p:spPr>
          <a:xfrm>
            <a:off x="914400" y="3611880"/>
            <a:ext cx="4206240" cy="868680"/>
          </a:xfrm>
          <a:prstGeom prst="rect">
            <a:avLst/>
          </a:prstGeom>
          <a:noFill/>
          <a:ln/>
        </p:spPr>
        <p:txBody>
          <a:bodyPr wrap="square" lIns="0" tIns="0" rIns="0" bIns="0" rtlCol="0" anchor="t"/>
          <a:lstStyle/>
          <a:p>
            <a:pPr indent="0" marL="0">
              <a:buNone/>
            </a:pPr>
            <a:r>
              <a:rPr lang="en-US" sz="2400" dirty="0">
                <a:solidFill>
                  <a:schemeClr val="bg1"/>
                </a:solidFill>
              </a:rPr>
              <a:t>walking motion removed</a:t>
            </a:r>
            <a:endParaRPr lang="en-US" sz="2400" dirty="0"/>
          </a:p>
          <a:p>
            <a:pPr indent="0" marL="0">
              <a:buNone/>
            </a:pPr>
            <a:r>
              <a:rPr lang="en-US" sz="2400" dirty="0">
                <a:solidFill>
                  <a:schemeClr val="bg1"/>
                </a:solidFill>
              </a:rPr>
              <a:t>on hardware</a:t>
            </a:r>
            <a:endParaRPr lang="en-US" sz="2400" dirty="0"/>
          </a:p>
        </p:txBody>
      </p:sp>
      <p:sp>
        <p:nvSpPr>
          <p:cNvPr id="7" name="Found-limit panel"/>
          <p:cNvSpPr/>
          <p:nvPr/>
        </p:nvSpPr>
        <p:spPr>
          <a:xfrm>
            <a:off x="777240" y="5029200"/>
            <a:ext cx="4480560" cy="960120"/>
          </a:xfrm>
          <a:prstGeom prst="roundRect">
            <a:avLst>
              <a:gd name="adj" fmla="val 9524"/>
            </a:avLst>
          </a:prstGeom>
          <a:solidFill>
            <a:schemeClr val="accent1"/>
          </a:solidFill>
          <a:ln/>
        </p:spPr>
      </p:sp>
      <p:sp>
        <p:nvSpPr>
          <p:cNvPr id="8" name="Found the limit"/>
          <p:cNvSpPr txBox="1"/>
          <p:nvPr/>
        </p:nvSpPr>
        <p:spPr>
          <a:xfrm>
            <a:off x="1005840" y="5029200"/>
            <a:ext cx="4023360" cy="960120"/>
          </a:xfrm>
          <a:prstGeom prst="rect">
            <a:avLst/>
          </a:prstGeom>
          <a:noFill/>
          <a:ln/>
        </p:spPr>
        <p:txBody>
          <a:bodyPr wrap="square" lIns="0" tIns="0" rIns="0" bIns="0" rtlCol="0" anchor="ctr"/>
          <a:lstStyle/>
          <a:p>
            <a:pPr indent="0" marL="0">
              <a:buNone/>
            </a:pPr>
            <a:r>
              <a:rPr lang="en-US" sz="2200" b="1" dirty="0">
                <a:solidFill>
                  <a:schemeClr val="bg1"/>
                </a:solidFill>
              </a:rPr>
              <a:t>Found the limit: </a:t>
            </a:r>
            <a:pPr indent="0" marL="0">
              <a:buNone/>
            </a:pPr>
            <a:r>
              <a:rPr lang="en-US" sz="2200" dirty="0">
                <a:solidFill>
                  <a:schemeClr val="bg1"/>
                </a:solidFill>
              </a:rPr>
              <a:t>a 61–71 ms delay</a:t>
            </a:r>
            <a:endParaRPr lang="en-US" sz="2200" dirty="0"/>
          </a:p>
        </p:txBody>
      </p:sp>
      <p:sp>
        <p:nvSpPr>
          <p:cNvPr id="9" name="Next heading"/>
          <p:cNvSpPr txBox="1"/>
          <p:nvPr/>
        </p:nvSpPr>
        <p:spPr>
          <a:xfrm>
            <a:off x="6035040" y="1874520"/>
            <a:ext cx="5608015" cy="502920"/>
          </a:xfrm>
          <a:prstGeom prst="rect">
            <a:avLst/>
          </a:prstGeom>
          <a:noFill/>
          <a:ln/>
        </p:spPr>
        <p:txBody>
          <a:bodyPr wrap="square" lIns="0" tIns="0" rIns="0" bIns="0" rtlCol="0" anchor="t"/>
          <a:lstStyle/>
          <a:p>
            <a:pPr indent="0" marL="0">
              <a:buNone/>
            </a:pPr>
            <a:r>
              <a:rPr lang="en-US" sz="2800" b="1" dirty="0">
                <a:solidFill>
                  <a:schemeClr val="tx2"/>
                </a:solidFill>
              </a:rPr>
              <a:t>Next</a:t>
            </a:r>
            <a:endParaRPr lang="en-US" sz="2800" dirty="0"/>
          </a:p>
        </p:txBody>
      </p:sp>
      <p:sp>
        <p:nvSpPr>
          <p:cNvPr id="10" name="Next 1"/>
          <p:cNvSpPr txBox="1"/>
          <p:nvPr/>
        </p:nvSpPr>
        <p:spPr>
          <a:xfrm>
            <a:off x="6035040" y="2606040"/>
            <a:ext cx="502920" cy="502920"/>
          </a:xfrm>
          <a:prstGeom prst="roundRect">
            <a:avLst>
              <a:gd name="adj" fmla="val 49091"/>
            </a:avLst>
          </a:prstGeom>
          <a:solidFill>
            <a:schemeClr val="accent3"/>
          </a:solidFill>
          <a:ln/>
        </p:spPr>
        <p:txBody>
          <a:bodyPr wrap="square" lIns="508" tIns="508" rIns="508" bIns="508" rtlCol="0" anchor="ctr"/>
          <a:lstStyle/>
          <a:p>
            <a:pPr algn="ctr" indent="0" marL="0">
              <a:buNone/>
            </a:pPr>
            <a:r>
              <a:rPr lang="en-US" sz="2200" b="1" dirty="0">
                <a:solidFill>
                  <a:schemeClr val="bg1"/>
                </a:solidFill>
              </a:rPr>
              <a:t>1</a:t>
            </a:r>
            <a:endParaRPr lang="en-US" sz="2200" dirty="0"/>
          </a:p>
        </p:txBody>
      </p:sp>
      <p:sp>
        <p:nvSpPr>
          <p:cNvPr id="11" name="Next step 1"/>
          <p:cNvSpPr txBox="1"/>
          <p:nvPr/>
        </p:nvSpPr>
        <p:spPr>
          <a:xfrm>
            <a:off x="6766560" y="2560320"/>
            <a:ext cx="4876495" cy="594360"/>
          </a:xfrm>
          <a:prstGeom prst="rect">
            <a:avLst/>
          </a:prstGeom>
          <a:noFill/>
          <a:ln/>
        </p:spPr>
        <p:txBody>
          <a:bodyPr wrap="square" lIns="0" tIns="0" rIns="0" bIns="0" rtlCol="0" anchor="ctr"/>
          <a:lstStyle/>
          <a:p>
            <a:pPr indent="0" marL="0">
              <a:buNone/>
            </a:pPr>
            <a:r>
              <a:rPr lang="en-US" sz="2400" dirty="0">
                <a:solidFill>
                  <a:schemeClr val="tx1"/>
                </a:solidFill>
              </a:rPr>
              <a:t>Faster speed estimate</a:t>
            </a:r>
            <a:endParaRPr lang="en-US" sz="2400" dirty="0"/>
          </a:p>
        </p:txBody>
      </p:sp>
      <p:sp>
        <p:nvSpPr>
          <p:cNvPr id="12" name="Next 2"/>
          <p:cNvSpPr txBox="1"/>
          <p:nvPr/>
        </p:nvSpPr>
        <p:spPr>
          <a:xfrm>
            <a:off x="6035040" y="3611880"/>
            <a:ext cx="502920" cy="502920"/>
          </a:xfrm>
          <a:prstGeom prst="roundRect">
            <a:avLst>
              <a:gd name="adj" fmla="val 49091"/>
            </a:avLst>
          </a:prstGeom>
          <a:solidFill>
            <a:schemeClr val="accent2"/>
          </a:solidFill>
          <a:ln/>
        </p:spPr>
        <p:txBody>
          <a:bodyPr wrap="square" lIns="508" tIns="508" rIns="508" bIns="508" rtlCol="0" anchor="ctr"/>
          <a:lstStyle/>
          <a:p>
            <a:pPr algn="ctr" indent="0" marL="0">
              <a:buNone/>
            </a:pPr>
            <a:r>
              <a:rPr lang="en-US" sz="2200" b="1" dirty="0">
                <a:solidFill>
                  <a:schemeClr val="bg1"/>
                </a:solidFill>
              </a:rPr>
              <a:t>2</a:t>
            </a:r>
            <a:endParaRPr lang="en-US" sz="2200" dirty="0"/>
          </a:p>
        </p:txBody>
      </p:sp>
      <p:sp>
        <p:nvSpPr>
          <p:cNvPr id="13" name="Next step 2"/>
          <p:cNvSpPr txBox="1"/>
          <p:nvPr/>
        </p:nvSpPr>
        <p:spPr>
          <a:xfrm>
            <a:off x="6766560" y="3566160"/>
            <a:ext cx="4876495" cy="777240"/>
          </a:xfrm>
          <a:prstGeom prst="rect">
            <a:avLst/>
          </a:prstGeom>
          <a:noFill/>
          <a:ln/>
        </p:spPr>
        <p:txBody>
          <a:bodyPr wrap="square" lIns="0" tIns="0" rIns="0" bIns="0" rtlCol="0" anchor="ctr"/>
          <a:lstStyle/>
          <a:p>
            <a:pPr indent="0" marL="0">
              <a:buNone/>
            </a:pPr>
            <a:r>
              <a:rPr lang="en-US" sz="2400" dirty="0">
                <a:solidFill>
                  <a:schemeClr val="tx1"/>
                </a:solidFill>
              </a:rPr>
              <a:t>Then feedforward</a:t>
            </a:r>
            <a:endParaRPr lang="en-US" sz="2400" dirty="0"/>
          </a:p>
          <a:p>
            <a:pPr indent="0" marL="0">
              <a:buNone/>
            </a:pPr>
            <a:r>
              <a:rPr lang="en-US" sz="2000" dirty="0">
                <a:solidFill>
                  <a:schemeClr val="accent4"/>
                </a:solidFill>
              </a:rPr>
              <a:t>(sim: 6.7 → 2.6 mm)</a:t>
            </a:r>
            <a:endParaRPr lang="en-US" sz="2400" dirty="0"/>
          </a:p>
        </p:txBody>
      </p:sp>
      <p:sp>
        <p:nvSpPr>
          <p:cNvPr id="14" name="Lesson card"/>
          <p:cNvSpPr/>
          <p:nvPr/>
        </p:nvSpPr>
        <p:spPr>
          <a:xfrm>
            <a:off x="6035040" y="5029200"/>
            <a:ext cx="5608015" cy="1234440"/>
          </a:xfrm>
          <a:prstGeom prst="roundRect">
            <a:avLst>
              <a:gd name="adj" fmla="val 10370"/>
            </a:avLst>
          </a:prstGeom>
          <a:solidFill>
            <a:schemeClr val="bg2"/>
          </a:solidFill>
          <a:ln/>
        </p:spPr>
      </p:sp>
      <p:sp>
        <p:nvSpPr>
          <p:cNvPr id="15" name="Lesson"/>
          <p:cNvSpPr txBox="1"/>
          <p:nvPr/>
        </p:nvSpPr>
        <p:spPr>
          <a:xfrm>
            <a:off x="6355080" y="5029200"/>
            <a:ext cx="4967935" cy="1234440"/>
          </a:xfrm>
          <a:prstGeom prst="rect">
            <a:avLst/>
          </a:prstGeom>
          <a:noFill/>
          <a:ln/>
        </p:spPr>
        <p:txBody>
          <a:bodyPr wrap="square" lIns="0" tIns="0" rIns="0" bIns="0" rtlCol="0" anchor="ctr"/>
          <a:lstStyle/>
          <a:p>
            <a:pPr indent="0" marL="0">
              <a:buNone/>
            </a:pPr>
            <a:r>
              <a:rPr lang="en-US" sz="2600" b="1" dirty="0">
                <a:solidFill>
                  <a:schemeClr val="tx2"/>
                </a:solidFill>
              </a:rPr>
              <a:t>Lesson: </a:t>
            </a:r>
            <a:pPr indent="0" marL="0">
              <a:buNone/>
            </a:pPr>
            <a:r>
              <a:rPr lang="en-US" sz="2600" dirty="0">
                <a:solidFill>
                  <a:schemeClr val="tx1"/>
                </a:solidFill>
              </a:rPr>
              <a:t>measure delays before tuning</a:t>
            </a:r>
            <a:endParaRPr lang="en-US" sz="2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5"/>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5"/>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2026-10-12T07:07:45Z</dcterms:created>
  <dcterms:modified xsi:type="dcterms:W3CDTF">2026-10-12T07:07:45Z</dcterms:modified>
</cp:coreProperties>
</file>