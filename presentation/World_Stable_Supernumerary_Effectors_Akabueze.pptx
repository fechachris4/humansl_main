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7f131b-89b4-11bd-6dc6-845945250cd5}">
          <p14:sldIdLst>
            <p14:sldId id="256"/>
          </p14:sldIdLst>
        </p14:section>
        <p14:section name="Problem" id="{d4039d90-9487-f758-af9f-ac5782ce7330}">
          <p14:sldIdLst>
            <p14:sldId id="257"/>
          </p14:sldIdLst>
        </p14:section>
        <p14:section name="Approach &amp; solution" id="{3427ad19-76b0-a279-8945-8bbc4dfd2745}">
          <p14:sldIdLst>
            <p14:sldId id="258"/>
            <p14:sldId id="259"/>
            <p14:sldId id="260"/>
          </p14:sldIdLst>
        </p14:section>
        <p14:section name="Trade-offs &amp; challenges" id="{a0c8d473-5ecc-ad03-24cb-48eb7536a3bb}">
          <p14:sldIdLst>
            <p14:sldId id="261"/>
            <p14:sldId id="262"/>
          </p14:sldIdLst>
        </p14:section>
        <p14:section name="Impact" id="{bfc7e91f-bb9c-7072-181b-20e73a8a5d16}">
          <p14:sldIdLst>
            <p14:sldId id="263"/>
          </p14:sldIdLst>
        </p14:section>
        <p14:section name="Close" id="{abc17e30-5a6e-c9eb-c623-081c6494b47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That was my MSc project, in the MUVE Lab at Imperial; I'm Christian Akabueze. Here the wearer twists about sixty degrees: the elbows swing, and the hands stay close to where they were. To be clear up front: the simulation, my controllers, the trial analysis and the diagnosis are mine; the hardware trials ran a 400 hertz controller on the lab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1:15] The arms are two seven-joint Kinova Gen3 robots on a backpack, and Vicon motion capture tracks the backpack. If the arms were locked, held rigid on the backpack, walking would move the hands 63 to 68 millimetres RMS, at every speed we tried. Steps come about 1.8 times a second, so this is fast, repeating motion, not slow drift. So the goal is set in the world frame: hold each hand fixed in the room, not on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2:35] The approach is a chain of 3D frames. Vicon gives the backpack's pose in the room, live. The arm base sits at a fixed, known offset on the backpack, and forward kinematics places the hand. Composing them gives the hand's pose and Jacobian in the room frame: the same composition as camera extrinsics. The control law is a PD term on that room-frame error, how far the hand is from its spot and how fast it is drifting, turned into joint speeds by a damped pseudo-inverse. A null-space term also uses the arm's spare degree of freedom to keep the joints near mid-range without moving the hand, and a safety filter swaps any command that gets too close to the wearer for the nearest safe one; in simulation it was on but never had to step in. I wrote this law in Python for simulation and as a 500 hertz real-time C++ controller, the second link at the end. Keep an eye on the orange part, K-d times e-dot, the velocity term.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3:25] In simulation, I ran my Python controller in MuJoCo, a physics engine. Here the backpack's velocity is exact and on time; hold that thought. The backpack follows a walking-like motion at 1.8 hertz, smaller than real walking. Over eight seconds, locked arms leave 31.0 millimetres RMS, and the reactive controller brings that to 6.7. Adding feedforward, which uses that exact velocity to cancel the backpack's motion as it happens instead of waiting for the error, brings it to 2.6. The counters in the clip are a running RMS over a shorter window. The gains here are stiffer than on hardware, so compare trends, not millimetres. And remember that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 4:55] Seven people walked on a treadmill at 0.5, 1 and 1.5 metres per second. The trials ran a 400 hertz controller on the lab machine: Kalman-filtered Vicon, no feedforward, and a velocity term with gain K-d. My C++ controller did not run these trials; the analysis is mine. The replay is a typical trial at 1 metre per second, closest to that wearer's median. Grey is where the hand would have gone with the arm locked to the mount, the backpack, and blue is where it went. I checked that locked-arm model on uncontrolled arms: median error half a percent, over 126 arms. Scored that way, the arms removed 71, 63 and 56 percent of the motion. Those are means over six of the seven people, four at the fastest speed; the first session is reported separately. 128 walking trials in all, mostly one arm at a time. Faster walking moves the hand faster, not further, and fast motion is harder to cancel: at 1 metre per second, motion at a quarter of a hertz is 85 percent cancelled, but the bounce of each step, at 2 hertz, only 29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5:40] The obvious fix for that bounce is more velocity gain. In a pilot session with one wearer, K-d was stepped from 0.8 to 2.6. The model predicted that the share of the backpack's motion reaching the hand near 1 hertz would fall by 38 percent. It fell by 9, about a quarter of the predicted effect. And across six people, the measured amplitude sits on a model with no velocity term at all, so the two-thirds removed on hardware is roughly what the position term alone would give. So the velocity term was barely acting, and more tuning wouldn't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 7:30] So I traced the velocity signal end to end. The Kalman estimate of the backpack's velocity lags by 36 to 46 milliseconds; the Vicon data is about 10 milliseconds old; the joints take about 15 to respond: 61 to 71 milliseconds in total. That's the trade-off: filtering makes the velocity smooth, but late. The arm reacts to how the backpack was moving, not how it moves now. A velocity that is d late is off by two sine omega d over two of its own size, with omega two pi times the step frequency: at 1.8 hertz and this delay, about 70 percent. For feedforward, that is exactly what's left uncancelled. Inside a feedback loop it also depends on the gains, so I checked the full model: with the measured delay and nothing fitted, it matches the hardware, in amplitude and phase, better than the no-velocity model in six of six people. The two differ mainly in phase, which is why the amplitude alone sat on the no-velocity model. And in simulation I can delay the velocity on purpose: at 60 milliseconds, the velocity term and the feedforward both end up at 8.2 to 8.6 millimetres, worse than the 7.5 with no velocity term. So a delay this size is enough, on its own, to erase the benefit. It's the best explanation, not yet proof; confirming it means changing the estimator on hardware, which is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8:45] On hardware, about two-thirds of walking motion was removed: 56 to 71 percent, means over six of the seven wearers, scored by my analysis. The part I'm proudest of is the diagnosis. When tuning stopped helping, the data pointed to a 61 to 71 millisecond delay, and that sets the next step: a faster velocity estimate, then feedforward on the real arms, which in simulation, with no delay, took the error from 6.7 to 2.6 millimetres. My own C++ controller isn't that fix yet: its velocity estimate uses a 50 millisecond low-pass, about 45 milliseconds of lag at step frequency. What transfers beyond robotics: frames and calibration are camera extrinsics. The hand sat a constant 18 to 21 millimetres from its goal, and arm by arm that offset follows how far the kinematic model and Vicon disagree: a calibration problem. A latency budget is sensor time-sync. And I validated my metric against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8:55] Thank you. The results, simulation and figures are in msc_project, and my C++ real-time controller is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9-1.png"/><Relationship Id="rId4" Type="http://schemas.openxmlformats.org/officeDocument/2006/relationships/image" Target="../media/image-9-2.png"/><Relationship Id="rId8" Type="http://schemas.openxmlformats.org/officeDocument/2006/relationships/slideLayout" Target="../slideLayouts/slideLayout4.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06040"/>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679192"/>
            <a:ext cx="4837176" cy="3301898"/>
          </a:xfrm>
          <a:prstGeom prst="rect">
            <a:avLst/>
          </a:prstGeom>
        </p:spPr>
      </p:pic>
      <p:sp>
        <p:nvSpPr>
          <p:cNvPr id="6" name="Caption"/>
          <p:cNvSpPr txBox="1"/>
          <p:nvPr/>
        </p:nvSpPr>
        <p:spPr>
          <a:xfrm>
            <a:off x="6659575" y="6127394"/>
            <a:ext cx="4983480" cy="274320"/>
          </a:xfrm>
          <a:prstGeom prst="rect">
            <a:avLst/>
          </a:prstGeom>
          <a:noFill/>
          <a:ln/>
        </p:spPr>
        <p:txBody>
          <a:bodyPr wrap="square" lIns="0" tIns="0" rIns="0" bIns="0" rtlCol="0" anchor="t"/>
          <a:lstStyle/>
          <a:p>
            <a:pPr indent="0" marL="0">
              <a:buNone/>
            </a:pPr>
            <a:r>
              <a:rPr lang="en-US" sz="1600" dirty="0">
                <a:solidFill>
                  <a:schemeClr val="bg1"/>
                </a:solidFill>
              </a:rPr>
              <a:t>Watch the hands, not the elbows.</a:t>
            </a:r>
            <a:endParaRPr lang="en-US" sz="1600" dirty="0"/>
          </a:p>
        </p:txBody>
      </p:sp>
      <p:sp>
        <p:nvSpPr>
          <p:cNvPr id="7" name="Presenter"/>
          <p:cNvSpPr txBox="1"/>
          <p:nvPr/>
        </p:nvSpPr>
        <p:spPr>
          <a:xfrm>
            <a:off x="548640" y="3735781"/>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Stat 63–68 mm"/>
          <p:cNvSpPr txBox="1"/>
          <p:nvPr/>
        </p:nvSpPr>
        <p:spPr>
          <a:xfrm>
            <a:off x="4045347" y="214884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63–68 mm</a:t>
            </a:r>
            <a:endParaRPr lang="en-US" sz="8000" dirty="0"/>
          </a:p>
        </p:txBody>
      </p:sp>
      <p:sp>
        <p:nvSpPr>
          <p:cNvPr id="7" name="Stat 63–68 mm label"/>
          <p:cNvSpPr txBox="1"/>
          <p:nvPr/>
        </p:nvSpPr>
        <p:spPr>
          <a:xfrm>
            <a:off x="4045347" y="325526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hand motion, arm locked (RMS)</a:t>
            </a:r>
            <a:endParaRPr lang="en-US" sz="2400" dirty="0"/>
          </a:p>
        </p:txBody>
      </p:sp>
      <p:sp>
        <p:nvSpPr>
          <p:cNvPr id="8" name="Stat ~1.8 Hz"/>
          <p:cNvSpPr txBox="1"/>
          <p:nvPr/>
        </p:nvSpPr>
        <p:spPr>
          <a:xfrm>
            <a:off x="4045347" y="379476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~1.8 Hz</a:t>
            </a:r>
            <a:endParaRPr lang="en-US" sz="8000" dirty="0"/>
          </a:p>
        </p:txBody>
      </p:sp>
      <p:sp>
        <p:nvSpPr>
          <p:cNvPr id="9" name="Stat ~1.8 Hz label"/>
          <p:cNvSpPr txBox="1"/>
          <p:nvPr/>
        </p:nvSpPr>
        <p:spPr>
          <a:xfrm>
            <a:off x="4045347" y="490118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step rate</a:t>
            </a:r>
            <a:endParaRPr lang="en-US" sz="2400" dirty="0"/>
          </a:p>
        </p:txBody>
      </p:sp>
      <p:sp>
        <p:nvSpPr>
          <p:cNvPr id="10" name="Goal"/>
          <p:cNvSpPr txBox="1"/>
          <p:nvPr/>
        </p:nvSpPr>
        <p:spPr>
          <a:xfrm>
            <a:off x="4045347" y="5943600"/>
            <a:ext cx="7597709" cy="457200"/>
          </a:xfrm>
          <a:prstGeom prst="rect">
            <a:avLst/>
          </a:prstGeom>
          <a:noFill/>
          <a:ln/>
        </p:spPr>
        <p:txBody>
          <a:bodyPr wrap="square" lIns="0" tIns="0" rIns="0" bIns="0" rtlCol="0" anchor="b"/>
          <a:lstStyle/>
          <a:p>
            <a:pPr indent="0" marL="0">
              <a:buNone/>
            </a:pPr>
            <a:r>
              <a:rPr lang="en-US" sz="2600" b="1" dirty="0">
                <a:solidFill>
                  <a:schemeClr val="tx2"/>
                </a:solidFill>
              </a:rPr>
              <a:t>Goal: hands fixed in the room, not the body</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World</a:t>
            </a:r>
            <a:endParaRPr lang="en-US" sz="2400" dirty="0"/>
          </a:p>
        </p:txBody>
      </p:sp>
      <p:sp>
        <p:nvSpPr>
          <p:cNvPr id="5" name="Frame Backpack"/>
          <p:cNvSpPr txBox="1"/>
          <p:nvPr/>
        </p:nvSpPr>
        <p:spPr>
          <a:xfrm>
            <a:off x="3545738"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Backpack</a:t>
            </a:r>
            <a:endParaRPr lang="en-US" sz="2400" dirty="0"/>
          </a:p>
        </p:txBody>
      </p:sp>
      <p:sp>
        <p:nvSpPr>
          <p:cNvPr id="6" name="Frame Arm base"/>
          <p:cNvSpPr txBox="1"/>
          <p:nvPr/>
        </p:nvSpPr>
        <p:spPr>
          <a:xfrm>
            <a:off x="6542837"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Arm base</a:t>
            </a:r>
            <a:endParaRPr lang="en-US" sz="2400" dirty="0"/>
          </a:p>
        </p:txBody>
      </p:sp>
      <p:sp>
        <p:nvSpPr>
          <p:cNvPr id="7" name="Frame Hand"/>
          <p:cNvSpPr txBox="1"/>
          <p:nvPr/>
        </p:nvSpPr>
        <p:spPr>
          <a:xfrm>
            <a:off x="9539935"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Hand</a:t>
            </a:r>
            <a:endParaRPr lang="en-US" sz="2400" dirty="0"/>
          </a:p>
        </p:txBody>
      </p:sp>
      <p:sp>
        <p:nvSpPr>
          <p:cNvPr id="8" name="Shape 6"/>
          <p:cNvSpPr/>
          <p:nvPr/>
        </p:nvSpPr>
        <p:spPr>
          <a:xfrm>
            <a:off x="2724912" y="2400300"/>
            <a:ext cx="747674" cy="0"/>
          </a:xfrm>
          <a:prstGeom prst="line">
            <a:avLst/>
          </a:prstGeom>
          <a:noFill/>
          <a:ln w="28575">
            <a:solidFill>
              <a:schemeClr val="tx2"/>
            </a:solidFill>
            <a:prstDash val="solid"/>
            <a:tailEnd type="triangle"/>
          </a:ln>
        </p:spPr>
      </p:sp>
      <p:sp>
        <p:nvSpPr>
          <p:cNvPr id="9" name="Edge Vicon, live"/>
          <p:cNvSpPr txBox="1"/>
          <p:nvPr/>
        </p:nvSpPr>
        <p:spPr>
          <a:xfrm>
            <a:off x="1727149" y="3127248"/>
            <a:ext cx="2743200" cy="594360"/>
          </a:xfrm>
          <a:prstGeom prst="roundRect">
            <a:avLst>
              <a:gd name="adj" fmla="val 18462"/>
            </a:avLst>
          </a:prstGeom>
          <a:solidFill>
            <a:schemeClr val="accent2"/>
          </a:solidFill>
          <a:ln/>
        </p:spPr>
        <p:txBody>
          <a:bodyPr wrap="square" lIns="508" tIns="508" rIns="508" bIns="508" rtlCol="0" anchor="ctr"/>
          <a:lstStyle/>
          <a:p>
            <a:pPr algn="ctr" indent="0" marL="0">
              <a:buNone/>
            </a:pPr>
            <a:r>
              <a:rPr lang="en-US" sz="2000" b="1" dirty="0">
                <a:solidFill>
                  <a:schemeClr val="bg1"/>
                </a:solidFill>
              </a:rPr>
              <a:t>Vicon, live</a:t>
            </a:r>
            <a:endParaRPr lang="en-US" sz="2000" dirty="0"/>
          </a:p>
        </p:txBody>
      </p:sp>
      <p:sp>
        <p:nvSpPr>
          <p:cNvPr id="10" name="Shape 8"/>
          <p:cNvSpPr/>
          <p:nvPr/>
        </p:nvSpPr>
        <p:spPr>
          <a:xfrm>
            <a:off x="5722010" y="2400300"/>
            <a:ext cx="747674" cy="0"/>
          </a:xfrm>
          <a:prstGeom prst="line">
            <a:avLst/>
          </a:prstGeom>
          <a:noFill/>
          <a:ln w="28575">
            <a:solidFill>
              <a:schemeClr val="tx2"/>
            </a:solidFill>
            <a:prstDash val="solid"/>
            <a:tailEnd type="triangle"/>
          </a:ln>
        </p:spPr>
      </p:sp>
      <p:sp>
        <p:nvSpPr>
          <p:cNvPr id="11" name="Edge fixed offset"/>
          <p:cNvSpPr txBox="1"/>
          <p:nvPr/>
        </p:nvSpPr>
        <p:spPr>
          <a:xfrm>
            <a:off x="4724248" y="3127248"/>
            <a:ext cx="2743200" cy="594360"/>
          </a:xfrm>
          <a:prstGeom prst="roundRect">
            <a:avLst>
              <a:gd name="adj" fmla="val 18462"/>
            </a:avLst>
          </a:prstGeom>
          <a:solidFill>
            <a:schemeClr val="bg2"/>
          </a:solidFill>
          <a:ln/>
        </p:spPr>
        <p:txBody>
          <a:bodyPr wrap="square" lIns="508" tIns="508" rIns="508" bIns="508" rtlCol="0" anchor="ctr"/>
          <a:lstStyle/>
          <a:p>
            <a:pPr algn="ctr" indent="0" marL="0">
              <a:buNone/>
            </a:pPr>
            <a:r>
              <a:rPr lang="en-US" sz="2000" b="1" dirty="0">
                <a:solidFill>
                  <a:schemeClr val="tx2"/>
                </a:solidFill>
              </a:rPr>
              <a:t>fixed offset</a:t>
            </a:r>
            <a:endParaRPr lang="en-US" sz="2000" dirty="0"/>
          </a:p>
        </p:txBody>
      </p:sp>
      <p:sp>
        <p:nvSpPr>
          <p:cNvPr id="12" name="Shape 10"/>
          <p:cNvSpPr/>
          <p:nvPr/>
        </p:nvSpPr>
        <p:spPr>
          <a:xfrm>
            <a:off x="8719109" y="2400300"/>
            <a:ext cx="747674" cy="0"/>
          </a:xfrm>
          <a:prstGeom prst="line">
            <a:avLst/>
          </a:prstGeom>
          <a:noFill/>
          <a:ln w="28575">
            <a:solidFill>
              <a:schemeClr val="tx2"/>
            </a:solidFill>
            <a:prstDash val="solid"/>
            <a:tailEnd type="triangle"/>
          </a:ln>
        </p:spPr>
      </p:sp>
      <p:sp>
        <p:nvSpPr>
          <p:cNvPr id="13" name="Edge forward kinematics"/>
          <p:cNvSpPr txBox="1"/>
          <p:nvPr/>
        </p:nvSpPr>
        <p:spPr>
          <a:xfrm>
            <a:off x="7721346" y="3127248"/>
            <a:ext cx="2743200" cy="594360"/>
          </a:xfrm>
          <a:prstGeom prst="roundRect">
            <a:avLst>
              <a:gd name="adj" fmla="val 18462"/>
            </a:avLst>
          </a:prstGeom>
          <a:solidFill>
            <a:schemeClr val="accent5"/>
          </a:solidFill>
          <a:ln/>
        </p:spPr>
        <p:txBody>
          <a:bodyPr wrap="square" lIns="508" tIns="508" rIns="508" bIns="508" rtlCol="0" anchor="ctr"/>
          <a:lstStyle/>
          <a:p>
            <a:pPr algn="ctr" indent="0" marL="0">
              <a:buNone/>
            </a:pPr>
            <a:r>
              <a:rPr lang="en-US" sz="2000" b="1" dirty="0">
                <a:solidFill>
                  <a:schemeClr val="tx2"/>
                </a:solidFill>
              </a:rPr>
              <a:t>forward kinematics</a:t>
            </a:r>
            <a:endParaRPr lang="en-US" sz="2000" dirty="0"/>
          </a:p>
        </p:txBody>
      </p:sp>
      <p:sp>
        <p:nvSpPr>
          <p:cNvPr id="14" name="Equation card"/>
          <p:cNvSpPr/>
          <p:nvPr/>
        </p:nvSpPr>
        <p:spPr>
          <a:xfrm>
            <a:off x="548640" y="4069080"/>
            <a:ext cx="11094415" cy="1097280"/>
          </a:xfrm>
          <a:prstGeom prst="roundRect">
            <a:avLst>
              <a:gd name="adj" fmla="val 11667"/>
            </a:avLst>
          </a:prstGeom>
          <a:solidFill>
            <a:schemeClr val="bg2"/>
          </a:solidFill>
          <a:ln/>
        </p:spPr>
      </p:sp>
      <p:sp>
        <p:nvSpPr>
          <p:cNvPr id="15" name="Control law"/>
          <p:cNvSpPr txBox="1"/>
          <p:nvPr/>
        </p:nvSpPr>
        <p:spPr>
          <a:xfrm>
            <a:off x="548640" y="4069080"/>
            <a:ext cx="11094415" cy="1097280"/>
          </a:xfrm>
          <a:prstGeom prst="rect">
            <a:avLst/>
          </a:prstGeom>
          <a:noFill/>
          <a:ln/>
        </p:spPr>
        <p:txBody>
          <a:bodyPr wrap="square" lIns="0" tIns="0" rIns="0" bIns="0" rtlCol="0" anchor="ctr"/>
          <a:lstStyle/>
          <a:p>
            <a:pPr algn="ctr" indent="0" marL="0">
              <a:buNone/>
            </a:pPr>
            <a:r>
              <a:rPr lang="en-US" sz="4400" b="1" dirty="0">
                <a:solidFill>
                  <a:schemeClr val="tx2"/>
                </a:solidFill>
              </a:rPr>
              <a:t>q̇ = </a:t>
            </a:r>
            <a:pPr algn="ctr" indent="0" marL="0">
              <a:buNone/>
            </a:pPr>
            <a:r>
              <a:rPr lang="en-US" sz="4400" b="1" dirty="0">
                <a:solidFill>
                  <a:schemeClr val="accent1"/>
                </a:solidFill>
              </a:rPr>
              <a:t>J</a:t>
            </a:r>
            <a:pPr algn="ctr" indent="0" marL="0">
              <a:buNone/>
            </a:pPr>
            <a:r>
              <a:rPr lang="en-US" sz="4400" b="1" baseline="30000" dirty="0">
                <a:solidFill>
                  <a:schemeClr val="accent1"/>
                </a:solidFill>
              </a:rPr>
              <a:t>+</a:t>
            </a:r>
            <a:pPr algn="ctr" indent="0" marL="0">
              <a:buNone/>
            </a:pPr>
            <a:r>
              <a:rPr lang="en-US" sz="4400" b="1" baseline="-40000" dirty="0">
                <a:solidFill>
                  <a:schemeClr val="accent1"/>
                </a:solidFill>
              </a:rPr>
              <a:t>λ</a:t>
            </a:r>
            <a:pPr algn="ctr" indent="0" marL="0">
              <a:buNone/>
            </a:pPr>
            <a:r>
              <a:rPr lang="en-US" sz="4400" b="1" dirty="0">
                <a:solidFill>
                  <a:schemeClr val="accent2"/>
                </a:solidFill>
              </a:rPr>
              <a:t> (K</a:t>
            </a:r>
            <a:pPr algn="ctr" indent="0" marL="0">
              <a:buNone/>
            </a:pPr>
            <a:r>
              <a:rPr lang="en-US" sz="4400" b="1" baseline="-40000" dirty="0">
                <a:solidFill>
                  <a:schemeClr val="accent2"/>
                </a:solidFill>
              </a:rPr>
              <a:t>p</a:t>
            </a:r>
            <a:pPr algn="ctr" indent="0" marL="0">
              <a:buNone/>
            </a:pPr>
            <a:r>
              <a:rPr lang="en-US" sz="4400" b="1" dirty="0">
                <a:solidFill>
                  <a:schemeClr val="accent2"/>
                </a:solidFill>
              </a:rPr>
              <a:t>·e + </a:t>
            </a:r>
            <a:pPr algn="ctr" indent="0" marL="0">
              <a:buNone/>
            </a:pPr>
            <a:r>
              <a:rPr lang="en-US" sz="4400" b="1" dirty="0">
                <a:solidFill>
                  <a:schemeClr val="accent3"/>
                </a:solidFill>
              </a:rPr>
              <a:t>K</a:t>
            </a:r>
            <a:pPr algn="ctr" indent="0" marL="0">
              <a:buNone/>
            </a:pPr>
            <a:r>
              <a:rPr lang="en-US" sz="4400" b="1" baseline="-40000" dirty="0">
                <a:solidFill>
                  <a:schemeClr val="accent3"/>
                </a:solidFill>
              </a:rPr>
              <a:t>d</a:t>
            </a:r>
            <a:pPr algn="ctr" indent="0" marL="0">
              <a:buNone/>
            </a:pPr>
            <a:r>
              <a:rPr lang="en-US" sz="4400" b="1" dirty="0">
                <a:solidFill>
                  <a:schemeClr val="accent3"/>
                </a:solidFill>
              </a:rPr>
              <a:t>·ė</a:t>
            </a:r>
            <a:pPr algn="ctr" indent="0" marL="0">
              <a:buNone/>
            </a:pPr>
            <a:r>
              <a:rPr lang="en-US" sz="4400" b="1" dirty="0">
                <a:solidFill>
                  <a:schemeClr val="accent2"/>
                </a:solidFill>
              </a:rPr>
              <a:t>)</a:t>
            </a:r>
            <a:endParaRPr lang="en-US" sz="4400" dirty="0"/>
          </a:p>
        </p:txBody>
      </p:sp>
      <p:sp>
        <p:nvSpPr>
          <p:cNvPr id="16" name="Velocity-term marker"/>
          <p:cNvSpPr/>
          <p:nvPr/>
        </p:nvSpPr>
        <p:spPr>
          <a:xfrm>
            <a:off x="7781544" y="5422392"/>
            <a:ext cx="182880" cy="155448"/>
          </a:xfrm>
          <a:prstGeom prst="triangle">
            <a:avLst/>
          </a:prstGeom>
          <a:solidFill>
            <a:schemeClr val="accent3"/>
          </a:solidFill>
          <a:ln/>
        </p:spPr>
      </p:sp>
      <p:sp>
        <p:nvSpPr>
          <p:cNvPr id="17" name="Velocity-term label"/>
          <p:cNvSpPr txBox="1"/>
          <p:nvPr/>
        </p:nvSpPr>
        <p:spPr>
          <a:xfrm>
            <a:off x="8055864" y="5349240"/>
            <a:ext cx="2194560" cy="365760"/>
          </a:xfrm>
          <a:prstGeom prst="rect">
            <a:avLst/>
          </a:prstGeom>
          <a:noFill/>
          <a:ln/>
        </p:spPr>
        <p:txBody>
          <a:bodyPr wrap="square" lIns="0" tIns="0" rIns="0" bIns="0" rtlCol="0" anchor="ctr"/>
          <a:lstStyle/>
          <a:p>
            <a:pPr indent="0" marL="0">
              <a:buNone/>
            </a:pPr>
            <a:r>
              <a:rPr lang="en-US" sz="2000" dirty="0">
                <a:solidFill>
                  <a:schemeClr val="accent3"/>
                </a:solidFill>
              </a:rPr>
              <a:t>velocity term</a:t>
            </a:r>
            <a:endParaRPr lang="en-US" sz="2000" dirty="0"/>
          </a:p>
        </p:txBody>
      </p:sp>
      <p:sp>
        <p:nvSpPr>
          <p:cNvPr id="18" name="Control-law gloss"/>
          <p:cNvSpPr txBox="1"/>
          <p:nvPr/>
        </p:nvSpPr>
        <p:spPr>
          <a:xfrm>
            <a:off x="548640" y="5349240"/>
            <a:ext cx="6729984" cy="365760"/>
          </a:xfrm>
          <a:prstGeom prst="rect">
            <a:avLst/>
          </a:prstGeom>
          <a:noFill/>
          <a:ln/>
        </p:spPr>
        <p:txBody>
          <a:bodyPr wrap="square" lIns="0" tIns="0" rIns="0" bIns="0" rtlCol="0" anchor="ctr"/>
          <a:lstStyle/>
          <a:p>
            <a:pPr algn="r" indent="0" marL="0">
              <a:buNone/>
            </a:pPr>
            <a:r>
              <a:rPr lang="en-US" sz="2000" dirty="0">
                <a:solidFill>
                  <a:schemeClr val="accent4"/>
                </a:solidFill>
              </a:rPr>
              <a:t>room-frame error → joint speeds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In simulation: my controller in a physics engine</a:t>
            </a:r>
            <a:endParaRPr lang="en-US" sz="3200" dirty="0"/>
          </a:p>
        </p:txBody>
      </p:sp>
      <p:sp>
        <p:nvSpPr>
          <p:cNvPr id="4" name="Frame hold_pose.gif"/>
          <p:cNvSpPr/>
          <p:nvPr/>
        </p:nvSpPr>
        <p:spPr>
          <a:xfrm>
            <a:off x="548640" y="1783080"/>
            <a:ext cx="7656928" cy="4480560"/>
          </a:xfrm>
          <a:prstGeom prst="roundRect">
            <a:avLst>
              <a:gd name="adj" fmla="val 244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reactive controller with feedforward">    </p:cNvPr>
          <p:cNvPicPr>
            <a:picLocks noChangeAspect="1"/>
          </p:cNvPicPr>
          <p:nvPr/>
        </p:nvPicPr>
        <p:blipFill>
          <a:blip r:embed="rId1"/>
          <a:stretch>
            <a:fillRect/>
          </a:stretch>
        </p:blipFill>
        <p:spPr>
          <a:xfrm>
            <a:off x="621792" y="1856232"/>
            <a:ext cx="7510624" cy="4334256"/>
          </a:xfrm>
          <a:prstGeom prst="rect">
            <a:avLst/>
          </a:prstGeom>
        </p:spPr>
      </p:pic>
      <p:sp>
        <p:nvSpPr>
          <p:cNvPr id="6" name="Sim header"/>
          <p:cNvSpPr txBox="1"/>
          <p:nvPr/>
        </p:nvSpPr>
        <p:spPr>
          <a:xfrm>
            <a:off x="8617048" y="1783080"/>
            <a:ext cx="3026007" cy="365760"/>
          </a:xfrm>
          <a:prstGeom prst="rect">
            <a:avLst/>
          </a:prstGeom>
          <a:noFill/>
          <a:ln/>
        </p:spPr>
        <p:txBody>
          <a:bodyPr wrap="square" lIns="0" tIns="0" rIns="0" bIns="0" rtlCol="0" anchor="t"/>
          <a:lstStyle/>
          <a:p>
            <a:pPr indent="0" marL="0">
              <a:buNone/>
            </a:pPr>
            <a:r>
              <a:rPr lang="en-US" sz="1800" b="1" dirty="0">
                <a:solidFill>
                  <a:schemeClr val="accent4"/>
                </a:solidFill>
              </a:rPr>
              <a:t>Hand error, RMS over 8 s</a:t>
            </a:r>
            <a:endParaRPr lang="en-US" sz="1800" dirty="0"/>
          </a:p>
        </p:txBody>
      </p:sp>
      <p:sp>
        <p:nvSpPr>
          <p:cNvPr id="7" name="Stat 31.0 mm"/>
          <p:cNvSpPr txBox="1"/>
          <p:nvPr/>
        </p:nvSpPr>
        <p:spPr>
          <a:xfrm>
            <a:off x="8617048" y="2331720"/>
            <a:ext cx="3026007" cy="777240"/>
          </a:xfrm>
          <a:prstGeom prst="rect">
            <a:avLst/>
          </a:prstGeom>
          <a:noFill/>
          <a:ln/>
        </p:spPr>
        <p:txBody>
          <a:bodyPr wrap="square" lIns="0" tIns="0" rIns="0" bIns="0" rtlCol="0" anchor="ctr"/>
          <a:lstStyle/>
          <a:p>
            <a:pPr algn="l" indent="0" marL="0">
              <a:buNone/>
            </a:pPr>
            <a:r>
              <a:rPr lang="en-US" sz="5400" b="1" dirty="0">
                <a:solidFill>
                  <a:schemeClr val="accent4"/>
                </a:solidFill>
              </a:rPr>
              <a:t>31.0 mm</a:t>
            </a:r>
            <a:endParaRPr lang="en-US" sz="5400" dirty="0"/>
          </a:p>
        </p:txBody>
      </p:sp>
      <p:sp>
        <p:nvSpPr>
          <p:cNvPr id="8" name="Stat 31.0 mm label"/>
          <p:cNvSpPr txBox="1"/>
          <p:nvPr/>
        </p:nvSpPr>
        <p:spPr>
          <a:xfrm>
            <a:off x="8617048" y="31272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arms locked</a:t>
            </a:r>
            <a:endParaRPr lang="en-US" sz="2000" dirty="0"/>
          </a:p>
        </p:txBody>
      </p:sp>
      <p:sp>
        <p:nvSpPr>
          <p:cNvPr id="9" name="Stat 6.7 mm"/>
          <p:cNvSpPr txBox="1"/>
          <p:nvPr/>
        </p:nvSpPr>
        <p:spPr>
          <a:xfrm>
            <a:off x="8617048" y="3703320"/>
            <a:ext cx="3026007" cy="777240"/>
          </a:xfrm>
          <a:prstGeom prst="rect">
            <a:avLst/>
          </a:prstGeom>
          <a:noFill/>
          <a:ln/>
        </p:spPr>
        <p:txBody>
          <a:bodyPr wrap="square" lIns="0" tIns="0" rIns="0" bIns="0" rtlCol="0" anchor="ctr"/>
          <a:lstStyle/>
          <a:p>
            <a:pPr algn="l" indent="0" marL="0">
              <a:buNone/>
            </a:pPr>
            <a:r>
              <a:rPr lang="en-US" sz="5400" b="1" dirty="0">
                <a:solidFill>
                  <a:schemeClr val="accent2"/>
                </a:solidFill>
              </a:rPr>
              <a:t>6.7 mm</a:t>
            </a:r>
            <a:endParaRPr lang="en-US" sz="5400" dirty="0"/>
          </a:p>
        </p:txBody>
      </p:sp>
      <p:sp>
        <p:nvSpPr>
          <p:cNvPr id="10" name="Stat 6.7 mm label"/>
          <p:cNvSpPr txBox="1"/>
          <p:nvPr/>
        </p:nvSpPr>
        <p:spPr>
          <a:xfrm>
            <a:off x="8617048" y="44988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reactive</a:t>
            </a:r>
            <a:endParaRPr lang="en-US" sz="2000" dirty="0"/>
          </a:p>
        </p:txBody>
      </p:sp>
      <p:sp>
        <p:nvSpPr>
          <p:cNvPr id="11" name="Stat 2.6 mm"/>
          <p:cNvSpPr txBox="1"/>
          <p:nvPr/>
        </p:nvSpPr>
        <p:spPr>
          <a:xfrm>
            <a:off x="8617048" y="5074920"/>
            <a:ext cx="3026007" cy="777240"/>
          </a:xfrm>
          <a:prstGeom prst="rect">
            <a:avLst/>
          </a:prstGeom>
          <a:noFill/>
          <a:ln/>
        </p:spPr>
        <p:txBody>
          <a:bodyPr wrap="square" lIns="0" tIns="0" rIns="0" bIns="0" rtlCol="0" anchor="ctr"/>
          <a:lstStyle/>
          <a:p>
            <a:pPr algn="l" indent="0" marL="0">
              <a:buNone/>
            </a:pPr>
            <a:r>
              <a:rPr lang="en-US" sz="5400" b="1" dirty="0">
                <a:solidFill>
                  <a:schemeClr val="accent3"/>
                </a:solidFill>
              </a:rPr>
              <a:t>2.6 mm</a:t>
            </a:r>
            <a:endParaRPr lang="en-US" sz="5400" dirty="0"/>
          </a:p>
        </p:txBody>
      </p:sp>
      <p:sp>
        <p:nvSpPr>
          <p:cNvPr id="12" name="Stat 2.6 mm label"/>
          <p:cNvSpPr txBox="1"/>
          <p:nvPr/>
        </p:nvSpPr>
        <p:spPr>
          <a:xfrm>
            <a:off x="8617048" y="58704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reactive + feedforward</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91640"/>
            <a:ext cx="11094415" cy="365760"/>
          </a:xfrm>
          <a:prstGeom prst="rect">
            <a:avLst/>
          </a:prstGeom>
          <a:noFill/>
          <a:ln/>
        </p:spPr>
        <p:txBody>
          <a:bodyPr wrap="square" lIns="0" tIns="0" rIns="0" bIns="0" rtlCol="0" anchor="t"/>
          <a:lstStyle/>
          <a:p>
            <a:pPr indent="0" marL="0">
              <a:buNone/>
            </a:pPr>
            <a:r>
              <a:rPr lang="en-US" sz="2000" dirty="0">
                <a:solidFill>
                  <a:schemeClr val="tx2"/>
                </a:solidFill>
              </a:rPr>
              <a:t>Trials: a 400 Hz controller on the lab machine. Analysis: mine.</a:t>
            </a:r>
            <a:endParaRPr lang="en-US" sz="2000" dirty="0"/>
          </a:p>
        </p:txBody>
      </p:sp>
      <p:sp>
        <p:nvSpPr>
          <p:cNvPr id="5" name="Frame hw_replay.gif"/>
          <p:cNvSpPr/>
          <p:nvPr/>
        </p:nvSpPr>
        <p:spPr>
          <a:xfrm>
            <a:off x="548640" y="2514600"/>
            <a:ext cx="7955280" cy="3341644"/>
          </a:xfrm>
          <a:prstGeom prst="roundRect">
            <a:avLst>
              <a:gd name="adj" fmla="val 328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587752"/>
            <a:ext cx="7808976" cy="3195340"/>
          </a:xfrm>
          <a:prstGeom prst="rect">
            <a:avLst/>
          </a:prstGeom>
        </p:spPr>
      </p:pic>
      <p:sp>
        <p:nvSpPr>
          <p:cNvPr id="7" name="Stat 71%"/>
          <p:cNvSpPr txBox="1"/>
          <p:nvPr/>
        </p:nvSpPr>
        <p:spPr>
          <a:xfrm>
            <a:off x="8869680" y="228600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71%</a:t>
            </a:r>
            <a:endParaRPr lang="en-US" sz="6000" dirty="0"/>
          </a:p>
        </p:txBody>
      </p:sp>
      <p:sp>
        <p:nvSpPr>
          <p:cNvPr id="8" name="Stat 71% label"/>
          <p:cNvSpPr txBox="1"/>
          <p:nvPr/>
        </p:nvSpPr>
        <p:spPr>
          <a:xfrm>
            <a:off x="8869680" y="306324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0.5 m/s</a:t>
            </a:r>
            <a:endParaRPr lang="en-US" sz="2000" dirty="0"/>
          </a:p>
        </p:txBody>
      </p:sp>
      <p:sp>
        <p:nvSpPr>
          <p:cNvPr id="9" name="Stat 63%"/>
          <p:cNvSpPr txBox="1"/>
          <p:nvPr/>
        </p:nvSpPr>
        <p:spPr>
          <a:xfrm>
            <a:off x="8869680" y="3401568"/>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63%</a:t>
            </a:r>
            <a:endParaRPr lang="en-US" sz="6000" dirty="0"/>
          </a:p>
        </p:txBody>
      </p:sp>
      <p:sp>
        <p:nvSpPr>
          <p:cNvPr id="10" name="Stat 63% label"/>
          <p:cNvSpPr txBox="1"/>
          <p:nvPr/>
        </p:nvSpPr>
        <p:spPr>
          <a:xfrm>
            <a:off x="8869680" y="4178808"/>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1.0 m/s</a:t>
            </a:r>
            <a:endParaRPr lang="en-US" sz="2000" dirty="0"/>
          </a:p>
        </p:txBody>
      </p:sp>
      <p:sp>
        <p:nvSpPr>
          <p:cNvPr id="11" name="Stat 56%"/>
          <p:cNvSpPr txBox="1"/>
          <p:nvPr/>
        </p:nvSpPr>
        <p:spPr>
          <a:xfrm>
            <a:off x="8869680" y="4517136"/>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56%</a:t>
            </a:r>
            <a:endParaRPr lang="en-US" sz="6000" dirty="0"/>
          </a:p>
        </p:txBody>
      </p:sp>
      <p:sp>
        <p:nvSpPr>
          <p:cNvPr id="12" name="Stat 56% label"/>
          <p:cNvSpPr txBox="1"/>
          <p:nvPr/>
        </p:nvSpPr>
        <p:spPr>
          <a:xfrm>
            <a:off x="8869680" y="5294376"/>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1.5 m/s</a:t>
            </a:r>
            <a:endParaRPr lang="en-US" sz="2000" dirty="0"/>
          </a:p>
        </p:txBody>
      </p:sp>
      <p:sp>
        <p:nvSpPr>
          <p:cNvPr id="13" name="Results note"/>
          <p:cNvSpPr txBox="1"/>
          <p:nvPr/>
        </p:nvSpPr>
        <p:spPr>
          <a:xfrm>
            <a:off x="8869680" y="5660136"/>
            <a:ext cx="2773375" cy="320040"/>
          </a:xfrm>
          <a:prstGeom prst="rect">
            <a:avLst/>
          </a:prstGeom>
          <a:noFill/>
          <a:ln/>
        </p:spPr>
        <p:txBody>
          <a:bodyPr wrap="square" lIns="0" tIns="0" rIns="0" bIns="0" rtlCol="0" anchor="t"/>
          <a:lstStyle/>
          <a:p>
            <a:pPr indent="0" marL="0">
              <a:buNone/>
            </a:pPr>
            <a:r>
              <a:rPr lang="en-US" sz="1800" dirty="0">
                <a:solidFill>
                  <a:schemeClr val="accent4"/>
                </a:solidFill>
              </a:rPr>
              <a:t>n = 6 (4 at 1.5 m/s)</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More velocity gain barely helped. Why?</a:t>
            </a:r>
            <a:endParaRPr lang="en-US" sz="3200" dirty="0"/>
          </a:p>
        </p:txBody>
      </p:sp>
      <p:sp>
        <p:nvSpPr>
          <p:cNvPr id="4" name="Pilot set-up"/>
          <p:cNvSpPr txBox="1"/>
          <p:nvPr/>
        </p:nvSpPr>
        <p:spPr>
          <a:xfrm>
            <a:off x="548640" y="251460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One-wearer pilot: K</a:t>
            </a:r>
            <a:pPr algn="ctr" indent="0" marL="0">
              <a:buNone/>
            </a:pPr>
            <a:r>
              <a:rPr lang="en-US" sz="2200" baseline="-40000" dirty="0">
                <a:solidFill>
                  <a:schemeClr val="accent4"/>
                </a:solidFill>
              </a:rPr>
              <a:t>d</a:t>
            </a:r>
            <a:pPr algn="ctr" indent="0" marL="0">
              <a:buNone/>
            </a:pPr>
            <a:r>
              <a:rPr lang="en-US" sz="2200" dirty="0">
                <a:solidFill>
                  <a:schemeClr val="accent4"/>
                </a:solidFill>
              </a:rPr>
              <a:t> 0.8 → 2.6. Motion reaching the hand near 1 Hz fell:</a:t>
            </a:r>
            <a:endParaRPr lang="en-US" sz="2200" dirty="0"/>
          </a:p>
        </p:txBody>
      </p:sp>
      <p:sp>
        <p:nvSpPr>
          <p:cNvPr id="5" name="Stat 38%"/>
          <p:cNvSpPr txBox="1"/>
          <p:nvPr/>
        </p:nvSpPr>
        <p:spPr>
          <a:xfrm>
            <a:off x="1569568" y="3108960"/>
            <a:ext cx="4023360" cy="1737360"/>
          </a:xfrm>
          <a:prstGeom prst="rect">
            <a:avLst/>
          </a:prstGeom>
          <a:noFill/>
          <a:ln/>
        </p:spPr>
        <p:txBody>
          <a:bodyPr wrap="square" lIns="0" tIns="0" rIns="0" bIns="0" rtlCol="0" anchor="ctr"/>
          <a:lstStyle/>
          <a:p>
            <a:pPr algn="ctr" indent="0" marL="0">
              <a:buNone/>
            </a:pPr>
            <a:r>
              <a:rPr lang="en-US" sz="13000" b="1" dirty="0">
                <a:solidFill>
                  <a:schemeClr val="accent4"/>
                </a:solidFill>
              </a:rPr>
              <a:t>38%</a:t>
            </a:r>
            <a:endParaRPr lang="en-US" sz="13000" dirty="0"/>
          </a:p>
        </p:txBody>
      </p:sp>
      <p:sp>
        <p:nvSpPr>
          <p:cNvPr id="6" name="Stat 38% label"/>
          <p:cNvSpPr txBox="1"/>
          <p:nvPr/>
        </p:nvSpPr>
        <p:spPr>
          <a:xfrm>
            <a:off x="1569568" y="486460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predicted</a:t>
            </a:r>
            <a:endParaRPr lang="en-US" sz="2400" dirty="0"/>
          </a:p>
        </p:txBody>
      </p:sp>
      <p:sp>
        <p:nvSpPr>
          <p:cNvPr id="7" name="Stat 9%"/>
          <p:cNvSpPr txBox="1"/>
          <p:nvPr/>
        </p:nvSpPr>
        <p:spPr>
          <a:xfrm>
            <a:off x="6598768" y="3108960"/>
            <a:ext cx="4023360" cy="1737360"/>
          </a:xfrm>
          <a:prstGeom prst="rect">
            <a:avLst/>
          </a:prstGeom>
          <a:noFill/>
          <a:ln/>
        </p:spPr>
        <p:txBody>
          <a:bodyPr wrap="square" lIns="0" tIns="0" rIns="0" bIns="0" rtlCol="0" anchor="ctr"/>
          <a:lstStyle/>
          <a:p>
            <a:pPr algn="ctr" indent="0" marL="0">
              <a:buNone/>
            </a:pPr>
            <a:r>
              <a:rPr lang="en-US" sz="13000" b="1" dirty="0">
                <a:solidFill>
                  <a:schemeClr val="accent3"/>
                </a:solidFill>
              </a:rPr>
              <a:t>9%</a:t>
            </a:r>
            <a:endParaRPr lang="en-US" sz="13000" dirty="0"/>
          </a:p>
        </p:txBody>
      </p:sp>
      <p:sp>
        <p:nvSpPr>
          <p:cNvPr id="8" name="Stat 9% label"/>
          <p:cNvSpPr txBox="1"/>
          <p:nvPr/>
        </p:nvSpPr>
        <p:spPr>
          <a:xfrm>
            <a:off x="6598768" y="486460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measured</a:t>
            </a:r>
            <a:endParaRPr lang="en-US" sz="2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Best explanation: the velocity arrives 61–71 ms late</a:t>
            </a:r>
            <a:endParaRPr lang="en-US" sz="3200" dirty="0"/>
          </a:p>
        </p:txBody>
      </p:sp>
      <p:sp>
        <p:nvSpPr>
          <p:cNvPr id="4" name="Kalman lag (36 ms)"/>
          <p:cNvSpPr/>
          <p:nvPr/>
        </p:nvSpPr>
        <p:spPr>
          <a:xfrm>
            <a:off x="548640" y="2103120"/>
            <a:ext cx="4075133" cy="1188720"/>
          </a:xfrm>
          <a:prstGeom prst="rect">
            <a:avLst/>
          </a:prstGeom>
          <a:solidFill>
            <a:schemeClr val="accent3"/>
          </a:solidFill>
          <a:ln/>
        </p:spPr>
      </p:sp>
      <p:sp>
        <p:nvSpPr>
          <p:cNvPr id="5" name="Kalman lag fade 1"/>
          <p:cNvSpPr/>
          <p:nvPr/>
        </p:nvSpPr>
        <p:spPr>
          <a:xfrm>
            <a:off x="4605485" y="2103120"/>
            <a:ext cx="42276" cy="1188720"/>
          </a:xfrm>
          <a:prstGeom prst="rect">
            <a:avLst/>
          </a:prstGeom>
          <a:solidFill>
            <a:srgbClr val="D24202"/>
          </a:solidFill>
          <a:ln/>
        </p:spPr>
      </p:sp>
      <p:sp>
        <p:nvSpPr>
          <p:cNvPr id="6" name="Kalman lag fade 2"/>
          <p:cNvSpPr/>
          <p:nvPr/>
        </p:nvSpPr>
        <p:spPr>
          <a:xfrm>
            <a:off x="4636788" y="2103120"/>
            <a:ext cx="42276" cy="1188720"/>
          </a:xfrm>
          <a:prstGeom prst="rect">
            <a:avLst/>
          </a:prstGeom>
          <a:solidFill>
            <a:srgbClr val="D34507"/>
          </a:solidFill>
          <a:ln/>
        </p:spPr>
      </p:sp>
      <p:sp>
        <p:nvSpPr>
          <p:cNvPr id="7" name="Kalman lag fade 3"/>
          <p:cNvSpPr/>
          <p:nvPr/>
        </p:nvSpPr>
        <p:spPr>
          <a:xfrm>
            <a:off x="4668091" y="2103120"/>
            <a:ext cx="42276" cy="1188720"/>
          </a:xfrm>
          <a:prstGeom prst="rect">
            <a:avLst/>
          </a:prstGeom>
          <a:solidFill>
            <a:srgbClr val="D4490C"/>
          </a:solidFill>
          <a:ln/>
        </p:spPr>
      </p:sp>
      <p:sp>
        <p:nvSpPr>
          <p:cNvPr id="8" name="Kalman lag fade 4"/>
          <p:cNvSpPr/>
          <p:nvPr/>
        </p:nvSpPr>
        <p:spPr>
          <a:xfrm>
            <a:off x="4699394" y="2103120"/>
            <a:ext cx="42276" cy="1188720"/>
          </a:xfrm>
          <a:prstGeom prst="rect">
            <a:avLst/>
          </a:prstGeom>
          <a:solidFill>
            <a:srgbClr val="D54C10"/>
          </a:solidFill>
          <a:ln/>
        </p:spPr>
      </p:sp>
      <p:sp>
        <p:nvSpPr>
          <p:cNvPr id="9" name="Kalman lag fade 5"/>
          <p:cNvSpPr/>
          <p:nvPr/>
        </p:nvSpPr>
        <p:spPr>
          <a:xfrm>
            <a:off x="4730696" y="2103120"/>
            <a:ext cx="42276" cy="1188720"/>
          </a:xfrm>
          <a:prstGeom prst="rect">
            <a:avLst/>
          </a:prstGeom>
          <a:solidFill>
            <a:srgbClr val="D65015"/>
          </a:solidFill>
          <a:ln/>
        </p:spPr>
      </p:sp>
      <p:sp>
        <p:nvSpPr>
          <p:cNvPr id="10" name="Kalman lag fade 6"/>
          <p:cNvSpPr/>
          <p:nvPr/>
        </p:nvSpPr>
        <p:spPr>
          <a:xfrm>
            <a:off x="4761999" y="2103120"/>
            <a:ext cx="42276" cy="1188720"/>
          </a:xfrm>
          <a:prstGeom prst="rect">
            <a:avLst/>
          </a:prstGeom>
          <a:solidFill>
            <a:srgbClr val="D65319"/>
          </a:solidFill>
          <a:ln/>
        </p:spPr>
      </p:sp>
      <p:sp>
        <p:nvSpPr>
          <p:cNvPr id="11" name="Kalman lag fade 7"/>
          <p:cNvSpPr/>
          <p:nvPr/>
        </p:nvSpPr>
        <p:spPr>
          <a:xfrm>
            <a:off x="4793302" y="2103120"/>
            <a:ext cx="42276" cy="1188720"/>
          </a:xfrm>
          <a:prstGeom prst="rect">
            <a:avLst/>
          </a:prstGeom>
          <a:solidFill>
            <a:srgbClr val="D7561E"/>
          </a:solidFill>
          <a:ln/>
        </p:spPr>
      </p:sp>
      <p:sp>
        <p:nvSpPr>
          <p:cNvPr id="12" name="Kalman lag fade 8"/>
          <p:cNvSpPr/>
          <p:nvPr/>
        </p:nvSpPr>
        <p:spPr>
          <a:xfrm>
            <a:off x="4824605" y="2103120"/>
            <a:ext cx="42276" cy="1188720"/>
          </a:xfrm>
          <a:prstGeom prst="rect">
            <a:avLst/>
          </a:prstGeom>
          <a:solidFill>
            <a:srgbClr val="D85A23"/>
          </a:solidFill>
          <a:ln/>
        </p:spPr>
      </p:sp>
      <p:sp>
        <p:nvSpPr>
          <p:cNvPr id="13" name="Kalman lag fade 9"/>
          <p:cNvSpPr/>
          <p:nvPr/>
        </p:nvSpPr>
        <p:spPr>
          <a:xfrm>
            <a:off x="4855908" y="2103120"/>
            <a:ext cx="42276" cy="1188720"/>
          </a:xfrm>
          <a:prstGeom prst="rect">
            <a:avLst/>
          </a:prstGeom>
          <a:solidFill>
            <a:srgbClr val="D95D27"/>
          </a:solidFill>
          <a:ln/>
        </p:spPr>
      </p:sp>
      <p:sp>
        <p:nvSpPr>
          <p:cNvPr id="14" name="Kalman lag fade 10"/>
          <p:cNvSpPr/>
          <p:nvPr/>
        </p:nvSpPr>
        <p:spPr>
          <a:xfrm>
            <a:off x="4887210" y="2103120"/>
            <a:ext cx="42276" cy="1188720"/>
          </a:xfrm>
          <a:prstGeom prst="rect">
            <a:avLst/>
          </a:prstGeom>
          <a:solidFill>
            <a:srgbClr val="DA612C"/>
          </a:solidFill>
          <a:ln/>
        </p:spPr>
      </p:sp>
      <p:sp>
        <p:nvSpPr>
          <p:cNvPr id="15" name="Kalman lag fade 11"/>
          <p:cNvSpPr/>
          <p:nvPr/>
        </p:nvSpPr>
        <p:spPr>
          <a:xfrm>
            <a:off x="4918513" y="2103120"/>
            <a:ext cx="42276" cy="1188720"/>
          </a:xfrm>
          <a:prstGeom prst="rect">
            <a:avLst/>
          </a:prstGeom>
          <a:solidFill>
            <a:srgbClr val="DB6430"/>
          </a:solidFill>
          <a:ln/>
        </p:spPr>
      </p:sp>
      <p:sp>
        <p:nvSpPr>
          <p:cNvPr id="16" name="Kalman lag fade 12"/>
          <p:cNvSpPr/>
          <p:nvPr/>
        </p:nvSpPr>
        <p:spPr>
          <a:xfrm>
            <a:off x="4949816" y="2103120"/>
            <a:ext cx="42276" cy="1188720"/>
          </a:xfrm>
          <a:prstGeom prst="rect">
            <a:avLst/>
          </a:prstGeom>
          <a:solidFill>
            <a:srgbClr val="DB6835"/>
          </a:solidFill>
          <a:ln/>
        </p:spPr>
      </p:sp>
      <p:sp>
        <p:nvSpPr>
          <p:cNvPr id="17" name="Kalman lag fade 13"/>
          <p:cNvSpPr/>
          <p:nvPr/>
        </p:nvSpPr>
        <p:spPr>
          <a:xfrm>
            <a:off x="4981119" y="2103120"/>
            <a:ext cx="42276" cy="1188720"/>
          </a:xfrm>
          <a:prstGeom prst="rect">
            <a:avLst/>
          </a:prstGeom>
          <a:solidFill>
            <a:srgbClr val="DC6B3A"/>
          </a:solidFill>
          <a:ln/>
        </p:spPr>
      </p:sp>
      <p:sp>
        <p:nvSpPr>
          <p:cNvPr id="18" name="Kalman lag fade 14"/>
          <p:cNvSpPr/>
          <p:nvPr/>
        </p:nvSpPr>
        <p:spPr>
          <a:xfrm>
            <a:off x="5012422" y="2103120"/>
            <a:ext cx="42276" cy="1188720"/>
          </a:xfrm>
          <a:prstGeom prst="rect">
            <a:avLst/>
          </a:prstGeom>
          <a:solidFill>
            <a:srgbClr val="DD6F3E"/>
          </a:solidFill>
          <a:ln/>
        </p:spPr>
      </p:sp>
      <p:sp>
        <p:nvSpPr>
          <p:cNvPr id="19" name="Kalman lag fade 15"/>
          <p:cNvSpPr/>
          <p:nvPr/>
        </p:nvSpPr>
        <p:spPr>
          <a:xfrm>
            <a:off x="5043725" y="2103120"/>
            <a:ext cx="42276" cy="1188720"/>
          </a:xfrm>
          <a:prstGeom prst="rect">
            <a:avLst/>
          </a:prstGeom>
          <a:solidFill>
            <a:srgbClr val="DE7243"/>
          </a:solidFill>
          <a:ln/>
        </p:spPr>
      </p:sp>
      <p:sp>
        <p:nvSpPr>
          <p:cNvPr id="20" name="Kalman lag fade 16"/>
          <p:cNvSpPr/>
          <p:nvPr/>
        </p:nvSpPr>
        <p:spPr>
          <a:xfrm>
            <a:off x="5075027" y="2103120"/>
            <a:ext cx="42276" cy="1188720"/>
          </a:xfrm>
          <a:prstGeom prst="rect">
            <a:avLst/>
          </a:prstGeom>
          <a:solidFill>
            <a:srgbClr val="DF7547"/>
          </a:solidFill>
          <a:ln/>
        </p:spPr>
      </p:sp>
      <p:sp>
        <p:nvSpPr>
          <p:cNvPr id="21" name="Kalman lag fade 17"/>
          <p:cNvSpPr/>
          <p:nvPr/>
        </p:nvSpPr>
        <p:spPr>
          <a:xfrm>
            <a:off x="5106330" y="2103120"/>
            <a:ext cx="42276" cy="1188720"/>
          </a:xfrm>
          <a:prstGeom prst="rect">
            <a:avLst/>
          </a:prstGeom>
          <a:solidFill>
            <a:srgbClr val="DF794C"/>
          </a:solidFill>
          <a:ln/>
        </p:spPr>
      </p:sp>
      <p:sp>
        <p:nvSpPr>
          <p:cNvPr id="22" name="Kalman lag fade 18"/>
          <p:cNvSpPr/>
          <p:nvPr/>
        </p:nvSpPr>
        <p:spPr>
          <a:xfrm>
            <a:off x="5137633" y="2103120"/>
            <a:ext cx="42276" cy="1188720"/>
          </a:xfrm>
          <a:prstGeom prst="rect">
            <a:avLst/>
          </a:prstGeom>
          <a:solidFill>
            <a:srgbClr val="E07C51"/>
          </a:solidFill>
          <a:ln/>
        </p:spPr>
      </p:sp>
      <p:sp>
        <p:nvSpPr>
          <p:cNvPr id="23" name="Kalman lag fade 19"/>
          <p:cNvSpPr/>
          <p:nvPr/>
        </p:nvSpPr>
        <p:spPr>
          <a:xfrm>
            <a:off x="5168936" y="2103120"/>
            <a:ext cx="42276" cy="1188720"/>
          </a:xfrm>
          <a:prstGeom prst="rect">
            <a:avLst/>
          </a:prstGeom>
          <a:solidFill>
            <a:srgbClr val="E18055"/>
          </a:solidFill>
          <a:ln/>
        </p:spPr>
      </p:sp>
      <p:sp>
        <p:nvSpPr>
          <p:cNvPr id="24" name="Kalman lag fade 20"/>
          <p:cNvSpPr/>
          <p:nvPr/>
        </p:nvSpPr>
        <p:spPr>
          <a:xfrm>
            <a:off x="5200239" y="2103120"/>
            <a:ext cx="42276" cy="1188720"/>
          </a:xfrm>
          <a:prstGeom prst="rect">
            <a:avLst/>
          </a:prstGeom>
          <a:solidFill>
            <a:srgbClr val="E2835A"/>
          </a:solidFill>
          <a:ln/>
        </p:spPr>
      </p:sp>
      <p:sp>
        <p:nvSpPr>
          <p:cNvPr id="25" name="Kalman lag fade 21"/>
          <p:cNvSpPr/>
          <p:nvPr/>
        </p:nvSpPr>
        <p:spPr>
          <a:xfrm>
            <a:off x="5231541" y="2103120"/>
            <a:ext cx="42276" cy="1188720"/>
          </a:xfrm>
          <a:prstGeom prst="rect">
            <a:avLst/>
          </a:prstGeom>
          <a:solidFill>
            <a:srgbClr val="E3875E"/>
          </a:solidFill>
          <a:ln/>
        </p:spPr>
      </p:sp>
      <p:sp>
        <p:nvSpPr>
          <p:cNvPr id="26" name="Kalman lag fade 22"/>
          <p:cNvSpPr/>
          <p:nvPr/>
        </p:nvSpPr>
        <p:spPr>
          <a:xfrm>
            <a:off x="5262844" y="2103120"/>
            <a:ext cx="42276" cy="1188720"/>
          </a:xfrm>
          <a:prstGeom prst="rect">
            <a:avLst/>
          </a:prstGeom>
          <a:solidFill>
            <a:srgbClr val="E38A63"/>
          </a:solidFill>
          <a:ln/>
        </p:spPr>
      </p:sp>
      <p:sp>
        <p:nvSpPr>
          <p:cNvPr id="27" name="Kalman lag fade 23"/>
          <p:cNvSpPr/>
          <p:nvPr/>
        </p:nvSpPr>
        <p:spPr>
          <a:xfrm>
            <a:off x="5294147" y="2103120"/>
            <a:ext cx="42276" cy="1188720"/>
          </a:xfrm>
          <a:prstGeom prst="rect">
            <a:avLst/>
          </a:prstGeom>
          <a:solidFill>
            <a:srgbClr val="E48E68"/>
          </a:solidFill>
          <a:ln/>
        </p:spPr>
      </p:sp>
      <p:sp>
        <p:nvSpPr>
          <p:cNvPr id="28" name="Kalman lag fade 24"/>
          <p:cNvSpPr/>
          <p:nvPr/>
        </p:nvSpPr>
        <p:spPr>
          <a:xfrm>
            <a:off x="5325450" y="2103120"/>
            <a:ext cx="42276" cy="1188720"/>
          </a:xfrm>
          <a:prstGeom prst="rect">
            <a:avLst/>
          </a:prstGeom>
          <a:solidFill>
            <a:srgbClr val="E5916C"/>
          </a:solidFill>
          <a:ln/>
        </p:spPr>
      </p:sp>
      <p:sp>
        <p:nvSpPr>
          <p:cNvPr id="29" name="Kalman lag fade 25"/>
          <p:cNvSpPr/>
          <p:nvPr/>
        </p:nvSpPr>
        <p:spPr>
          <a:xfrm>
            <a:off x="5356753" y="2103120"/>
            <a:ext cx="42276" cy="1188720"/>
          </a:xfrm>
          <a:prstGeom prst="rect">
            <a:avLst/>
          </a:prstGeom>
          <a:solidFill>
            <a:srgbClr val="E69471"/>
          </a:solidFill>
          <a:ln/>
        </p:spPr>
      </p:sp>
      <p:sp>
        <p:nvSpPr>
          <p:cNvPr id="30" name="Kalman lag fade 26"/>
          <p:cNvSpPr/>
          <p:nvPr/>
        </p:nvSpPr>
        <p:spPr>
          <a:xfrm>
            <a:off x="5388055" y="2103120"/>
            <a:ext cx="42276" cy="1188720"/>
          </a:xfrm>
          <a:prstGeom prst="rect">
            <a:avLst/>
          </a:prstGeom>
          <a:solidFill>
            <a:srgbClr val="E79875"/>
          </a:solidFill>
          <a:ln/>
        </p:spPr>
      </p:sp>
      <p:sp>
        <p:nvSpPr>
          <p:cNvPr id="31" name="Kalman lag fade 27"/>
          <p:cNvSpPr/>
          <p:nvPr/>
        </p:nvSpPr>
        <p:spPr>
          <a:xfrm>
            <a:off x="5419358" y="2103120"/>
            <a:ext cx="42276" cy="1188720"/>
          </a:xfrm>
          <a:prstGeom prst="rect">
            <a:avLst/>
          </a:prstGeom>
          <a:solidFill>
            <a:srgbClr val="E89B7A"/>
          </a:solidFill>
          <a:ln/>
        </p:spPr>
      </p:sp>
      <p:sp>
        <p:nvSpPr>
          <p:cNvPr id="32" name="Kalman lag fade 28"/>
          <p:cNvSpPr/>
          <p:nvPr/>
        </p:nvSpPr>
        <p:spPr>
          <a:xfrm>
            <a:off x="5450661" y="2103120"/>
            <a:ext cx="42276" cy="1188720"/>
          </a:xfrm>
          <a:prstGeom prst="rect">
            <a:avLst/>
          </a:prstGeom>
          <a:solidFill>
            <a:srgbClr val="E89F7F"/>
          </a:solidFill>
          <a:ln/>
        </p:spPr>
      </p:sp>
      <p:sp>
        <p:nvSpPr>
          <p:cNvPr id="33" name="Kalman lag fade 29"/>
          <p:cNvSpPr/>
          <p:nvPr/>
        </p:nvSpPr>
        <p:spPr>
          <a:xfrm>
            <a:off x="5481964" y="2103120"/>
            <a:ext cx="42276" cy="1188720"/>
          </a:xfrm>
          <a:prstGeom prst="rect">
            <a:avLst/>
          </a:prstGeom>
          <a:solidFill>
            <a:srgbClr val="E9A283"/>
          </a:solidFill>
          <a:ln/>
        </p:spPr>
      </p:sp>
      <p:sp>
        <p:nvSpPr>
          <p:cNvPr id="34" name="Kalman lag fade 30"/>
          <p:cNvSpPr/>
          <p:nvPr/>
        </p:nvSpPr>
        <p:spPr>
          <a:xfrm>
            <a:off x="5513267" y="2103120"/>
            <a:ext cx="42276" cy="1188720"/>
          </a:xfrm>
          <a:prstGeom prst="rect">
            <a:avLst/>
          </a:prstGeom>
          <a:solidFill>
            <a:srgbClr val="EAA688"/>
          </a:solidFill>
          <a:ln/>
        </p:spPr>
      </p:sp>
      <p:sp>
        <p:nvSpPr>
          <p:cNvPr id="35" name="Kalman lag fade 31"/>
          <p:cNvSpPr/>
          <p:nvPr/>
        </p:nvSpPr>
        <p:spPr>
          <a:xfrm>
            <a:off x="5544570" y="2103120"/>
            <a:ext cx="42276" cy="1188720"/>
          </a:xfrm>
          <a:prstGeom prst="rect">
            <a:avLst/>
          </a:prstGeom>
          <a:solidFill>
            <a:srgbClr val="EBA98C"/>
          </a:solidFill>
          <a:ln/>
        </p:spPr>
      </p:sp>
      <p:sp>
        <p:nvSpPr>
          <p:cNvPr id="36" name="Kalman lag fade 32"/>
          <p:cNvSpPr/>
          <p:nvPr/>
        </p:nvSpPr>
        <p:spPr>
          <a:xfrm>
            <a:off x="5575872" y="2103120"/>
            <a:ext cx="42276" cy="1188720"/>
          </a:xfrm>
          <a:prstGeom prst="rect">
            <a:avLst/>
          </a:prstGeom>
          <a:solidFill>
            <a:srgbClr val="ECAD91"/>
          </a:solidFill>
          <a:ln/>
        </p:spPr>
      </p:sp>
      <p:sp>
        <p:nvSpPr>
          <p:cNvPr id="37" name="Kalman lag fade 33"/>
          <p:cNvSpPr/>
          <p:nvPr/>
        </p:nvSpPr>
        <p:spPr>
          <a:xfrm>
            <a:off x="5607175" y="2103120"/>
            <a:ext cx="42276" cy="1188720"/>
          </a:xfrm>
          <a:prstGeom prst="rect">
            <a:avLst/>
          </a:prstGeom>
          <a:solidFill>
            <a:srgbClr val="ECB096"/>
          </a:solidFill>
          <a:ln/>
        </p:spPr>
      </p:sp>
      <p:sp>
        <p:nvSpPr>
          <p:cNvPr id="38" name="Kalman lag fade 34"/>
          <p:cNvSpPr/>
          <p:nvPr/>
        </p:nvSpPr>
        <p:spPr>
          <a:xfrm>
            <a:off x="5638478" y="2103120"/>
            <a:ext cx="42276" cy="1188720"/>
          </a:xfrm>
          <a:prstGeom prst="rect">
            <a:avLst/>
          </a:prstGeom>
          <a:solidFill>
            <a:srgbClr val="EDB49A"/>
          </a:solidFill>
          <a:ln/>
        </p:spPr>
      </p:sp>
      <p:sp>
        <p:nvSpPr>
          <p:cNvPr id="39" name="Kalman lag fade 35"/>
          <p:cNvSpPr/>
          <p:nvPr/>
        </p:nvSpPr>
        <p:spPr>
          <a:xfrm>
            <a:off x="5669781" y="2103120"/>
            <a:ext cx="42276" cy="1188720"/>
          </a:xfrm>
          <a:prstGeom prst="rect">
            <a:avLst/>
          </a:prstGeom>
          <a:solidFill>
            <a:srgbClr val="EEB79F"/>
          </a:solidFill>
          <a:ln/>
        </p:spPr>
      </p:sp>
      <p:sp>
        <p:nvSpPr>
          <p:cNvPr id="40" name="Kalman lag fade 36"/>
          <p:cNvSpPr/>
          <p:nvPr/>
        </p:nvSpPr>
        <p:spPr>
          <a:xfrm>
            <a:off x="5701084" y="2103120"/>
            <a:ext cx="31303" cy="1188720"/>
          </a:xfrm>
          <a:prstGeom prst="rect">
            <a:avLst/>
          </a:prstGeom>
          <a:solidFill>
            <a:srgbClr val="EFBAA3"/>
          </a:solidFill>
          <a:ln/>
        </p:spPr>
      </p:sp>
      <p:sp>
        <p:nvSpPr>
          <p:cNvPr id="41" name="Kalman label"/>
          <p:cNvSpPr txBox="1"/>
          <p:nvPr/>
        </p:nvSpPr>
        <p:spPr>
          <a:xfrm>
            <a:off x="548640" y="2103120"/>
            <a:ext cx="5183746" cy="1188720"/>
          </a:xfrm>
          <a:prstGeom prst="rect">
            <a:avLst/>
          </a:prstGeom>
          <a:noFill/>
          <a:ln/>
        </p:spPr>
        <p:txBody>
          <a:bodyPr wrap="square" lIns="0" tIns="0" rIns="0" bIns="0" rtlCol="0" anchor="ctr"/>
          <a:lstStyle/>
          <a:p>
            <a:pPr algn="ctr" indent="0" marL="0">
              <a:buNone/>
            </a:pPr>
            <a:r>
              <a:rPr lang="en-US" sz="2000" b="1" dirty="0">
                <a:solidFill>
                  <a:schemeClr val="bg1"/>
                </a:solidFill>
              </a:rPr>
              <a:t>Kalman 36–46 ms</a:t>
            </a:r>
            <a:endParaRPr lang="en-US" sz="2000" dirty="0"/>
          </a:p>
        </p:txBody>
      </p:sp>
      <p:sp>
        <p:nvSpPr>
          <p:cNvPr id="42" name="Delay segment sensing"/>
          <p:cNvSpPr/>
          <p:nvPr/>
        </p:nvSpPr>
        <p:spPr>
          <a:xfrm>
            <a:off x="5732386" y="2103120"/>
            <a:ext cx="1126901" cy="1188720"/>
          </a:xfrm>
          <a:prstGeom prst="rect">
            <a:avLst/>
          </a:prstGeom>
          <a:solidFill>
            <a:schemeClr val="accent3">
              <a:alpha val="75000"/>
            </a:schemeClr>
          </a:solidFill>
          <a:ln/>
        </p:spPr>
      </p:sp>
      <p:sp>
        <p:nvSpPr>
          <p:cNvPr id="43" name="Delay divider 1"/>
          <p:cNvSpPr/>
          <p:nvPr/>
        </p:nvSpPr>
        <p:spPr>
          <a:xfrm>
            <a:off x="5732386" y="2103120"/>
            <a:ext cx="0" cy="1188720"/>
          </a:xfrm>
          <a:prstGeom prst="line">
            <a:avLst/>
          </a:prstGeom>
          <a:noFill/>
          <a:ln w="31750">
            <a:solidFill>
              <a:schemeClr val="bg1"/>
            </a:solidFill>
            <a:prstDash val="solid"/>
          </a:ln>
        </p:spPr>
      </p:sp>
      <p:sp>
        <p:nvSpPr>
          <p:cNvPr id="44" name="Text 42"/>
          <p:cNvSpPr txBox="1"/>
          <p:nvPr/>
        </p:nvSpPr>
        <p:spPr>
          <a:xfrm>
            <a:off x="5732386" y="2103120"/>
            <a:ext cx="1126901" cy="118872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45" name="Delay segment joints"/>
          <p:cNvSpPr/>
          <p:nvPr/>
        </p:nvSpPr>
        <p:spPr>
          <a:xfrm>
            <a:off x="6859288" y="2103120"/>
            <a:ext cx="1690352" cy="1188720"/>
          </a:xfrm>
          <a:prstGeom prst="rect">
            <a:avLst/>
          </a:prstGeom>
          <a:solidFill>
            <a:schemeClr val="accent3">
              <a:alpha val="55000"/>
            </a:schemeClr>
          </a:solidFill>
          <a:ln/>
        </p:spPr>
      </p:sp>
      <p:sp>
        <p:nvSpPr>
          <p:cNvPr id="46" name="Delay divider 2"/>
          <p:cNvSpPr/>
          <p:nvPr/>
        </p:nvSpPr>
        <p:spPr>
          <a:xfrm>
            <a:off x="6859288" y="2103120"/>
            <a:ext cx="0" cy="1188720"/>
          </a:xfrm>
          <a:prstGeom prst="line">
            <a:avLst/>
          </a:prstGeom>
          <a:noFill/>
          <a:ln w="31750">
            <a:solidFill>
              <a:schemeClr val="bg1"/>
            </a:solidFill>
            <a:prstDash val="solid"/>
          </a:ln>
        </p:spPr>
      </p:sp>
      <p:sp>
        <p:nvSpPr>
          <p:cNvPr id="47" name="Text 45"/>
          <p:cNvSpPr txBox="1"/>
          <p:nvPr/>
        </p:nvSpPr>
        <p:spPr>
          <a:xfrm>
            <a:off x="6859288" y="2103120"/>
            <a:ext cx="1690352" cy="118872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48" name="Delay total"/>
          <p:cNvSpPr txBox="1"/>
          <p:nvPr/>
        </p:nvSpPr>
        <p:spPr>
          <a:xfrm>
            <a:off x="8750808" y="2103120"/>
            <a:ext cx="2892247" cy="1188720"/>
          </a:xfrm>
          <a:prstGeom prst="rect">
            <a:avLst/>
          </a:prstGeom>
          <a:noFill/>
          <a:ln/>
        </p:spPr>
        <p:txBody>
          <a:bodyPr wrap="square" lIns="0" tIns="0" rIns="0" bIns="0" rtlCol="0" anchor="ctr"/>
          <a:lstStyle/>
          <a:p>
            <a:pPr indent="0" marL="0">
              <a:buNone/>
            </a:pPr>
            <a:r>
              <a:rPr lang="en-US" sz="4000" b="1" dirty="0">
                <a:solidFill>
                  <a:schemeClr val="accent3"/>
                </a:solidFill>
              </a:rPr>
              <a:t>= 61–71 ms</a:t>
            </a:r>
            <a:endParaRPr lang="en-US" sz="4000" dirty="0"/>
          </a:p>
        </p:txBody>
      </p:sp>
      <p:sp>
        <p:nvSpPr>
          <p:cNvPr id="49" name="Delay formula"/>
          <p:cNvSpPr txBox="1"/>
          <p:nvPr/>
        </p:nvSpPr>
        <p:spPr>
          <a:xfrm>
            <a:off x="548640" y="402336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Velocity error: 2·sin(</a:t>
            </a:r>
            <a:pPr indent="0" marL="0">
              <a:buNone/>
            </a:pPr>
            <a:r>
              <a:rPr lang="en-US" sz="3200" b="1" i="1" dirty="0">
                <a:solidFill>
                  <a:schemeClr val="tx2"/>
                </a:solidFill>
              </a:rPr>
              <a:t>ωd</a:t>
            </a:r>
            <a:pPr indent="0" marL="0">
              <a:buNone/>
            </a:pPr>
            <a:r>
              <a:rPr lang="en-US" sz="3200" b="1" dirty="0">
                <a:solidFill>
                  <a:schemeClr val="tx2"/>
                </a:solidFill>
              </a:rPr>
              <a:t>/2) ≈ </a:t>
            </a:r>
            <a:pPr indent="0" marL="0">
              <a:buNone/>
            </a:pPr>
            <a:r>
              <a:rPr lang="en-US" sz="3200" b="1" dirty="0">
                <a:solidFill>
                  <a:schemeClr val="accent3"/>
                </a:solidFill>
              </a:rPr>
              <a:t>70%</a:t>
            </a:r>
            <a:pPr indent="0" marL="0">
              <a:buNone/>
            </a:pPr>
            <a:r>
              <a:rPr lang="en-US" sz="3200" b="1" dirty="0">
                <a:solidFill>
                  <a:schemeClr val="tx2"/>
                </a:solidFill>
              </a:rPr>
              <a:t> at 1.8 Hz</a:t>
            </a:r>
            <a:endParaRPr lang="en-US" sz="3200" dirty="0"/>
          </a:p>
        </p:txBody>
      </p:sp>
      <p:sp>
        <p:nvSpPr>
          <p:cNvPr id="50" name="Evidence"/>
          <p:cNvSpPr txBox="1"/>
          <p:nvPr/>
        </p:nvSpPr>
        <p:spPr>
          <a:xfrm>
            <a:off x="548640" y="5029200"/>
            <a:ext cx="11094415" cy="411480"/>
          </a:xfrm>
          <a:prstGeom prst="rect">
            <a:avLst/>
          </a:prstGeom>
          <a:noFill/>
          <a:ln/>
        </p:spPr>
        <p:txBody>
          <a:bodyPr wrap="square" lIns="0" tIns="0" rIns="0" bIns="0" rtlCol="0" anchor="ctr"/>
          <a:lstStyle/>
          <a:p>
            <a:pPr indent="0" marL="0">
              <a:buNone/>
            </a:pPr>
            <a:r>
              <a:rPr lang="en-US" sz="2000" dirty="0">
                <a:solidFill>
                  <a:schemeClr val="accent4"/>
                </a:solidFill>
              </a:rPr>
              <a:t>Nothing fitted: beats no-velocity baseline, 6/6 wearers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What it achieved, and what's next</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868680"/>
          </a:xfrm>
          <a:prstGeom prst="rect">
            <a:avLst/>
          </a:prstGeom>
          <a:noFill/>
          <a:ln/>
        </p:spPr>
        <p:txBody>
          <a:bodyPr wrap="square" lIns="0" tIns="0" rIns="0" bIns="0" rtlCol="0" anchor="t"/>
          <a:lstStyle/>
          <a:p>
            <a:pPr indent="0" marL="0">
              <a:buNone/>
            </a:pPr>
            <a:r>
              <a:rPr lang="en-US" sz="2400" dirty="0">
                <a:solidFill>
                  <a:schemeClr val="bg1"/>
                </a:solidFill>
              </a:rPr>
              <a:t>walking motion removed</a:t>
            </a:r>
            <a:endParaRPr lang="en-US" sz="2400" dirty="0"/>
          </a:p>
          <a:p>
            <a:pPr indent="0" marL="0">
              <a:buNone/>
            </a:pPr>
            <a:r>
              <a:rPr lang="en-US" sz="2400" dirty="0">
                <a:solidFill>
                  <a:schemeClr val="bg1"/>
                </a:solidFill>
              </a:rPr>
              <a:t>on hardware</a:t>
            </a:r>
            <a:endParaRPr lang="en-US" sz="2400" dirty="0"/>
          </a:p>
        </p:txBody>
      </p:sp>
      <p:sp>
        <p:nvSpPr>
          <p:cNvPr id="7" name="Next-step panel"/>
          <p:cNvSpPr/>
          <p:nvPr/>
        </p:nvSpPr>
        <p:spPr>
          <a:xfrm>
            <a:off x="777240" y="5120640"/>
            <a:ext cx="4480560" cy="868680"/>
          </a:xfrm>
          <a:prstGeom prst="roundRect">
            <a:avLst>
              <a:gd name="adj" fmla="val 10526"/>
            </a:avLst>
          </a:prstGeom>
          <a:solidFill>
            <a:schemeClr val="accent1"/>
          </a:solidFill>
          <a:ln/>
        </p:spPr>
      </p:sp>
      <p:sp>
        <p:nvSpPr>
          <p:cNvPr id="8" name="Next step"/>
          <p:cNvSpPr txBox="1"/>
          <p:nvPr/>
        </p:nvSpPr>
        <p:spPr>
          <a:xfrm>
            <a:off x="1005840" y="5120640"/>
            <a:ext cx="4023360" cy="868680"/>
          </a:xfrm>
          <a:prstGeom prst="rect">
            <a:avLst/>
          </a:prstGeom>
          <a:noFill/>
          <a:ln/>
        </p:spPr>
        <p:txBody>
          <a:bodyPr wrap="square" lIns="0" tIns="0" rIns="0" bIns="0" rtlCol="0" anchor="ctr"/>
          <a:lstStyle/>
          <a:p>
            <a:pPr indent="0" marL="0">
              <a:buNone/>
            </a:pPr>
            <a:r>
              <a:rPr lang="en-US" sz="2200" b="1" dirty="0">
                <a:solidFill>
                  <a:schemeClr val="bg1"/>
                </a:solidFill>
              </a:rPr>
              <a:t>Next: </a:t>
            </a:r>
            <a:pPr indent="0" marL="0">
              <a:buNone/>
            </a:pPr>
            <a:r>
              <a:rPr lang="en-US" sz="2200" dirty="0">
                <a:solidFill>
                  <a:schemeClr val="bg1"/>
                </a:solidFill>
              </a:rPr>
              <a:t>faster estimator</a:t>
            </a:r>
            <a:endParaRPr lang="en-US" sz="2200" dirty="0"/>
          </a:p>
        </p:txBody>
      </p:sp>
      <p:sp>
        <p:nvSpPr>
          <p:cNvPr id="9" name="Transfer dot 1"/>
          <p:cNvSpPr/>
          <p:nvPr/>
        </p:nvSpPr>
        <p:spPr>
          <a:xfrm>
            <a:off x="6035040" y="2898648"/>
            <a:ext cx="146304" cy="146304"/>
          </a:xfrm>
          <a:prstGeom prst="ellipse">
            <a:avLst/>
          </a:prstGeom>
          <a:solidFill>
            <a:schemeClr val="accent6"/>
          </a:solidFill>
          <a:ln/>
        </p:spPr>
      </p:sp>
      <p:sp>
        <p:nvSpPr>
          <p:cNvPr id="10" name="Transfer 1"/>
          <p:cNvSpPr txBox="1"/>
          <p:nvPr/>
        </p:nvSpPr>
        <p:spPr>
          <a:xfrm>
            <a:off x="6400800" y="276606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Frames, calibration → camera extrinsics</a:t>
            </a:r>
            <a:endParaRPr lang="en-US" sz="2200" dirty="0"/>
          </a:p>
        </p:txBody>
      </p:sp>
      <p:sp>
        <p:nvSpPr>
          <p:cNvPr id="11" name="Transfer dot 2"/>
          <p:cNvSpPr/>
          <p:nvPr/>
        </p:nvSpPr>
        <p:spPr>
          <a:xfrm>
            <a:off x="6035040" y="3950208"/>
            <a:ext cx="146304" cy="146304"/>
          </a:xfrm>
          <a:prstGeom prst="ellipse">
            <a:avLst/>
          </a:prstGeom>
          <a:solidFill>
            <a:schemeClr val="accent6"/>
          </a:solidFill>
          <a:ln/>
        </p:spPr>
      </p:sp>
      <p:sp>
        <p:nvSpPr>
          <p:cNvPr id="12" name="Transfer 2"/>
          <p:cNvSpPr txBox="1"/>
          <p:nvPr/>
        </p:nvSpPr>
        <p:spPr>
          <a:xfrm>
            <a:off x="6400800" y="381762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Latency budget → sensor time-sync</a:t>
            </a:r>
            <a:endParaRPr lang="en-US" sz="2200" dirty="0"/>
          </a:p>
        </p:txBody>
      </p:sp>
      <p:sp>
        <p:nvSpPr>
          <p:cNvPr id="13" name="Transfer dot 3"/>
          <p:cNvSpPr/>
          <p:nvPr/>
        </p:nvSpPr>
        <p:spPr>
          <a:xfrm>
            <a:off x="6035040" y="5001768"/>
            <a:ext cx="146304" cy="146304"/>
          </a:xfrm>
          <a:prstGeom prst="ellipse">
            <a:avLst/>
          </a:prstGeom>
          <a:solidFill>
            <a:schemeClr val="accent6"/>
          </a:solidFill>
          <a:ln/>
        </p:spPr>
      </p:sp>
      <p:sp>
        <p:nvSpPr>
          <p:cNvPr id="14" name="Transfer 3"/>
          <p:cNvSpPr txBox="1"/>
          <p:nvPr/>
        </p:nvSpPr>
        <p:spPr>
          <a:xfrm>
            <a:off x="6400800" y="486918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Ground-truth the metric</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2026-10-12T06:45:42Z</dcterms:created>
  <dcterms:modified xsi:type="dcterms:W3CDTF">2026-10-12T06:45:42Z</dcterms:modified>
</cp:coreProperties>
</file>