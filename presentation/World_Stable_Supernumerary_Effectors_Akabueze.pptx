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f98305-9f66-3301-7ec6-dc5875c47ed3}">
          <p14:sldIdLst>
            <p14:sldId id="256"/>
          </p14:sldIdLst>
        </p14:section>
        <p14:section name="Problem" id="{1317e3a2-02e1-a952-aa55-11fca8f2dee5}">
          <p14:sldIdLst>
            <p14:sldId id="257"/>
            <p14:sldId id="258"/>
          </p14:sldIdLst>
        </p14:section>
        <p14:section name="Approach &amp; solution" id="{f5d53f17-bbb8-7cca-2b65-2df806ce67e6}">
          <p14:sldIdLst>
            <p14:sldId id="259"/>
            <p14:sldId id="260"/>
            <p14:sldId id="261"/>
          </p14:sldIdLst>
        </p14:section>
        <p14:section name="Trade-offs &amp; challenges" id="{a163c9f6-0949-9e9e-4c5f-d848d2440c79}">
          <p14:sldIdLst>
            <p14:sldId id="262"/>
            <p14:sldId id="263"/>
            <p14:sldId id="264"/>
          </p14:sldIdLst>
        </p14:section>
        <p14:section name="Impact" id="{2d5c291f-6ecb-f890-7400-deb98736b8c2}">
          <p14:sldIdLst>
            <p14:sldId id="265"/>
          </p14:sldIdLst>
        </p14:section>
        <p14:section name="Close" id="{b6f2299d-2a20-2323-0040-ead39fd5db51}">
          <p14:sldIdLst>
            <p14:sldId id="266"/>
          </p14:sldIdLst>
        </p14:section>
        <p14:section name="Backup" id="{0d173380-92ef-c510-de0d-c1bb02075552}">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1" i="0" u="none" strike="noStrike">
                <a:solidFill>
                  <a:srgbClr val="5B6770"/>
                </a:solidFill>
                <a:latin typeface="+mn-lt"/>
              </a:defRPr>
            </a:pPr>
            <a:r>
              <a:rPr sz="1600" b="1" i="0" u="none" strike="noStrike">
                <a:solidFill>
                  <a:srgbClr val="5B6770"/>
                </a:solidFill>
                <a:latin typeface="+mn-lt"/>
              </a:rPr>
              <a:t>Motion 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Every step moves them six to seven centimetres. That was my MSc project at Imperial, in the MUVE Lab. I'm Christian Akabueze. In this clip the wearer twists about sixty degrees: the elbows swing, the hands stay close to where they were. I'll show how it works, how well, and what limits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1:20] The two arms are Kinova Gen3 robots, seven joints each, mounted on a backpack, which I'll call the mount. Vicon motion-capture cameras track the backpack in the room. The problem is walking. A robot arm you wear is an extra pair of hands, until you take a step: anything it holds moves with you. Every step moves the backpack, and everything attached to it. If the arms were simply locked, the hands would move 63 to 68 millimetres RMS, at every walking speed we tried. And steps come at roughly 1.8 per second, so this is fast, repeating motion, not slow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1:50] The goal: hold each hand fixed in the room, not on the body. This is my simulation with the controller on: four positions of the backpack in one cycle, with the motion enlarged three times. Panel e averages the whole cycle. The backpack and upper arms blur, because they move. The hands stay sharp, because the controller cancels that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3:00]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The part in brackets is a PD controller, proportional plus derivative, on the error in the room frame: how far the hand is from its spot, and how fast it is drifting. A damped pseudo-inverse of the Jacobian turns that into joint speeds, and the damping keeps it calm near awkward poses. The spare seventh joint drifts toward mid-range without moving the hand. A safety filter can also override a command that would bring the arm too close to the wearer. It was switched off in the simulation runs 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3:45] Before hardware, I tested my Python controller in MuJoCo, a physics engine. The backpack follows a walking-like motion at 1.8 hertz. It's a controlled stand-in for walking, smaller than the real thing. Same motion three times: arms locked, my controller, and the controller plus feedforward. Watch the red target sphere in the middle row. Over eight seconds, locked arms leave 31 millimetres of error. The controller brings it to 6.7. Feedforward, which tells the controller how the backpack is moving, gets it to 2.6. The counters on the clip only cover the first two seconds, so they differ a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5:00] Seven participants wore the arms on an instrumented treadmill at 0.5, 1 and 1.5 metres per second. To be precise about who did what: these trials ran a 400 hertz controller on the lab machine. It estimates the backpack's pose and velocity from Vicon with a Kalman filter. It has no feedforward. My own C++ controller wasn't used in these trials. The analysis is mine. On the left, one trial replayed: grey is where the hand would have gone with the arm locked; blue is where it went. To score a trial, I compare the two. I checked the locked model on arms that weren't being controlled: it's right to within half a percent. On the right: 71 percent of the motion removed at slow walking, 63 at normal speed, 56 at fast, means over six participants. That's over 128 walking trials, mostly one arm at a time. And on a platform that pitched and swayed,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 6:15] Alongside the analysis, I wrote a real-time controller in C++ for the same rig, in the HumanSL_MAIN repository. The trade-off I designed around: planning is slow and unpredictable, but the control loop has to run every 2 milliseconds without fail. So Vicon arrives at 100 hertz on its own thread and is handed over through a wait-free slot; the loop never waits on a lock. The 500 hertz core runs the kinematics and the law, clamps and integrates the joint speeds, and hands the commands to Kinova's real-time interface for both arms. Planning, with GPMP2, runs on a separate worker thread, and every plan passes one validator before it can run. Planning moves a hand to a new target around the wearer's body; the fast loop holds it there. One honest caveat: its backpack-velocity estimate is still filtered, so it has a lag of its own; a better estimator is the next piece. The cost: a new plan arrives a little later, because it has to pass the validator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7:05] Back to the trials, and the main challenge. Slow sway was mostly cancelled, 85 percent at a quarter of a hertz, but the bounce of each step was harder: only 29 percent at 2 hertz. The obvious fix: turn up the velocity gain. In a pilot with one wearer I raised it from 0.8 to 2.6. The model predicted the response near 1 hertz would fall by 38 percent. It fell by 9. And across six people, the measured amplitude matches a model with no velocity term at all. So the velocity term was barely acting.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8:20] I traced the velocity signal end to end. The Kalman filter's estimate of the backpack's velocity lags the real motion by 36 to 46 milliseconds. The measurement is about 10 milliseconds old, and the joints take about 15 to respond. In total, the velocity is 61 to 71 milliseconds late. A late estimate has the right size but the wrong timing, so subtracting it does not cancel the true velocity. What's left over is two times the sine of half the phase lag, and the phase lag is omega times d. Steps come at 1.8 hertz. At 60 milliseconds late, the velocity is off by two-thirds of its own size. For a feedforward term that's the whole story; inside a feedback loop it also depends on the gains, so I checked it with the full model. And this is not a fit: with the measured delay and nothing fitted, the model matches the hardware better than the no-velocity model in six of six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9:20] On real arms worn by seven people, the arm removes about two-thirds of walking motion, 56 to 71 percent depending on speed. The part I'm proudest of is the diagnosis: when tuning stopped helping, I found the cause in the data, a 61 to 71 millisecond delay. That sets the next step: first a faster velocity estimate, then feedforward on the real arms; in simulation, with no delay, feedforward cut the error from 6.7 to 2.6 millimetres. What transfers: frames are camera extrinsics; the 18 to 21 millimetre offset I found is an extrinsic-calibration problem; a latency budget is sensor time-sync; and I check my metric against ground truth before I trust a result. The lesson that transfers: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9:30] Thank you. Everything is on GitHub: results, simulation and figures in msc_project, and the C++ controller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a late velocity signal with the delay fitted per person, 65 to 90 milliseconds; plugging in the measured 61 to 71 instead gives almost the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 The simulation's gains are stiffer than the hardware's, so compare the trend, not the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33015"/>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706167"/>
            <a:ext cx="4837176" cy="3301898"/>
          </a:xfrm>
          <a:prstGeom prst="rect">
            <a:avLst/>
          </a:prstGeom>
        </p:spPr>
      </p:pic>
      <p:sp>
        <p:nvSpPr>
          <p:cNvPr id="6" name="Caption"/>
          <p:cNvSpPr txBox="1"/>
          <p:nvPr/>
        </p:nvSpPr>
        <p:spPr>
          <a:xfrm>
            <a:off x="6659575" y="6172657"/>
            <a:ext cx="4983480"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
        <p:nvSpPr>
          <p:cNvPr id="7" name="Presenter"/>
          <p:cNvSpPr txBox="1"/>
          <p:nvPr/>
        </p:nvSpPr>
        <p:spPr>
          <a:xfrm>
            <a:off x="548640" y="3351276"/>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8" name="GitHub link"/>
          <p:cNvSpPr txBox="1"/>
          <p:nvPr/>
        </p:nvSpPr>
        <p:spPr>
          <a:xfrm>
            <a:off x="548640" y="5042916"/>
            <a:ext cx="5745175"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Caption"/>
          <p:cNvSpPr txBox="1"/>
          <p:nvPr/>
        </p:nvSpPr>
        <p:spPr>
          <a:xfrm>
            <a:off x="4045347" y="6108192"/>
            <a:ext cx="7597709" cy="320040"/>
          </a:xfrm>
          <a:prstGeom prst="rect">
            <a:avLst/>
          </a:prstGeom>
          <a:noFill/>
          <a:ln/>
        </p:spPr>
        <p:txBody>
          <a:bodyPr wrap="square" lIns="0" tIns="0" rIns="0" bIns="0" rtlCol="0" anchor="t"/>
          <a:lstStyle/>
          <a:p>
            <a:pPr indent="0" marL="0">
              <a:buNone/>
            </a:pPr>
            <a:r>
              <a:rPr lang="en-US" sz="1400" dirty="0">
                <a:solidFill>
                  <a:schemeClr val="accent4"/>
                </a:solidFill>
              </a:rPr>
              <a:t>Walking on the treadmill, both arms on.</a:t>
            </a:r>
            <a:endParaRPr lang="en-US" sz="1400" dirty="0"/>
          </a:p>
        </p:txBody>
      </p:sp>
      <p:sp>
        <p:nvSpPr>
          <p:cNvPr id="7" name="Stat 1"/>
          <p:cNvSpPr txBox="1"/>
          <p:nvPr/>
        </p:nvSpPr>
        <p:spPr>
          <a:xfrm>
            <a:off x="4045347" y="24780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4045347" y="3593592"/>
            <a:ext cx="7597709"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4045347" y="40782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4045347" y="5193792"/>
            <a:ext cx="7597709"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308893"/>
            <a:ext cx="11094415" cy="2377375"/>
          </a:xfrm>
          <a:prstGeom prst="rect">
            <a:avLst/>
          </a:prstGeom>
        </p:spPr>
      </p:pic>
      <p:sp>
        <p:nvSpPr>
          <p:cNvPr id="5" name="Caption"/>
          <p:cNvSpPr txBox="1"/>
          <p:nvPr/>
        </p:nvSpPr>
        <p:spPr>
          <a:xfrm>
            <a:off x="548640" y="48234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my controller in a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16168"/>
            <a:ext cx="6864668" cy="457200"/>
          </a:xfrm>
          <a:prstGeom prst="rect">
            <a:avLst/>
          </a:prstGeom>
          <a:noFill/>
          <a:ln/>
        </p:spPr>
        <p:txBody>
          <a:bodyPr wrap="square" lIns="0" tIns="0" rIns="0" bIns="0" rtlCol="0" anchor="t"/>
          <a:lstStyle/>
          <a:p>
            <a:pPr indent="0" marL="0">
              <a:buNone/>
            </a:pPr>
            <a:r>
              <a:rPr lang="en-US" sz="1400" dirty="0">
                <a:solidFill>
                  <a:schemeClr val="accent4"/>
                </a:solidFill>
              </a:rPr>
              <a:t>Python controller in MuJoCo. 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7 people: about two-thirds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a 400 Hz controller on the lab machine (Kalman-filtered Vicon). The analysis is mine.</a:t>
            </a:r>
            <a:endParaRPr lang="en-US" sz="1800" dirty="0"/>
          </a:p>
        </p:txBody>
      </p:sp>
      <p:sp>
        <p:nvSpPr>
          <p:cNvPr id="5" name="Frame hw_replay.gif"/>
          <p:cNvSpPr/>
          <p:nvPr/>
        </p:nvSpPr>
        <p:spPr>
          <a:xfrm>
            <a:off x="548640" y="2286000"/>
            <a:ext cx="6632143" cy="2800232"/>
          </a:xfrm>
          <a:prstGeom prst="roundRect">
            <a:avLst>
              <a:gd name="adj" fmla="val 391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359152"/>
            <a:ext cx="6485839" cy="2653928"/>
          </a:xfrm>
          <a:prstGeom prst="rect">
            <a:avLst/>
          </a:prstGeom>
        </p:spPr>
      </p:pic>
      <p:sp>
        <p:nvSpPr>
          <p:cNvPr id="7" name="Caption"/>
          <p:cNvSpPr txBox="1"/>
          <p:nvPr/>
        </p:nvSpPr>
        <p:spPr>
          <a:xfrm>
            <a:off x="548640" y="5195960"/>
            <a:ext cx="6632143"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345375" y="2103120"/>
          <a:ext cx="4297680" cy="3593592"/>
        </p:xfrm>
        <a:graphic xmlns:a="http://schemas.openxmlformats.org/drawingml/2006/main">
          <a:graphicData uri="http://schemas.openxmlformats.org/drawingml/2006/chart">
            <c:chart xmlns:c="http://schemas.openxmlformats.org/drawingml/2006/chart" r:id="rId2"/>
          </a:graphicData>
        </a:graphic>
      </p:graphicFrame>
      <p:sp>
        <p:nvSpPr>
          <p:cNvPr id="9" name="Chart note"/>
          <p:cNvSpPr txBox="1"/>
          <p:nvPr/>
        </p:nvSpPr>
        <p:spPr>
          <a:xfrm>
            <a:off x="7482535" y="5715000"/>
            <a:ext cx="4160520" cy="548640"/>
          </a:xfrm>
          <a:prstGeom prst="rect">
            <a:avLst/>
          </a:prstGeom>
          <a:noFill/>
          <a:ln/>
        </p:spPr>
        <p:txBody>
          <a:bodyPr wrap="square" lIns="0" tIns="0" rIns="0" bIns="0" rtlCol="0" anchor="t"/>
          <a:lstStyle/>
          <a:p>
            <a:pPr indent="0" marL="0">
              <a:buNone/>
            </a:pPr>
            <a:r>
              <a:rPr lang="en-US" sz="1600" dirty="0">
                <a:solidFill>
                  <a:schemeClr val="accent4"/>
                </a:solidFill>
              </a:rPr>
              <a:t>Mean of 6 people (4 at 1.5 m/s) · 128 trials, mostly one arm</a:t>
            </a:r>
            <a:endParaRPr lang="en-US" sz="1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1965960"/>
          </a:xfrm>
          <a:prstGeom prst="roundRect">
            <a:avLst>
              <a:gd name="adj" fmla="val 6512"/>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46304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Vicon thread</a:t>
            </a:r>
            <a:endParaRPr lang="en-US" sz="1800" dirty="0"/>
          </a:p>
          <a:p>
            <a:pPr algn="ctr" indent="0" marL="0">
              <a:buNone/>
            </a:pPr>
            <a:r>
              <a:rPr lang="en-US" sz="1800" b="1" dirty="0">
                <a:solidFill>
                  <a:schemeClr val="tx2"/>
                </a:solidFill>
              </a:rPr>
              <a:t>100 Hz</a:t>
            </a:r>
            <a:endParaRPr lang="en-US" sz="1800" dirty="0"/>
          </a:p>
        </p:txBody>
      </p:sp>
      <p:sp>
        <p:nvSpPr>
          <p:cNvPr id="7" name="Wait-free slot"/>
          <p:cNvSpPr txBox="1"/>
          <p:nvPr/>
        </p:nvSpPr>
        <p:spPr>
          <a:xfrm>
            <a:off x="2514600" y="2240280"/>
            <a:ext cx="1234440" cy="1325880"/>
          </a:xfrm>
          <a:prstGeom prst="roundRect">
            <a:avLst>
              <a:gd name="adj" fmla="val 740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Wait-free</a:t>
            </a:r>
            <a:endParaRPr lang="en-US" sz="1800" dirty="0"/>
          </a:p>
          <a:p>
            <a:pPr algn="ctr" indent="0" marL="0">
              <a:buNone/>
            </a:pPr>
            <a:r>
              <a:rPr lang="en-US" sz="1800" b="1" dirty="0">
                <a:solidFill>
                  <a:schemeClr val="tx2"/>
                </a:solidFill>
              </a:rPr>
              <a:t>slot</a:t>
            </a:r>
            <a:endParaRPr lang="en-US" sz="1800" dirty="0"/>
          </a:p>
        </p:txBody>
      </p:sp>
      <p:sp>
        <p:nvSpPr>
          <p:cNvPr id="8" name="Control core"/>
          <p:cNvSpPr/>
          <p:nvPr/>
        </p:nvSpPr>
        <p:spPr>
          <a:xfrm>
            <a:off x="4023360" y="2240280"/>
            <a:ext cx="4434840" cy="1325880"/>
          </a:xfrm>
          <a:prstGeom prst="roundRect">
            <a:avLst>
              <a:gd name="adj" fmla="val 6897"/>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023360" y="2331720"/>
            <a:ext cx="4434840" cy="384048"/>
          </a:xfrm>
          <a:prstGeom prst="rect">
            <a:avLst/>
          </a:prstGeom>
          <a:noFill/>
          <a:ln/>
        </p:spPr>
        <p:txBody>
          <a:bodyPr wrap="square" lIns="0" tIns="0" rIns="0" bIns="0" rtlCol="0" anchor="t"/>
          <a:lstStyle/>
          <a:p>
            <a:pPr algn="ctr" indent="0" marL="0">
              <a:buNone/>
            </a:pPr>
            <a:r>
              <a:rPr lang="en-US" sz="2000" b="1" dirty="0">
                <a:solidFill>
                  <a:schemeClr val="bg1"/>
                </a:solidFill>
              </a:rPr>
              <a:t>500 Hz control core</a:t>
            </a:r>
            <a:endParaRPr lang="en-US" sz="2000" dirty="0"/>
          </a:p>
        </p:txBody>
      </p:sp>
      <p:sp>
        <p:nvSpPr>
          <p:cNvPr id="10" name="Core Kinematics"/>
          <p:cNvSpPr txBox="1"/>
          <p:nvPr/>
        </p:nvSpPr>
        <p:spPr>
          <a:xfrm>
            <a:off x="4133088"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Kinematics</a:t>
            </a:r>
            <a:endParaRPr lang="en-US" sz="1600" dirty="0"/>
          </a:p>
        </p:txBody>
      </p:sp>
      <p:sp>
        <p:nvSpPr>
          <p:cNvPr id="11" name="Shape 9"/>
          <p:cNvSpPr/>
          <p:nvPr/>
        </p:nvSpPr>
        <p:spPr>
          <a:xfrm>
            <a:off x="5440680" y="3136392"/>
            <a:ext cx="132588" cy="0"/>
          </a:xfrm>
          <a:prstGeom prst="line">
            <a:avLst/>
          </a:prstGeom>
          <a:noFill/>
          <a:ln w="22225">
            <a:solidFill>
              <a:schemeClr val="bg1"/>
            </a:solidFill>
            <a:prstDash val="solid"/>
            <a:tailEnd type="triangle"/>
          </a:ln>
        </p:spPr>
      </p:sp>
      <p:sp>
        <p:nvSpPr>
          <p:cNvPr id="12" name="Core Control law"/>
          <p:cNvSpPr txBox="1"/>
          <p:nvPr/>
        </p:nvSpPr>
        <p:spPr>
          <a:xfrm>
            <a:off x="5600700"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Control law</a:t>
            </a:r>
            <a:endParaRPr lang="en-US" sz="1600" dirty="0"/>
          </a:p>
        </p:txBody>
      </p:sp>
      <p:sp>
        <p:nvSpPr>
          <p:cNvPr id="13" name="Shape 11"/>
          <p:cNvSpPr/>
          <p:nvPr/>
        </p:nvSpPr>
        <p:spPr>
          <a:xfrm>
            <a:off x="6908292" y="3136392"/>
            <a:ext cx="132588" cy="0"/>
          </a:xfrm>
          <a:prstGeom prst="line">
            <a:avLst/>
          </a:prstGeom>
          <a:noFill/>
          <a:ln w="22225">
            <a:solidFill>
              <a:schemeClr val="bg1"/>
            </a:solidFill>
            <a:prstDash val="solid"/>
            <a:tailEnd type="triangle"/>
          </a:ln>
        </p:spPr>
      </p:sp>
      <p:sp>
        <p:nvSpPr>
          <p:cNvPr id="14" name="Core Clamp + integrate"/>
          <p:cNvSpPr txBox="1"/>
          <p:nvPr/>
        </p:nvSpPr>
        <p:spPr>
          <a:xfrm>
            <a:off x="7068312"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Clamp + integrate</a:t>
            </a:r>
            <a:endParaRPr lang="en-US" sz="1600" dirty="0"/>
          </a:p>
        </p:txBody>
      </p:sp>
      <p:sp>
        <p:nvSpPr>
          <p:cNvPr id="15" name="Kortex"/>
          <p:cNvSpPr txBox="1"/>
          <p:nvPr/>
        </p:nvSpPr>
        <p:spPr>
          <a:xfrm>
            <a:off x="8732520" y="2240280"/>
            <a:ext cx="160020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Kortex cyclic</a:t>
            </a:r>
            <a:endParaRPr lang="en-US" sz="1800" dirty="0"/>
          </a:p>
          <a:p>
            <a:pPr algn="ctr" indent="0" marL="0">
              <a:buNone/>
            </a:pPr>
            <a:r>
              <a:rPr lang="en-US" sz="1800" b="1" dirty="0">
                <a:solidFill>
                  <a:schemeClr val="tx2"/>
                </a:solidFill>
              </a:rPr>
              <a:t>exchange</a:t>
            </a:r>
            <a:endParaRPr lang="en-US" sz="1800" dirty="0"/>
          </a:p>
        </p:txBody>
      </p:sp>
      <p:sp>
        <p:nvSpPr>
          <p:cNvPr id="16" name="Arms"/>
          <p:cNvSpPr txBox="1"/>
          <p:nvPr/>
        </p:nvSpPr>
        <p:spPr>
          <a:xfrm>
            <a:off x="10607040" y="2240280"/>
            <a:ext cx="868680" cy="1325880"/>
          </a:xfrm>
          <a:prstGeom prst="roundRect">
            <a:avLst>
              <a:gd name="adj" fmla="val 10526"/>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Both</a:t>
            </a:r>
            <a:endParaRPr lang="en-US" sz="1800" dirty="0"/>
          </a:p>
          <a:p>
            <a:pPr algn="ctr" indent="0" marL="0">
              <a:buNone/>
            </a:pPr>
            <a:r>
              <a:rPr lang="en-US" sz="1800" b="1" dirty="0">
                <a:solidFill>
                  <a:schemeClr val="tx2"/>
                </a:solidFill>
              </a:rPr>
              <a:t>arms</a:t>
            </a:r>
            <a:endParaRPr lang="en-US" sz="1800" dirty="0"/>
          </a:p>
        </p:txBody>
      </p:sp>
      <p:sp>
        <p:nvSpPr>
          <p:cNvPr id="17" name="Shape 15"/>
          <p:cNvSpPr/>
          <p:nvPr/>
        </p:nvSpPr>
        <p:spPr>
          <a:xfrm>
            <a:off x="2276856" y="2903220"/>
            <a:ext cx="201168" cy="0"/>
          </a:xfrm>
          <a:prstGeom prst="line">
            <a:avLst/>
          </a:prstGeom>
          <a:noFill/>
          <a:ln w="28575">
            <a:solidFill>
              <a:schemeClr val="tx2"/>
            </a:solidFill>
            <a:prstDash val="solid"/>
            <a:tailEnd type="triangle"/>
          </a:ln>
        </p:spPr>
      </p:sp>
      <p:sp>
        <p:nvSpPr>
          <p:cNvPr id="18" name="Shape 16"/>
          <p:cNvSpPr/>
          <p:nvPr/>
        </p:nvSpPr>
        <p:spPr>
          <a:xfrm>
            <a:off x="3785616" y="2903220"/>
            <a:ext cx="201168" cy="0"/>
          </a:xfrm>
          <a:prstGeom prst="line">
            <a:avLst/>
          </a:prstGeom>
          <a:noFill/>
          <a:ln w="28575">
            <a:solidFill>
              <a:schemeClr val="tx2"/>
            </a:solidFill>
            <a:prstDash val="solid"/>
            <a:tailEnd type="triangle"/>
          </a:ln>
        </p:spPr>
      </p:sp>
      <p:sp>
        <p:nvSpPr>
          <p:cNvPr id="19" name="Shape 17"/>
          <p:cNvSpPr/>
          <p:nvPr/>
        </p:nvSpPr>
        <p:spPr>
          <a:xfrm>
            <a:off x="8494776" y="2903220"/>
            <a:ext cx="201168" cy="0"/>
          </a:xfrm>
          <a:prstGeom prst="line">
            <a:avLst/>
          </a:prstGeom>
          <a:noFill/>
          <a:ln w="28575">
            <a:solidFill>
              <a:schemeClr val="tx2"/>
            </a:solidFill>
            <a:prstDash val="solid"/>
            <a:tailEnd type="triangle"/>
          </a:ln>
        </p:spPr>
      </p:sp>
      <p:sp>
        <p:nvSpPr>
          <p:cNvPr id="20" name="Shape 18"/>
          <p:cNvSpPr/>
          <p:nvPr/>
        </p:nvSpPr>
        <p:spPr>
          <a:xfrm>
            <a:off x="10369296" y="2903220"/>
            <a:ext cx="201168" cy="0"/>
          </a:xfrm>
          <a:prstGeom prst="line">
            <a:avLst/>
          </a:prstGeom>
          <a:noFill/>
          <a:ln w="28575">
            <a:solidFill>
              <a:schemeClr val="tx2"/>
            </a:solidFill>
            <a:prstDash val="solid"/>
            <a:tailEnd type="triangle"/>
          </a:ln>
        </p:spPr>
      </p:sp>
      <p:sp>
        <p:nvSpPr>
          <p:cNvPr id="21" name="Planner thread"/>
          <p:cNvSpPr/>
          <p:nvPr/>
        </p:nvSpPr>
        <p:spPr>
          <a:xfrm>
            <a:off x="2651760" y="4160520"/>
            <a:ext cx="6995160" cy="1051560"/>
          </a:xfrm>
          <a:prstGeom prst="roundRect">
            <a:avLst>
              <a:gd name="adj" fmla="val 10435"/>
            </a:avLst>
          </a:prstGeom>
          <a:solidFill>
            <a:schemeClr val="bg1"/>
          </a:solidFill>
          <a:ln w="15875">
            <a:solidFill>
              <a:srgbClr val="9AA3A8"/>
            </a:solidFill>
            <a:prstDash val="dash"/>
          </a:ln>
        </p:spPr>
      </p:sp>
      <p:sp>
        <p:nvSpPr>
          <p:cNvPr id="22" name="Planner label"/>
          <p:cNvSpPr txBox="1"/>
          <p:nvPr/>
        </p:nvSpPr>
        <p:spPr>
          <a:xfrm>
            <a:off x="548640" y="4160520"/>
            <a:ext cx="1920240" cy="1051560"/>
          </a:xfrm>
          <a:prstGeom prst="rect">
            <a:avLst/>
          </a:prstGeom>
          <a:noFill/>
          <a:ln/>
        </p:spPr>
        <p:txBody>
          <a:bodyPr wrap="square" lIns="0" tIns="0" rIns="0" bIns="0" rtlCol="0" anchor="ctr"/>
          <a:lstStyle/>
          <a:p>
            <a:pPr algn="r" indent="0" marL="0">
              <a:buNone/>
            </a:pPr>
            <a:r>
              <a:rPr lang="en-US" sz="1400" b="1" spc="100" kern="0" dirty="0">
                <a:solidFill>
                  <a:schemeClr val="accent4"/>
                </a:solidFill>
              </a:rPr>
              <a:t>PLANNER THREAD</a:t>
            </a:r>
            <a:endParaRPr lang="en-US" sz="1400" dirty="0"/>
          </a:p>
          <a:p>
            <a:pPr algn="r" indent="0" marL="0">
              <a:buNone/>
            </a:pPr>
            <a:r>
              <a:rPr lang="en-US" sz="1400" b="1" spc="100" kern="0" dirty="0">
                <a:solidFill>
                  <a:schemeClr val="accent4"/>
                </a:solidFill>
              </a:rPr>
              <a:t>NOT REAL-TIME</a:t>
            </a:r>
            <a:endParaRPr lang="en-US" sz="1400" dirty="0"/>
          </a:p>
        </p:txBody>
      </p:sp>
      <p:sp>
        <p:nvSpPr>
          <p:cNvPr id="23" name="Planner GPMP2 planner"/>
          <p:cNvSpPr txBox="1"/>
          <p:nvPr/>
        </p:nvSpPr>
        <p:spPr>
          <a:xfrm>
            <a:off x="2834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GPMP2 planner</a:t>
            </a:r>
            <a:endParaRPr lang="en-US" sz="1800" dirty="0"/>
          </a:p>
        </p:txBody>
      </p:sp>
      <p:sp>
        <p:nvSpPr>
          <p:cNvPr id="24" name="Shape 22"/>
          <p:cNvSpPr/>
          <p:nvPr/>
        </p:nvSpPr>
        <p:spPr>
          <a:xfrm>
            <a:off x="4928616" y="4686300"/>
            <a:ext cx="155448" cy="0"/>
          </a:xfrm>
          <a:prstGeom prst="line">
            <a:avLst/>
          </a:prstGeom>
          <a:noFill/>
          <a:ln w="25400">
            <a:solidFill>
              <a:schemeClr val="tx2"/>
            </a:solidFill>
            <a:prstDash val="solid"/>
            <a:tailEnd type="triangle"/>
          </a:ln>
        </p:spPr>
      </p:sp>
      <p:sp>
        <p:nvSpPr>
          <p:cNvPr id="25" name="Planner Validator"/>
          <p:cNvSpPr txBox="1"/>
          <p:nvPr/>
        </p:nvSpPr>
        <p:spPr>
          <a:xfrm>
            <a:off x="5120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Validator</a:t>
            </a:r>
            <a:endParaRPr lang="en-US" sz="1800" dirty="0"/>
          </a:p>
        </p:txBody>
      </p:sp>
      <p:sp>
        <p:nvSpPr>
          <p:cNvPr id="26" name="Shape 24"/>
          <p:cNvSpPr/>
          <p:nvPr/>
        </p:nvSpPr>
        <p:spPr>
          <a:xfrm>
            <a:off x="7214616" y="4686300"/>
            <a:ext cx="155448" cy="0"/>
          </a:xfrm>
          <a:prstGeom prst="line">
            <a:avLst/>
          </a:prstGeom>
          <a:noFill/>
          <a:ln w="25400">
            <a:solidFill>
              <a:schemeClr val="tx2"/>
            </a:solidFill>
            <a:prstDash val="solid"/>
            <a:tailEnd type="triangle"/>
          </a:ln>
        </p:spPr>
      </p:sp>
      <p:sp>
        <p:nvSpPr>
          <p:cNvPr id="27" name="Planner Trajectory mailbox"/>
          <p:cNvSpPr txBox="1"/>
          <p:nvPr/>
        </p:nvSpPr>
        <p:spPr>
          <a:xfrm>
            <a:off x="7406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Trajectory mailbox</a:t>
            </a:r>
            <a:endParaRPr lang="en-US" sz="1800" dirty="0"/>
          </a:p>
        </p:txBody>
      </p:sp>
      <p:sp>
        <p:nvSpPr>
          <p:cNvPr id="28" name="Shape 26"/>
          <p:cNvSpPr/>
          <p:nvPr/>
        </p:nvSpPr>
        <p:spPr>
          <a:xfrm>
            <a:off x="4526280" y="3602736"/>
            <a:ext cx="0" cy="681228"/>
          </a:xfrm>
          <a:prstGeom prst="line">
            <a:avLst/>
          </a:prstGeom>
          <a:noFill/>
          <a:ln w="25400">
            <a:solidFill>
              <a:schemeClr val="tx2"/>
            </a:solidFill>
            <a:prstDash val="solid"/>
            <a:tailEnd type="triangle"/>
          </a:ln>
        </p:spPr>
      </p:sp>
      <p:sp>
        <p:nvSpPr>
          <p:cNvPr id="29" name="Text 27"/>
          <p:cNvSpPr txBox="1"/>
          <p:nvPr/>
        </p:nvSpPr>
        <p:spPr>
          <a:xfrm>
            <a:off x="2834640" y="3799332"/>
            <a:ext cx="1554480" cy="310896"/>
          </a:xfrm>
          <a:prstGeom prst="rect">
            <a:avLst/>
          </a:prstGeom>
          <a:noFill/>
          <a:ln/>
        </p:spPr>
        <p:txBody>
          <a:bodyPr wrap="square" lIns="0" tIns="0" rIns="0" bIns="0" rtlCol="0" anchor="t"/>
          <a:lstStyle/>
          <a:p>
            <a:pPr algn="r" indent="0" marL="0">
              <a:buNone/>
            </a:pPr>
            <a:r>
              <a:rPr lang="en-US" sz="1600" dirty="0">
                <a:solidFill>
                  <a:schemeClr val="accent4"/>
                </a:solidFill>
              </a:rPr>
              <a:t>plan request</a:t>
            </a:r>
            <a:endParaRPr lang="en-US" sz="1600" dirty="0"/>
          </a:p>
        </p:txBody>
      </p:sp>
      <p:sp>
        <p:nvSpPr>
          <p:cNvPr id="30" name="Shape 28"/>
          <p:cNvSpPr/>
          <p:nvPr/>
        </p:nvSpPr>
        <p:spPr>
          <a:xfrm flipV="1">
            <a:off x="8092440" y="3602736"/>
            <a:ext cx="0" cy="681228"/>
          </a:xfrm>
          <a:prstGeom prst="line">
            <a:avLst/>
          </a:prstGeom>
          <a:noFill/>
          <a:ln w="25400">
            <a:solidFill>
              <a:schemeClr val="tx2"/>
            </a:solidFill>
            <a:prstDash val="solid"/>
            <a:tailEnd type="triangle"/>
          </a:ln>
        </p:spPr>
      </p:sp>
      <p:sp>
        <p:nvSpPr>
          <p:cNvPr id="31" name="Text 29"/>
          <p:cNvSpPr txBox="1"/>
          <p:nvPr/>
        </p:nvSpPr>
        <p:spPr>
          <a:xfrm>
            <a:off x="8229600" y="3799332"/>
            <a:ext cx="2194560" cy="310896"/>
          </a:xfrm>
          <a:prstGeom prst="rect">
            <a:avLst/>
          </a:prstGeom>
          <a:noFill/>
          <a:ln/>
        </p:spPr>
        <p:txBody>
          <a:bodyPr wrap="square" lIns="0" tIns="0" rIns="0" bIns="0" rtlCol="0" anchor="t"/>
          <a:lstStyle/>
          <a:p>
            <a:pPr indent="0" marL="0">
              <a:buNone/>
            </a:pPr>
            <a:r>
              <a:rPr lang="en-US" sz="1600" dirty="0">
                <a:solidFill>
                  <a:schemeClr val="accent4"/>
                </a:solidFill>
              </a:rPr>
              <a:t>checked trajectory</a:t>
            </a:r>
            <a:endParaRPr lang="en-US" sz="1600" dirty="0"/>
          </a:p>
        </p:txBody>
      </p:sp>
      <p:sp>
        <p:nvSpPr>
          <p:cNvPr id="32" name="Gain and cost"/>
          <p:cNvSpPr txBox="1"/>
          <p:nvPr/>
        </p:nvSpPr>
        <p:spPr>
          <a:xfrm>
            <a:off x="548640" y="5513832"/>
            <a:ext cx="11094415" cy="566928"/>
          </a:xfrm>
          <a:prstGeom prst="rect">
            <a:avLst/>
          </a:prstGeom>
          <a:noFill/>
          <a:ln/>
        </p:spPr>
        <p:txBody>
          <a:bodyPr wrap="square" lIns="0" tIns="0" rIns="0" bIns="0" rtlCol="0" anchor="t"/>
          <a:lstStyle/>
          <a:p>
            <a:pPr indent="0" marL="0">
              <a:buNone/>
            </a:pPr>
            <a:r>
              <a:rPr lang="en-US" sz="1800" b="1" dirty="0">
                <a:solidFill>
                  <a:schemeClr val="tx2"/>
                </a:solidFill>
              </a:rPr>
              <a:t>Gain: </a:t>
            </a:r>
            <a:pPr indent="0" marL="0">
              <a:buNone/>
            </a:pPr>
            <a:r>
              <a:rPr lang="en-US" sz="1800" dirty="0">
                <a:solidFill>
                  <a:schemeClr val="tx1"/>
                </a:solidFill>
              </a:rPr>
              <a:t>the 2 ms loop never waits on Vicon or the planner.</a:t>
            </a:r>
            <a:endParaRPr lang="en-US" sz="1800" dirty="0"/>
          </a:p>
          <a:p>
            <a:pPr indent="0" marL="0">
              <a:buNone/>
            </a:pPr>
            <a:r>
              <a:rPr lang="en-US" sz="1800" b="1" dirty="0">
                <a:solidFill>
                  <a:schemeClr val="tx2"/>
                </a:solidFill>
              </a:rPr>
              <a:t>Cost: </a:t>
            </a:r>
            <a:pPr indent="0" marL="0">
              <a:buNone/>
            </a:pPr>
            <a:r>
              <a:rPr lang="en-US" sz="1800" dirty="0">
                <a:solidFill>
                  <a:schemeClr val="tx1"/>
                </a:solidFill>
              </a:rPr>
              <a:t>a new plan starts later, only after it passes the validator.</a:t>
            </a:r>
            <a:endParaRPr lang="en-US" sz="1800" dirty="0"/>
          </a:p>
        </p:txBody>
      </p:sp>
      <p:sp>
        <p:nvSpPr>
          <p:cNvPr id="33" name="Caption"/>
          <p:cNvSpPr txBox="1"/>
          <p:nvPr/>
        </p:nvSpPr>
        <p:spPr>
          <a:xfrm>
            <a:off x="548640" y="6117336"/>
            <a:ext cx="11094415" cy="256032"/>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21945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52628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Kd raised 0.8 → 2.6</a:t>
            </a:r>
            <a:endParaRPr lang="en-US" sz="2200" dirty="0"/>
          </a:p>
        </p:txBody>
      </p:sp>
      <p:sp>
        <p:nvSpPr>
          <p:cNvPr id="10" name="Takeaway"/>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cause: the velocity arrives 61–71 ms late</a:t>
            </a:r>
            <a:endParaRPr lang="en-US" sz="3200" dirty="0"/>
          </a:p>
        </p:txBody>
      </p:sp>
      <p:sp>
        <p:nvSpPr>
          <p:cNvPr id="4" name="Kalman lag (36 ms)"/>
          <p:cNvSpPr/>
          <p:nvPr/>
        </p:nvSpPr>
        <p:spPr>
          <a:xfrm>
            <a:off x="548640" y="2103120"/>
            <a:ext cx="4136797" cy="1005840"/>
          </a:xfrm>
          <a:prstGeom prst="rect">
            <a:avLst/>
          </a:prstGeom>
          <a:solidFill>
            <a:schemeClr val="accent3"/>
          </a:solidFill>
          <a:ln/>
        </p:spPr>
      </p:sp>
      <p:pic>
        <p:nvPicPr>
          <p:cNvPr id="5" name="Kalman lag fade (36-46 ms)" descr="Kalman lag range, 36 to 46 ms">    </p:cNvPr>
          <p:cNvPicPr>
            <a:picLocks noChangeAspect="1"/>
          </p:cNvPicPr>
          <p:nvPr/>
        </p:nvPicPr>
        <p:blipFill>
          <a:blip r:embed="rId1"/>
          <a:stretch>
            <a:fillRect/>
          </a:stretch>
        </p:blipFill>
        <p:spPr>
          <a:xfrm>
            <a:off x="4667149" y="2103120"/>
            <a:ext cx="1144030" cy="1005840"/>
          </a:xfrm>
          <a:prstGeom prst="rect">
            <a:avLst/>
          </a:prstGeom>
        </p:spPr>
      </p:pic>
      <p:sp>
        <p:nvSpPr>
          <p:cNvPr id="6" name="Kalman label"/>
          <p:cNvSpPr txBox="1"/>
          <p:nvPr/>
        </p:nvSpPr>
        <p:spPr>
          <a:xfrm>
            <a:off x="548640" y="2103120"/>
            <a:ext cx="526253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7" name="Delay segment sensing"/>
          <p:cNvSpPr/>
          <p:nvPr/>
        </p:nvSpPr>
        <p:spPr>
          <a:xfrm>
            <a:off x="5811179" y="2103120"/>
            <a:ext cx="1144030" cy="1005840"/>
          </a:xfrm>
          <a:prstGeom prst="rect">
            <a:avLst/>
          </a:prstGeom>
          <a:solidFill>
            <a:schemeClr val="accent3">
              <a:alpha val="75000"/>
            </a:schemeClr>
          </a:solidFill>
          <a:ln/>
        </p:spPr>
      </p:sp>
      <p:sp>
        <p:nvSpPr>
          <p:cNvPr id="8" name="Delay divider 1"/>
          <p:cNvSpPr/>
          <p:nvPr/>
        </p:nvSpPr>
        <p:spPr>
          <a:xfrm>
            <a:off x="5811179" y="2103120"/>
            <a:ext cx="0" cy="1005840"/>
          </a:xfrm>
          <a:prstGeom prst="line">
            <a:avLst/>
          </a:prstGeom>
          <a:noFill/>
          <a:ln w="31750">
            <a:solidFill>
              <a:schemeClr val="bg1"/>
            </a:solidFill>
            <a:prstDash val="solid"/>
          </a:ln>
        </p:spPr>
      </p:sp>
      <p:sp>
        <p:nvSpPr>
          <p:cNvPr id="9" name="Text 6"/>
          <p:cNvSpPr txBox="1"/>
          <p:nvPr/>
        </p:nvSpPr>
        <p:spPr>
          <a:xfrm>
            <a:off x="5811179" y="210312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joints"/>
          <p:cNvSpPr/>
          <p:nvPr/>
        </p:nvSpPr>
        <p:spPr>
          <a:xfrm>
            <a:off x="6955210" y="2103120"/>
            <a:ext cx="1716045" cy="1005840"/>
          </a:xfrm>
          <a:prstGeom prst="rect">
            <a:avLst/>
          </a:prstGeom>
          <a:solidFill>
            <a:schemeClr val="accent3">
              <a:alpha val="55000"/>
            </a:schemeClr>
          </a:solidFill>
          <a:ln/>
        </p:spPr>
      </p:sp>
      <p:sp>
        <p:nvSpPr>
          <p:cNvPr id="11" name="Delay divider 2"/>
          <p:cNvSpPr/>
          <p:nvPr/>
        </p:nvSpPr>
        <p:spPr>
          <a:xfrm>
            <a:off x="6955210" y="2103120"/>
            <a:ext cx="0" cy="1005840"/>
          </a:xfrm>
          <a:prstGeom prst="line">
            <a:avLst/>
          </a:prstGeom>
          <a:noFill/>
          <a:ln w="31750">
            <a:solidFill>
              <a:schemeClr val="bg1"/>
            </a:solidFill>
            <a:prstDash val="solid"/>
          </a:ln>
        </p:spPr>
      </p:sp>
      <p:sp>
        <p:nvSpPr>
          <p:cNvPr id="12" name="Text 9"/>
          <p:cNvSpPr txBox="1"/>
          <p:nvPr/>
        </p:nvSpPr>
        <p:spPr>
          <a:xfrm>
            <a:off x="6955210" y="210312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899855" y="210312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4" name="Delay formula"/>
          <p:cNvSpPr txBox="1"/>
          <p:nvPr/>
        </p:nvSpPr>
        <p:spPr>
          <a:xfrm>
            <a:off x="548640" y="365760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5" name="Formula key"/>
          <p:cNvSpPr txBox="1"/>
          <p:nvPr/>
        </p:nvSpPr>
        <p:spPr>
          <a:xfrm>
            <a:off x="548640" y="4343400"/>
            <a:ext cx="11094415" cy="292608"/>
          </a:xfrm>
          <a:prstGeom prst="rect">
            <a:avLst/>
          </a:prstGeom>
          <a:noFill/>
          <a:ln/>
        </p:spPr>
        <p:txBody>
          <a:bodyPr wrap="square" lIns="0" tIns="0" rIns="0" bIns="0" rtlCol="0" anchor="t"/>
          <a:lstStyle/>
          <a:p>
            <a:pPr indent="0" marL="0">
              <a:buNone/>
            </a:pPr>
            <a:r>
              <a:rPr lang="en-US" sz="1600" dirty="0">
                <a:solidFill>
                  <a:schemeClr val="accent4"/>
                </a:solidFill>
              </a:rPr>
              <a:t>ω = 2π × step frequency · d: delay</a:t>
            </a:r>
            <a:endParaRPr lang="en-US" sz="1600" dirty="0"/>
          </a:p>
        </p:txBody>
      </p:sp>
      <p:sp>
        <p:nvSpPr>
          <p:cNvPr id="16" name="Formula gloss"/>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7" name="Evidence"/>
          <p:cNvSpPr txBox="1"/>
          <p:nvPr/>
        </p:nvSpPr>
        <p:spPr>
          <a:xfrm>
            <a:off x="548640" y="55321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the model matches the hardware better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transfers</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1051560"/>
          </a:xfrm>
          <a:prstGeom prst="rect">
            <a:avLst/>
          </a:prstGeom>
          <a:noFill/>
          <a:ln/>
        </p:spPr>
        <p:txBody>
          <a:bodyPr wrap="square" lIns="0" tIns="0" rIns="0" bIns="0" rtlCol="0" anchor="t"/>
          <a:lstStyle/>
          <a:p>
            <a:pPr indent="0" marL="0">
              <a:buNone/>
            </a:pPr>
            <a:r>
              <a:rPr lang="en-US" sz="2200" dirty="0">
                <a:solidFill>
                  <a:schemeClr val="bg1"/>
                </a:solidFill>
              </a:rPr>
              <a:t>of walking motion removed on real arms, worn by 7 people</a:t>
            </a:r>
            <a:endParaRPr lang="en-US" sz="2200" dirty="0"/>
          </a:p>
          <a:p>
            <a:pPr indent="0" marL="0">
              <a:buNone/>
            </a:pPr>
            <a:r>
              <a:rPr lang="en-US" sz="2200" dirty="0">
                <a:solidFill>
                  <a:schemeClr val="bg1"/>
                </a:solidFill>
              </a:rPr>
              <a:t>(56–71%)</a:t>
            </a:r>
            <a:endParaRPr lang="en-US" sz="2200" dirty="0"/>
          </a:p>
        </p:txBody>
      </p:sp>
      <p:sp>
        <p:nvSpPr>
          <p:cNvPr id="7" name="Found-why panel"/>
          <p:cNvSpPr/>
          <p:nvPr/>
        </p:nvSpPr>
        <p:spPr>
          <a:xfrm>
            <a:off x="777240" y="4800600"/>
            <a:ext cx="4480560" cy="1188720"/>
          </a:xfrm>
          <a:prstGeom prst="roundRect">
            <a:avLst>
              <a:gd name="adj" fmla="val 7692"/>
            </a:avLst>
          </a:prstGeom>
          <a:solidFill>
            <a:schemeClr val="accent1"/>
          </a:solidFill>
          <a:ln/>
        </p:spPr>
      </p:sp>
      <p:sp>
        <p:nvSpPr>
          <p:cNvPr id="8" name="Found why"/>
          <p:cNvSpPr txBox="1"/>
          <p:nvPr/>
        </p:nvSpPr>
        <p:spPr>
          <a:xfrm>
            <a:off x="1005840" y="4800600"/>
            <a:ext cx="4023360" cy="1188720"/>
          </a:xfrm>
          <a:prstGeom prst="rect">
            <a:avLst/>
          </a:prstGeom>
          <a:noFill/>
          <a:ln/>
        </p:spPr>
        <p:txBody>
          <a:bodyPr wrap="square" lIns="0" tIns="0" rIns="0" bIns="0" rtlCol="0" anchor="ctr"/>
          <a:lstStyle/>
          <a:p>
            <a:pPr indent="0" marL="0">
              <a:buNone/>
            </a:pPr>
            <a:r>
              <a:rPr lang="en-US" sz="2000" b="1" dirty="0">
                <a:solidFill>
                  <a:schemeClr val="bg1"/>
                </a:solidFill>
              </a:rPr>
              <a:t>Found why: </a:t>
            </a:r>
            <a:pPr indent="0" marL="0">
              <a:buNone/>
            </a:pPr>
            <a:r>
              <a:rPr lang="en-US" sz="2000" dirty="0">
                <a:solidFill>
                  <a:schemeClr val="bg1"/>
                </a:solidFill>
              </a:rPr>
              <a:t>a 61–71 ms velocity delay, from data, not tuning</a:t>
            </a:r>
            <a:endParaRPr lang="en-US" sz="2000" dirty="0"/>
          </a:p>
        </p:txBody>
      </p:sp>
      <p:sp>
        <p:nvSpPr>
          <p:cNvPr id="9" name="Transfers heading"/>
          <p:cNvSpPr txBox="1"/>
          <p:nvPr/>
        </p:nvSpPr>
        <p:spPr>
          <a:xfrm>
            <a:off x="6035040" y="1828800"/>
            <a:ext cx="5608015" cy="457200"/>
          </a:xfrm>
          <a:prstGeom prst="rect">
            <a:avLst/>
          </a:prstGeom>
          <a:noFill/>
          <a:ln/>
        </p:spPr>
        <p:txBody>
          <a:bodyPr wrap="square" lIns="0" tIns="0" rIns="0" bIns="0" rtlCol="0" anchor="t"/>
          <a:lstStyle/>
          <a:p>
            <a:pPr indent="0" marL="0">
              <a:buNone/>
            </a:pPr>
            <a:r>
              <a:rPr lang="en-US" sz="2600" b="1" dirty="0">
                <a:solidFill>
                  <a:schemeClr val="tx2"/>
                </a:solidFill>
              </a:rPr>
              <a:t>What transfers</a:t>
            </a:r>
            <a:endParaRPr lang="en-US" sz="2600" dirty="0"/>
          </a:p>
        </p:txBody>
      </p:sp>
      <p:sp>
        <p:nvSpPr>
          <p:cNvPr id="10" name="Transfer dot 1"/>
          <p:cNvSpPr/>
          <p:nvPr/>
        </p:nvSpPr>
        <p:spPr>
          <a:xfrm>
            <a:off x="6035040" y="2624328"/>
            <a:ext cx="274320" cy="274320"/>
          </a:xfrm>
          <a:prstGeom prst="ellipse">
            <a:avLst/>
          </a:prstGeom>
          <a:solidFill>
            <a:schemeClr val="accent2"/>
          </a:solidFill>
          <a:ln/>
        </p:spPr>
      </p:sp>
      <p:sp>
        <p:nvSpPr>
          <p:cNvPr id="11" name="Transfer 1"/>
          <p:cNvSpPr txBox="1"/>
          <p:nvPr/>
        </p:nvSpPr>
        <p:spPr>
          <a:xfrm>
            <a:off x="6537960" y="2560320"/>
            <a:ext cx="5105095" cy="960120"/>
          </a:xfrm>
          <a:prstGeom prst="rect">
            <a:avLst/>
          </a:prstGeom>
          <a:noFill/>
          <a:ln/>
        </p:spPr>
        <p:txBody>
          <a:bodyPr wrap="square" lIns="0" tIns="0" rIns="0" bIns="0" rtlCol="0" anchor="t"/>
          <a:lstStyle/>
          <a:p>
            <a:pPr indent="0" marL="0">
              <a:buNone/>
            </a:pPr>
            <a:r>
              <a:rPr lang="en-US" sz="2200" b="1" dirty="0">
                <a:solidFill>
                  <a:schemeClr val="tx2"/>
                </a:solidFill>
              </a:rPr>
              <a:t>3D frames and calibration: </a:t>
            </a:r>
            <a:pPr indent="0" marL="0">
              <a:buNone/>
            </a:pPr>
            <a:r>
              <a:rPr lang="en-US" sz="2200" dirty="0">
                <a:solidFill>
                  <a:schemeClr val="tx1"/>
                </a:solidFill>
              </a:rPr>
              <a:t>the same maths as camera extrinsics</a:t>
            </a:r>
            <a:endParaRPr lang="en-US" sz="2200" dirty="0"/>
          </a:p>
        </p:txBody>
      </p:sp>
      <p:sp>
        <p:nvSpPr>
          <p:cNvPr id="12" name="Transfer dot 2"/>
          <p:cNvSpPr/>
          <p:nvPr/>
        </p:nvSpPr>
        <p:spPr>
          <a:xfrm>
            <a:off x="6035040" y="3813048"/>
            <a:ext cx="274320" cy="274320"/>
          </a:xfrm>
          <a:prstGeom prst="ellipse">
            <a:avLst/>
          </a:prstGeom>
          <a:solidFill>
            <a:schemeClr val="accent1"/>
          </a:solidFill>
          <a:ln/>
        </p:spPr>
      </p:sp>
      <p:sp>
        <p:nvSpPr>
          <p:cNvPr id="13" name="Transfer 2"/>
          <p:cNvSpPr txBox="1"/>
          <p:nvPr/>
        </p:nvSpPr>
        <p:spPr>
          <a:xfrm>
            <a:off x="6537960" y="3749040"/>
            <a:ext cx="5105095" cy="960120"/>
          </a:xfrm>
          <a:prstGeom prst="rect">
            <a:avLst/>
          </a:prstGeom>
          <a:noFill/>
          <a:ln/>
        </p:spPr>
        <p:txBody>
          <a:bodyPr wrap="square" lIns="0" tIns="0" rIns="0" bIns="0" rtlCol="0" anchor="t"/>
          <a:lstStyle/>
          <a:p>
            <a:pPr indent="0" marL="0">
              <a:buNone/>
            </a:pPr>
            <a:r>
              <a:rPr lang="en-US" sz="2200" b="1" dirty="0">
                <a:solidFill>
                  <a:schemeClr val="tx2"/>
                </a:solidFill>
              </a:rPr>
              <a:t>Latency budgets: </a:t>
            </a:r>
            <a:pPr indent="0" marL="0">
              <a:buNone/>
            </a:pPr>
            <a:r>
              <a:rPr lang="en-US" sz="2200" dirty="0">
                <a:solidFill>
                  <a:schemeClr val="tx1"/>
                </a:solidFill>
              </a:rPr>
              <a:t>time-align sensors before tuning anything</a:t>
            </a:r>
            <a:endParaRPr lang="en-US" sz="2200" dirty="0"/>
          </a:p>
        </p:txBody>
      </p:sp>
      <p:sp>
        <p:nvSpPr>
          <p:cNvPr id="14" name="Transfer dot 3"/>
          <p:cNvSpPr/>
          <p:nvPr/>
        </p:nvSpPr>
        <p:spPr>
          <a:xfrm>
            <a:off x="6035040" y="5001768"/>
            <a:ext cx="274320" cy="274320"/>
          </a:xfrm>
          <a:prstGeom prst="ellipse">
            <a:avLst/>
          </a:prstGeom>
          <a:solidFill>
            <a:schemeClr val="accent1"/>
          </a:solidFill>
          <a:ln/>
        </p:spPr>
      </p:sp>
      <p:sp>
        <p:nvSpPr>
          <p:cNvPr id="15" name="Transfer 3"/>
          <p:cNvSpPr txBox="1"/>
          <p:nvPr/>
        </p:nvSpPr>
        <p:spPr>
          <a:xfrm>
            <a:off x="6537960" y="4937760"/>
            <a:ext cx="5105095" cy="960120"/>
          </a:xfrm>
          <a:prstGeom prst="rect">
            <a:avLst/>
          </a:prstGeom>
          <a:noFill/>
          <a:ln/>
        </p:spPr>
        <p:txBody>
          <a:bodyPr wrap="square" lIns="0" tIns="0" rIns="0" bIns="0" rtlCol="0" anchor="t"/>
          <a:lstStyle/>
          <a:p>
            <a:pPr indent="0" marL="0">
              <a:buNone/>
            </a:pPr>
            <a:r>
              <a:rPr lang="en-US" sz="2200" b="1" dirty="0">
                <a:solidFill>
                  <a:schemeClr val="tx2"/>
                </a:solidFill>
              </a:rPr>
              <a:t>Validate the metric first: </a:t>
            </a:r>
            <a:pPr indent="0" marL="0">
              <a:buNone/>
            </a:pPr>
            <a:r>
              <a:rPr lang="en-US" sz="2200" dirty="0">
                <a:solidFill>
                  <a:schemeClr val="tx1"/>
                </a:solidFill>
              </a:rPr>
              <a:t>0.5% check against ground truth</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793846" y="1783080"/>
            <a:ext cx="4604004"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866998" y="1856232"/>
            <a:ext cx="4457700"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In amplitude (top), measured follows the no-velocity model (dotted). Green: late-velocity model.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the planner moved the target &gt; 100 mm; those had the most hand motion → a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at slower walking speeds)</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2026-10-11T23:41:01Z</dcterms:created>
  <dcterms:modified xsi:type="dcterms:W3CDTF">2026-10-11T23:41:01Z</dcterms:modified>
</cp:coreProperties>
</file>