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61f91b1-0b17-caf8-13b2-292febeea258}">
          <p14:sldIdLst>
            <p14:sldId id="256"/>
          </p14:sldIdLst>
        </p14:section>
        <p14:section name="Problem" id="{e1b3c850-ed89-fa86-332d-f8d22707958a}">
          <p14:sldIdLst>
            <p14:sldId id="257"/>
          </p14:sldIdLst>
        </p14:section>
        <p14:section name="Approach &amp; solution" id="{afe91c1a-4529-897b-e0c7-b935a29b5a94}">
          <p14:sldIdLst>
            <p14:sldId id="258"/>
            <p14:sldId id="259"/>
            <p14:sldId id="260"/>
          </p14:sldIdLst>
        </p14:section>
        <p14:section name="Trade-offs &amp; challenges" id="{9a384f4c-2840-a4e5-9600-2e84fc489dc9}">
          <p14:sldIdLst>
            <p14:sldId id="261"/>
            <p14:sldId id="262"/>
          </p14:sldIdLst>
        </p14:section>
        <p14:section name="Impact" id="{ea317fe9-31e4-eb94-e082-93f29a7fa27c}">
          <p14:sldIdLst>
            <p14:sldId id="263"/>
          </p14:sldIdLst>
        </p14:section>
        <p14:section name="Close" id="{1eb3a8e1-a045-7ee1-c57a-446a0a305aec}">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 0:35] Imagine wearing two extra robot arms on your back and asking them to hold something still while you walk. That was my MSc project, in the MUVE Lab at Imperial; I'm Christian Akabueze. Here the wearer twists about sixty degrees: the elbows swing, and the hands stay close to where they were. To be clear up front: the simulation, my controllers, the trial analysis and the diagnosis are mine; the hardware trials ran a 400 hertz controller on the lab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 | 1:30] The arms are two seven-joint Kinova Gen3 robots on a backpack, which I'll call the mount, and Vicon motion capture tracks it. A robot arm you wear is an extra pair of hands, until you take a step: anything it holds moves with you. If the arms were locked, walking would move the hands 63 to 68 millimetres RMS, at every speed we tried. Locked means the arm held rigid on the mount, so the hand just rides along with the backpack. And steps come about 1.8 times a second, so this is fast, repeating motion, not slow drift. So the goal is set in the world frame: hold each hand fixed in the room, not on the 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 2:50] The approach is a chain of 3D frames. Vicon gives the mount's pose in the room, live. The arm base sits at a fixed, known offset on the mount, and forward kinematics places the hand relative to the base. Compose the three and I have the hand's pose and its Jacobian in the room frame: the same composition as camera extrinsics. The control law is a PD term on that room-frame error, how far the hand is from its spot and how fast it is drifting, turned into joint speeds by a damped pseudo-inverse. The null-space term keeps the spare seventh joint near mid-range, and a safety filter can override a command that comes too close to the wearer; it was off in the simulation runs. I wrote this law in Python for simulation and as a 500 hertz real-time C++ controller; that's the second link at the end. Keep an eye on the orange part, K-d times e-dot, the velocity term. It comes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 3:35] Before hardware, I ran my Python controller in MuJoCo, a physics engine, with the safety filter off. The mount follows a walking-like motion at 1.8 hertz, smaller than real walking. Same motion, three controllers. Over eight seconds, locked arms leave 31.0 millimetres RMS, and the reactive controller brings that to 6.7. Adding feedforward, which tells the controller how the mount is moving instead of waiting for the error, brings it to 2.6. The counters in the clip are a running RMS over a shorter window. The gains here are stiffer than on hardware, so compare trends, not millimetres. And remember that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 | 5:00] Then real wearers. Seven people walked on an instrumented treadmill at 0.5, 1 and 1.5 metres per second. The trials ran a 400 hertz controller on the lab machine: Kalman-filtered Vicon, no feedforward, and a velocity term that is a gain, K-d, on the room-frame velocity error. My C++ controller did not run these trials; the analysis is mine. In the replay, grey is where a locked arm would have put the hand, and blue is where it went. I checked that locked-arm model on arms that weren't being controlled: it is right to within half a percent. Scored that way, the arm removed 71, 63 and 56 percent of the motion. Those are means over six of the seven people, four at the fastest speed; the first session is reported separately. That's 128 trials, mostly one arm at a time. Faster walking moves the mount faster, not further, and speed is what hurts: at 1 metre per second, slow drift is 85 percent cancelled at a quarter of a hertz, but the bounce of each step only 29 percent at 2 hertz.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 5:45] The obvious fix for that bounce is more velocity gain. In a pilot session with one wearer, K-d was stepped from 0.8 to 2.6, more than three times higher. The model predicted that the response near 1 hertz would fall by 38 percent. It fell by 9, about a quarter of the predicted effect. And across six people, the measured amplitude sits on a model with no velocity term at all. So the velocity term was barely acting, and more tuning was not going to fix that. Before changing anything else, I needed to know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 | 7:20] So I traced the velocity signal end to end. The Kalman estimate of the mount's velocity lags the real motion by 36 to 46 milliseconds. The Vicon measurement is about 10 milliseconds old, and the joints take about 15 to respond. In total, the velocity arrives 61 to 71 milliseconds late. That's the trade-off: filtering makes the velocity smooth, but late, and a late velocity has the right size but the wrong timing, so subtracting it does not cancel the real one. In plain terms, the arm reacts to how the backpack was moving, not how it is moving now. For feedforward, what's left over is exactly two times the sine of omega d over two, where omega is two pi times the step frequency and d is the delay. At 1.8 hertz and 60 milliseconds that is two-thirds of the velocity, a little more across 61 to 71. Inside a feedback loop it also depends on the gains, so I checked the full model: with the measured delay and nothing fitted, it matches the hardware better than the no-velocity model in six of six people. It's the explanation that fits the data, not yet proof; confirming it means changing the estimator on hardware, which is the next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 8:30] So, the impact. On real arms worn by seven people, the arm removed about two-thirds of walking motion: 56 to 71 percent, means over six. The part I'm proudest of is the diagnosis. When tuning stopped helping, the data pointed to a 61 to 71 millisecond delay, and that sets the next step: a faster velocity estimate, then feedforward on the real arms, which in simulation, with no delay, took the error from 6.7 to 2.6 millimetres. And my own C++ controller isn't that fix yet: its velocity estimate uses a 50 millisecond low-pass, itself about 45 milliseconds of lag at step frequency. What transfers beyond robotics: frames and calibration are camera extrinsics, and the constant 18 to 21 millimetre offset I found is a calibration problem; a latency budget is sensor time-sync; and I validated my metric against ground truth, to half a percent, before trusting any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 | 8:40] Thank you. The results, simulation and figures are in msc_project, and my C++ real-time controller is in HumanSL_MAIN.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02147"/>
        </a:solidFill>
      </p:bgPr>
    </p:bg>
    <p:spTree>
      <p:nvGrpSpPr>
        <p:cNvPr id="1" name=""/>
        <p:cNvGrpSpPr/>
        <p:nvPr/>
      </p:nvGrpSpPr>
      <p:grpSpPr>
        <a:xfrm>
          <a:off x="0" y="0"/>
          <a:ext cx="0" cy="0"/>
          <a:chOff x="0" y="0"/>
          <a:chExt cx="0" cy="0"/>
        </a:xfrm>
      </p:grpSpPr>
      <p:sp>
        <p:nvSpPr>
          <p:cNvPr id="2" name="Text 0"/>
          <p:cNvSpPr/>
          <p:nvPr/>
        </p:nvSpPr>
        <p:spPr>
          <a:xfrm>
            <a:off x="8534095" y="384048"/>
            <a:ext cx="3108960" cy="365760"/>
          </a:xfrm>
          <a:prstGeom prst="rect">
            <a:avLst/>
          </a:prstGeom>
          <a:noFill/>
          <a:ln/>
        </p:spPr>
        <p:txBody>
          <a:bodyPr wrap="square" lIns="0" tIns="0" rIns="0" bIns="0" rtlCol="0" anchor="ctr"/>
          <a:lstStyle/>
          <a:p>
            <a:pPr algn="r" indent="0" marL="0">
              <a:buNone/>
            </a:pPr>
            <a:r>
              <a:rPr lang="en-US" sz="1600" b="1" dirty="0">
                <a:solidFill>
                  <a:schemeClr val="bg1"/>
                </a:solidFill>
                <a:latin typeface="Arial" pitchFamily="34" charset="0"/>
                <a:ea typeface="Arial" pitchFamily="34" charset="-122"/>
                <a:cs typeface="Arial" pitchFamily="34" charset="-120"/>
              </a:rPr>
              <a:t>Imperial College London</a:t>
            </a:r>
            <a:endParaRPr lang="en-US" sz="1600" dirty="0"/>
          </a:p>
        </p:txBody>
      </p:sp>
      <p:sp>
        <p:nvSpPr>
          <p:cNvPr id="3" name="Text 1"/>
          <p:cNvSpPr/>
          <p:nvPr>
            <p:ph idx="101" type="title" hasCustomPrompt="1"/>
          </p:nvPr>
        </p:nvSpPr>
        <p:spPr>
          <a:xfrm>
            <a:off x="548640" y="914400"/>
            <a:ext cx="11094415" cy="1005840"/>
          </a:xfrm>
          <a:prstGeom prst="rect">
            <a:avLst/>
          </a:prstGeom>
          <a:noFill/>
          <a:ln/>
        </p:spPr>
        <p:txBody>
          <a:bodyPr wrap="square" rtlCol="0"/>
          <a:lstStyle>
            <a:lvl1pPr algn="l" indent="0" marL="0">
              <a:buNone/>
              <a:defRPr lang="en-US" sz="3200" b="1" dirty="0">
                <a:solidFill>
                  <a:schemeClr val="bg1"/>
                </a:solidFill>
                <a:latin typeface="Arial" pitchFamily="34" charset="0"/>
                <a:ea typeface="Arial" pitchFamily="34" charset="-122"/>
                <a:cs typeface="Arial" pitchFamily="34" charset="-120"/>
              </a:defRPr>
            </a:lvl1pPr>
          </a:lstStyle>
          <a:p>
            <a:pPr algn="l" indent="0" marL="0">
              <a:buNone/>
            </a:pPr>
            <a:endParaRPr lang="en-US" sz="3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534095" y="384048"/>
            <a:ext cx="3108960" cy="365760"/>
          </a:xfrm>
          <a:prstGeom prst="rect">
            <a:avLst/>
          </a:prstGeom>
          <a:noFill/>
          <a:ln/>
        </p:spPr>
        <p:txBody>
          <a:bodyPr wrap="square" lIns="0" tIns="0" rIns="0" bIns="0" rtlCol="0" anchor="ctr"/>
          <a:lstStyle/>
          <a:p>
            <a:pPr algn="r" indent="0" marL="0">
              <a:buNone/>
            </a:pPr>
            <a:r>
              <a:rPr lang="en-US" sz="1600" b="1" dirty="0">
                <a:solidFill>
                  <a:schemeClr val="tx2"/>
                </a:solidFill>
                <a:latin typeface="Arial" pitchFamily="34" charset="0"/>
                <a:ea typeface="Arial" pitchFamily="34" charset="-122"/>
                <a:cs typeface="Arial" pitchFamily="34" charset="-120"/>
              </a:rPr>
              <a:t>Imperial College London</a:t>
            </a:r>
            <a:endParaRPr lang="en-US" sz="1600" dirty="0"/>
          </a:p>
        </p:txBody>
      </p:sp>
      <p:sp>
        <p:nvSpPr>
          <p:cNvPr id="3" name="Text 1"/>
          <p:cNvSpPr/>
          <p:nvPr>
            <p:ph idx="101" type="title" hasCustomPrompt="1"/>
          </p:nvPr>
        </p:nvSpPr>
        <p:spPr>
          <a:xfrm>
            <a:off x="548640" y="868680"/>
            <a:ext cx="11094415" cy="731520"/>
          </a:xfrm>
          <a:prstGeom prst="rect">
            <a:avLst/>
          </a:prstGeom>
          <a:noFill/>
          <a:ln/>
        </p:spPr>
        <p:txBody>
          <a:bodyPr wrap="square" rtlCol="0"/>
          <a:lstStyle>
            <a:lvl1pPr algn="l" indent="0" marL="0">
              <a:buNone/>
              <a:defRPr lang="en-US" sz="3200" b="1" dirty="0">
                <a:solidFill>
                  <a:schemeClr val="tx2"/>
                </a:solidFill>
                <a:latin typeface="Arial" pitchFamily="34" charset="0"/>
                <a:ea typeface="Arial" pitchFamily="34" charset="-122"/>
                <a:cs typeface="Arial"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002147"/>
        </a:solidFill>
      </p:bgPr>
    </p:bg>
    <p:spTree>
      <p:nvGrpSpPr>
        <p:cNvPr id="1" name=""/>
        <p:cNvGrpSpPr/>
        <p:nvPr/>
      </p:nvGrpSpPr>
      <p:grpSpPr>
        <a:xfrm>
          <a:off x="0" y="0"/>
          <a:ext cx="0" cy="0"/>
          <a:chOff x="0" y="0"/>
          <a:chExt cx="0" cy="0"/>
        </a:xfrm>
      </p:grpSpPr>
      <p:sp>
        <p:nvSpPr>
          <p:cNvPr id="2" name="Text 0"/>
          <p:cNvSpPr/>
          <p:nvPr/>
        </p:nvSpPr>
        <p:spPr>
          <a:xfrm>
            <a:off x="8534095" y="384048"/>
            <a:ext cx="3108960" cy="365760"/>
          </a:xfrm>
          <a:prstGeom prst="rect">
            <a:avLst/>
          </a:prstGeom>
          <a:noFill/>
          <a:ln/>
        </p:spPr>
        <p:txBody>
          <a:bodyPr wrap="square" lIns="0" tIns="0" rIns="0" bIns="0" rtlCol="0" anchor="ctr"/>
          <a:lstStyle/>
          <a:p>
            <a:pPr algn="r" indent="0" marL="0">
              <a:buNone/>
            </a:pPr>
            <a:r>
              <a:rPr lang="en-US" sz="1600" b="1" dirty="0">
                <a:solidFill>
                  <a:schemeClr val="bg1"/>
                </a:solidFill>
                <a:latin typeface="Arial" pitchFamily="34" charset="0"/>
                <a:ea typeface="Arial" pitchFamily="34" charset="-122"/>
                <a:cs typeface="Arial" pitchFamily="34" charset="-120"/>
              </a:rPr>
              <a:t>Imperial College London</a:t>
            </a:r>
            <a:endParaRPr lang="en-US" sz="1600" dirty="0"/>
          </a:p>
        </p:txBody>
      </p:sp>
      <p:sp>
        <p:nvSpPr>
          <p:cNvPr id="3" name="Text 1"/>
          <p:cNvSpPr/>
          <p:nvPr>
            <p:ph idx="101" type="title" hasCustomPrompt="1"/>
          </p:nvPr>
        </p:nvSpPr>
        <p:spPr>
          <a:xfrm>
            <a:off x="548640" y="868680"/>
            <a:ext cx="11094415" cy="914400"/>
          </a:xfrm>
          <a:prstGeom prst="rect">
            <a:avLst/>
          </a:prstGeom>
          <a:noFill/>
          <a:ln/>
        </p:spPr>
        <p:txBody>
          <a:bodyPr wrap="square" rtlCol="0"/>
          <a:lstStyle>
            <a:lvl1pPr algn="ctr" indent="0" marL="0">
              <a:buNone/>
              <a:defRPr lang="en-US" sz="4400" b="1" dirty="0">
                <a:solidFill>
                  <a:schemeClr val="bg1"/>
                </a:solidFill>
                <a:latin typeface="Arial" pitchFamily="34" charset="0"/>
                <a:ea typeface="Arial" pitchFamily="34" charset="-122"/>
                <a:cs typeface="Arial"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gif"/><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github.com/fechachris4/msc_project" TargetMode="External"/><Relationship Id="rId3" Type="http://schemas.openxmlformats.org/officeDocument/2006/relationships/hyperlink" Target="https://github.com/fechachris4/msc_project" TargetMode="External"/><Relationship Id="rId5" Type="http://schemas.openxmlformats.org/officeDocument/2006/relationships/hyperlink" Target="https://github.com/fechachris4/HumanSL_MAIN" TargetMode="External"/><Relationship Id="rId6" Type="http://schemas.openxmlformats.org/officeDocument/2006/relationships/hyperlink" Target="https://github.com/fechachris4/HumanSL_MAIN" TargetMode="External"/><Relationship Id="rId7" Type="http://schemas.openxmlformats.org/officeDocument/2006/relationships/hyperlink" Target="mailto:fecha412@gmail.com" TargetMode="External"/><Relationship Id="rId1" Type="http://schemas.openxmlformats.org/officeDocument/2006/relationships/image" Target="../media/image-9-1.png"/><Relationship Id="rId4" Type="http://schemas.openxmlformats.org/officeDocument/2006/relationships/image" Target="../media/image-9-2.png"/><Relationship Id="rId8" Type="http://schemas.openxmlformats.org/officeDocument/2006/relationships/slideLayout" Target="../slideLayouts/slideLayout4.xml"/><Relationship Id="rId9"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548640" y="914400"/>
            <a:ext cx="11094415" cy="1005840"/>
          </a:xfrm>
          <a:prstGeom prst="rect">
            <a:avLst/>
          </a:prstGeom>
          <a:noFill/>
          <a:ln/>
        </p:spPr>
        <p:txBody>
          <a:bodyPr wrap="square" lIns="0" tIns="0" rIns="0" bIns="0" rtlCol="0" anchor="t"/>
          <a:lstStyle/>
          <a:p>
            <a:pPr algn="l" indent="0" marL="0">
              <a:buNone/>
            </a:pPr>
            <a:r>
              <a:rPr lang="en-US" sz="3200" b="1" dirty="0">
                <a:solidFill>
                  <a:schemeClr val="bg1"/>
                </a:solidFill>
                <a:latin typeface="Arial" pitchFamily="34" charset="0"/>
                <a:ea typeface="Arial" pitchFamily="34" charset="-122"/>
                <a:cs typeface="Arial" pitchFamily="34" charset="-120"/>
              </a:rPr>
              <a:t>World-Stable Supernumerary Effectors for Human</a:t>
            </a:r>
            <a:endParaRPr lang="en-US" sz="3200" dirty="0"/>
          </a:p>
          <a:p>
            <a:pPr algn="l" indent="0" marL="0">
              <a:buNone/>
            </a:pPr>
            <a:r>
              <a:rPr lang="en-US" sz="3200" b="1" dirty="0">
                <a:solidFill>
                  <a:schemeClr val="bg1"/>
                </a:solidFill>
                <a:latin typeface="Arial" pitchFamily="34" charset="0"/>
                <a:ea typeface="Arial" pitchFamily="34" charset="-122"/>
                <a:cs typeface="Arial" pitchFamily="34" charset="-120"/>
              </a:rPr>
              <a:t>Augmentation Under Locomotion-Scale Base Motion</a:t>
            </a:r>
            <a:endParaRPr lang="en-US" sz="3200" dirty="0"/>
          </a:p>
        </p:txBody>
      </p:sp>
      <p:sp>
        <p:nvSpPr>
          <p:cNvPr id="3" name="Subtitle"/>
          <p:cNvSpPr txBox="1"/>
          <p:nvPr/>
        </p:nvSpPr>
        <p:spPr>
          <a:xfrm>
            <a:off x="548640" y="2075688"/>
            <a:ext cx="11094415" cy="411480"/>
          </a:xfrm>
          <a:prstGeom prst="rect">
            <a:avLst/>
          </a:prstGeom>
          <a:noFill/>
          <a:ln/>
        </p:spPr>
        <p:txBody>
          <a:bodyPr wrap="square" lIns="0" tIns="0" rIns="0" bIns="0" rtlCol="0" anchor="t"/>
          <a:lstStyle/>
          <a:p>
            <a:pPr indent="0" marL="0">
              <a:buNone/>
            </a:pPr>
            <a:r>
              <a:rPr lang="en-US" sz="2400" dirty="0">
                <a:solidFill>
                  <a:schemeClr val="bg1"/>
                </a:solidFill>
              </a:rPr>
              <a:t>Keeping a wearable robot's hands still while the wearer walks</a:t>
            </a:r>
            <a:endParaRPr lang="en-US" sz="2400" dirty="0"/>
          </a:p>
        </p:txBody>
      </p:sp>
      <p:sp>
        <p:nvSpPr>
          <p:cNvPr id="4" name="Frame hw_turn.gif"/>
          <p:cNvSpPr/>
          <p:nvPr/>
        </p:nvSpPr>
        <p:spPr>
          <a:xfrm>
            <a:off x="6659575" y="2606040"/>
            <a:ext cx="4983480" cy="3448202"/>
          </a:xfrm>
          <a:prstGeom prst="roundRect">
            <a:avLst>
              <a:gd name="adj" fmla="val 3182"/>
            </a:avLst>
          </a:prstGeom>
          <a:solidFill>
            <a:schemeClr val="bg1"/>
          </a:solidFill>
          <a:ln w="9525">
            <a:solidFill>
              <a:srgbClr val="FFFFFF"/>
            </a:solidFill>
            <a:prstDash val="solid"/>
          </a:ln>
          <a:effectLst>
            <a:outerShdw sx="100000" sy="100000" kx="0" ky="0" algn="bl" rotWithShape="0" blurRad="127000" dist="38100" dir="5400000">
              <a:srgbClr val="000000">
                <a:alpha val="18000"/>
              </a:srgbClr>
            </a:outerShdw>
          </a:effectLst>
        </p:spPr>
      </p:sp>
      <p:pic>
        <p:nvPicPr>
          <p:cNvPr id="5" name="hw_turn.gif" descr="The wearer twists his torso; the robot hands stay close to where they were">    </p:cNvPr>
          <p:cNvPicPr>
            <a:picLocks noChangeAspect="1"/>
          </p:cNvPicPr>
          <p:nvPr/>
        </p:nvPicPr>
        <p:blipFill>
          <a:blip r:embed="rId1"/>
          <a:stretch>
            <a:fillRect/>
          </a:stretch>
        </p:blipFill>
        <p:spPr>
          <a:xfrm>
            <a:off x="6732727" y="2679192"/>
            <a:ext cx="4837176" cy="3301898"/>
          </a:xfrm>
          <a:prstGeom prst="rect">
            <a:avLst/>
          </a:prstGeom>
        </p:spPr>
      </p:pic>
      <p:sp>
        <p:nvSpPr>
          <p:cNvPr id="6" name="Caption"/>
          <p:cNvSpPr txBox="1"/>
          <p:nvPr/>
        </p:nvSpPr>
        <p:spPr>
          <a:xfrm>
            <a:off x="6659575" y="6127394"/>
            <a:ext cx="4983480" cy="274320"/>
          </a:xfrm>
          <a:prstGeom prst="rect">
            <a:avLst/>
          </a:prstGeom>
          <a:noFill/>
          <a:ln/>
        </p:spPr>
        <p:txBody>
          <a:bodyPr wrap="square" lIns="0" tIns="0" rIns="0" bIns="0" rtlCol="0" anchor="t"/>
          <a:lstStyle/>
          <a:p>
            <a:pPr indent="0" marL="0">
              <a:buNone/>
            </a:pPr>
            <a:r>
              <a:rPr lang="en-US" sz="1600" dirty="0">
                <a:solidFill>
                  <a:schemeClr val="bg1"/>
                </a:solidFill>
              </a:rPr>
              <a:t>Watch the hands, not the elbows.</a:t>
            </a:r>
            <a:endParaRPr lang="en-US" sz="1600" dirty="0"/>
          </a:p>
        </p:txBody>
      </p:sp>
      <p:sp>
        <p:nvSpPr>
          <p:cNvPr id="7" name="Presenter"/>
          <p:cNvSpPr txBox="1"/>
          <p:nvPr/>
        </p:nvSpPr>
        <p:spPr>
          <a:xfrm>
            <a:off x="548640" y="3735781"/>
            <a:ext cx="5745175" cy="1188720"/>
          </a:xfrm>
          <a:prstGeom prst="rect">
            <a:avLst/>
          </a:prstGeom>
          <a:noFill/>
          <a:ln/>
        </p:spPr>
        <p:txBody>
          <a:bodyPr wrap="square" lIns="0" tIns="0" rIns="0" bIns="0" rtlCol="0" anchor="t"/>
          <a:lstStyle/>
          <a:p>
            <a:pPr indent="0" marL="0">
              <a:spcAft>
                <a:spcPts val="400"/>
              </a:spcAft>
              <a:buNone/>
            </a:pPr>
            <a:r>
              <a:rPr lang="en-US" sz="2400" b="1" dirty="0">
                <a:solidFill>
                  <a:schemeClr val="bg1"/>
                </a:solidFill>
              </a:rPr>
              <a:t>Christian Akabueze</a:t>
            </a:r>
            <a:endParaRPr lang="en-US" sz="1800" dirty="0"/>
          </a:p>
          <a:p>
            <a:pPr indent="0" marL="0">
              <a:spcAft>
                <a:spcPts val="400"/>
              </a:spcAft>
              <a:buNone/>
            </a:pPr>
            <a:r>
              <a:rPr lang="en-US" sz="2000" dirty="0">
                <a:solidFill>
                  <a:schemeClr val="bg2"/>
                </a:solidFill>
              </a:rPr>
              <a:t>MSc Human and Biological Robotics</a:t>
            </a:r>
            <a:endParaRPr lang="en-US" sz="1800" dirty="0"/>
          </a:p>
          <a:p>
            <a:pPr indent="0" marL="0">
              <a:spcAft>
                <a:spcPts val="400"/>
              </a:spcAft>
              <a:buNone/>
            </a:pPr>
            <a:r>
              <a:rPr lang="en-US" sz="2000" dirty="0">
                <a:solidFill>
                  <a:schemeClr val="bg2"/>
                </a:solidFill>
              </a:rPr>
              <a:t>Imperial College London · MUVE Lab ·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ection tag"/>
          <p:cNvSpPr txBox="1"/>
          <p:nvPr/>
        </p:nvSpPr>
        <p:spPr>
          <a:xfrm>
            <a:off x="548640" y="402336"/>
            <a:ext cx="133868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PROBLEM</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Every step moves your extra hands</a:t>
            </a:r>
            <a:endParaRPr lang="en-US" sz="3200" dirty="0"/>
          </a:p>
        </p:txBody>
      </p:sp>
      <p:sp>
        <p:nvSpPr>
          <p:cNvPr id="4" name="Frame hw_walk.gif"/>
          <p:cNvSpPr/>
          <p:nvPr/>
        </p:nvSpPr>
        <p:spPr>
          <a:xfrm>
            <a:off x="548640" y="1755648"/>
            <a:ext cx="2673747" cy="4645152"/>
          </a:xfrm>
          <a:prstGeom prst="roundRect">
            <a:avLst>
              <a:gd name="adj" fmla="val 4104"/>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5" name="hw_walk.gif" descr="A participant walking on the treadmill with both arms on">    </p:cNvPr>
          <p:cNvPicPr>
            <a:picLocks noChangeAspect="1"/>
          </p:cNvPicPr>
          <p:nvPr/>
        </p:nvPicPr>
        <p:blipFill>
          <a:blip r:embed="rId1"/>
          <a:stretch>
            <a:fillRect/>
          </a:stretch>
        </p:blipFill>
        <p:spPr>
          <a:xfrm>
            <a:off x="621792" y="1828800"/>
            <a:ext cx="2527443" cy="4498848"/>
          </a:xfrm>
          <a:prstGeom prst="rect">
            <a:avLst/>
          </a:prstGeom>
        </p:spPr>
      </p:pic>
      <p:sp>
        <p:nvSpPr>
          <p:cNvPr id="6" name="Stat 63–68 mm"/>
          <p:cNvSpPr txBox="1"/>
          <p:nvPr/>
        </p:nvSpPr>
        <p:spPr>
          <a:xfrm>
            <a:off x="4045347" y="2148840"/>
            <a:ext cx="7597709" cy="1051560"/>
          </a:xfrm>
          <a:prstGeom prst="rect">
            <a:avLst/>
          </a:prstGeom>
          <a:noFill/>
          <a:ln/>
        </p:spPr>
        <p:txBody>
          <a:bodyPr wrap="square" lIns="0" tIns="0" rIns="0" bIns="0" rtlCol="0" anchor="ctr"/>
          <a:lstStyle/>
          <a:p>
            <a:pPr algn="l" indent="0" marL="0">
              <a:buNone/>
            </a:pPr>
            <a:r>
              <a:rPr lang="en-US" sz="8000" b="1" dirty="0">
                <a:solidFill>
                  <a:schemeClr val="accent1"/>
                </a:solidFill>
              </a:rPr>
              <a:t>63–68 mm</a:t>
            </a:r>
            <a:endParaRPr lang="en-US" sz="8000" dirty="0"/>
          </a:p>
        </p:txBody>
      </p:sp>
      <p:sp>
        <p:nvSpPr>
          <p:cNvPr id="7" name="Stat 63–68 mm label"/>
          <p:cNvSpPr txBox="1"/>
          <p:nvPr/>
        </p:nvSpPr>
        <p:spPr>
          <a:xfrm>
            <a:off x="4045347" y="3255264"/>
            <a:ext cx="7597709" cy="438912"/>
          </a:xfrm>
          <a:prstGeom prst="rect">
            <a:avLst/>
          </a:prstGeom>
          <a:noFill/>
          <a:ln/>
        </p:spPr>
        <p:txBody>
          <a:bodyPr wrap="square" lIns="0" tIns="0" rIns="0" bIns="0" rtlCol="0" anchor="t"/>
          <a:lstStyle/>
          <a:p>
            <a:pPr algn="l" indent="0" marL="0">
              <a:buNone/>
            </a:pPr>
            <a:r>
              <a:rPr lang="en-US" sz="2400" dirty="0">
                <a:solidFill>
                  <a:schemeClr val="tx1"/>
                </a:solidFill>
              </a:rPr>
              <a:t>hand motion, arm locked (RMS)</a:t>
            </a:r>
            <a:endParaRPr lang="en-US" sz="2400" dirty="0"/>
          </a:p>
        </p:txBody>
      </p:sp>
      <p:sp>
        <p:nvSpPr>
          <p:cNvPr id="8" name="Stat ~1.8 Hz"/>
          <p:cNvSpPr txBox="1"/>
          <p:nvPr/>
        </p:nvSpPr>
        <p:spPr>
          <a:xfrm>
            <a:off x="4045347" y="3794760"/>
            <a:ext cx="7597709" cy="1051560"/>
          </a:xfrm>
          <a:prstGeom prst="rect">
            <a:avLst/>
          </a:prstGeom>
          <a:noFill/>
          <a:ln/>
        </p:spPr>
        <p:txBody>
          <a:bodyPr wrap="square" lIns="0" tIns="0" rIns="0" bIns="0" rtlCol="0" anchor="ctr"/>
          <a:lstStyle/>
          <a:p>
            <a:pPr algn="l" indent="0" marL="0">
              <a:buNone/>
            </a:pPr>
            <a:r>
              <a:rPr lang="en-US" sz="8000" b="1" dirty="0">
                <a:solidFill>
                  <a:schemeClr val="accent1"/>
                </a:solidFill>
              </a:rPr>
              <a:t>~1.8 Hz</a:t>
            </a:r>
            <a:endParaRPr lang="en-US" sz="8000" dirty="0"/>
          </a:p>
        </p:txBody>
      </p:sp>
      <p:sp>
        <p:nvSpPr>
          <p:cNvPr id="9" name="Stat ~1.8 Hz label"/>
          <p:cNvSpPr txBox="1"/>
          <p:nvPr/>
        </p:nvSpPr>
        <p:spPr>
          <a:xfrm>
            <a:off x="4045347" y="4901184"/>
            <a:ext cx="7597709" cy="438912"/>
          </a:xfrm>
          <a:prstGeom prst="rect">
            <a:avLst/>
          </a:prstGeom>
          <a:noFill/>
          <a:ln/>
        </p:spPr>
        <p:txBody>
          <a:bodyPr wrap="square" lIns="0" tIns="0" rIns="0" bIns="0" rtlCol="0" anchor="t"/>
          <a:lstStyle/>
          <a:p>
            <a:pPr algn="l" indent="0" marL="0">
              <a:buNone/>
            </a:pPr>
            <a:r>
              <a:rPr lang="en-US" sz="2400" dirty="0">
                <a:solidFill>
                  <a:schemeClr val="tx1"/>
                </a:solidFill>
              </a:rPr>
              <a:t>step rate</a:t>
            </a:r>
            <a:endParaRPr lang="en-US" sz="2400" dirty="0"/>
          </a:p>
        </p:txBody>
      </p:sp>
      <p:sp>
        <p:nvSpPr>
          <p:cNvPr id="10" name="Goal"/>
          <p:cNvSpPr txBox="1"/>
          <p:nvPr/>
        </p:nvSpPr>
        <p:spPr>
          <a:xfrm>
            <a:off x="4045347" y="5943600"/>
            <a:ext cx="7597709" cy="457200"/>
          </a:xfrm>
          <a:prstGeom prst="rect">
            <a:avLst/>
          </a:prstGeom>
          <a:noFill/>
          <a:ln/>
        </p:spPr>
        <p:txBody>
          <a:bodyPr wrap="square" lIns="0" tIns="0" rIns="0" bIns="0" rtlCol="0" anchor="b"/>
          <a:lstStyle/>
          <a:p>
            <a:pPr indent="0" marL="0">
              <a:buNone/>
            </a:pPr>
            <a:r>
              <a:rPr lang="en-US" sz="2600" b="1" dirty="0">
                <a:solidFill>
                  <a:schemeClr val="tx2"/>
                </a:solidFill>
              </a:rPr>
              <a:t>Goal: hands fixed in the room, not the body</a:t>
            </a:r>
            <a:endParaRPr lang="en-US" sz="26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tag"/>
          <p:cNvSpPr txBox="1"/>
          <p:nvPr/>
        </p:nvSpPr>
        <p:spPr>
          <a:xfrm>
            <a:off x="548640" y="402336"/>
            <a:ext cx="3006547"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APPROACH &amp; SOLUTION</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Measure the backpack, cancel it through the arm</a:t>
            </a:r>
            <a:endParaRPr lang="en-US" sz="3200" dirty="0"/>
          </a:p>
        </p:txBody>
      </p:sp>
      <p:sp>
        <p:nvSpPr>
          <p:cNvPr id="4" name="Frame World"/>
          <p:cNvSpPr txBox="1"/>
          <p:nvPr/>
        </p:nvSpPr>
        <p:spPr>
          <a:xfrm>
            <a:off x="548640" y="1920240"/>
            <a:ext cx="2103120" cy="960120"/>
          </a:xfrm>
          <a:prstGeom prst="roundRect">
            <a:avLst>
              <a:gd name="adj" fmla="val 9524"/>
            </a:avLst>
          </a:prstGeom>
          <a:solidFill>
            <a:schemeClr val="tx2"/>
          </a:solidFill>
          <a:ln/>
        </p:spPr>
        <p:txBody>
          <a:bodyPr wrap="square" lIns="508" tIns="508" rIns="508" bIns="508" rtlCol="0" anchor="ctr"/>
          <a:lstStyle/>
          <a:p>
            <a:pPr algn="ctr" indent="0" marL="0">
              <a:buNone/>
            </a:pPr>
            <a:r>
              <a:rPr lang="en-US" sz="2400" b="1" dirty="0">
                <a:solidFill>
                  <a:schemeClr val="bg1"/>
                </a:solidFill>
              </a:rPr>
              <a:t>World</a:t>
            </a:r>
            <a:endParaRPr lang="en-US" sz="2400" dirty="0"/>
          </a:p>
        </p:txBody>
      </p:sp>
      <p:sp>
        <p:nvSpPr>
          <p:cNvPr id="5" name="Frame Backpack"/>
          <p:cNvSpPr txBox="1"/>
          <p:nvPr/>
        </p:nvSpPr>
        <p:spPr>
          <a:xfrm>
            <a:off x="3545738" y="1920240"/>
            <a:ext cx="2103120" cy="960120"/>
          </a:xfrm>
          <a:prstGeom prst="roundRect">
            <a:avLst>
              <a:gd name="adj" fmla="val 9524"/>
            </a:avLst>
          </a:prstGeom>
          <a:solidFill>
            <a:schemeClr val="tx2"/>
          </a:solidFill>
          <a:ln/>
        </p:spPr>
        <p:txBody>
          <a:bodyPr wrap="square" lIns="508" tIns="508" rIns="508" bIns="508" rtlCol="0" anchor="ctr"/>
          <a:lstStyle/>
          <a:p>
            <a:pPr algn="ctr" indent="0" marL="0">
              <a:buNone/>
            </a:pPr>
            <a:r>
              <a:rPr lang="en-US" sz="2400" b="1" dirty="0">
                <a:solidFill>
                  <a:schemeClr val="bg1"/>
                </a:solidFill>
              </a:rPr>
              <a:t>Backpack</a:t>
            </a:r>
            <a:endParaRPr lang="en-US" sz="2400" dirty="0"/>
          </a:p>
        </p:txBody>
      </p:sp>
      <p:sp>
        <p:nvSpPr>
          <p:cNvPr id="6" name="Frame Arm base"/>
          <p:cNvSpPr txBox="1"/>
          <p:nvPr/>
        </p:nvSpPr>
        <p:spPr>
          <a:xfrm>
            <a:off x="6542837" y="1920240"/>
            <a:ext cx="2103120" cy="960120"/>
          </a:xfrm>
          <a:prstGeom prst="roundRect">
            <a:avLst>
              <a:gd name="adj" fmla="val 9524"/>
            </a:avLst>
          </a:prstGeom>
          <a:solidFill>
            <a:schemeClr val="tx2"/>
          </a:solidFill>
          <a:ln/>
        </p:spPr>
        <p:txBody>
          <a:bodyPr wrap="square" lIns="508" tIns="508" rIns="508" bIns="508" rtlCol="0" anchor="ctr"/>
          <a:lstStyle/>
          <a:p>
            <a:pPr algn="ctr" indent="0" marL="0">
              <a:buNone/>
            </a:pPr>
            <a:r>
              <a:rPr lang="en-US" sz="2400" b="1" dirty="0">
                <a:solidFill>
                  <a:schemeClr val="bg1"/>
                </a:solidFill>
              </a:rPr>
              <a:t>Arm base</a:t>
            </a:r>
            <a:endParaRPr lang="en-US" sz="2400" dirty="0"/>
          </a:p>
        </p:txBody>
      </p:sp>
      <p:sp>
        <p:nvSpPr>
          <p:cNvPr id="7" name="Frame Hand"/>
          <p:cNvSpPr txBox="1"/>
          <p:nvPr/>
        </p:nvSpPr>
        <p:spPr>
          <a:xfrm>
            <a:off x="9539935" y="1920240"/>
            <a:ext cx="2103120" cy="960120"/>
          </a:xfrm>
          <a:prstGeom prst="roundRect">
            <a:avLst>
              <a:gd name="adj" fmla="val 9524"/>
            </a:avLst>
          </a:prstGeom>
          <a:solidFill>
            <a:schemeClr val="tx2"/>
          </a:solidFill>
          <a:ln/>
        </p:spPr>
        <p:txBody>
          <a:bodyPr wrap="square" lIns="508" tIns="508" rIns="508" bIns="508" rtlCol="0" anchor="ctr"/>
          <a:lstStyle/>
          <a:p>
            <a:pPr algn="ctr" indent="0" marL="0">
              <a:buNone/>
            </a:pPr>
            <a:r>
              <a:rPr lang="en-US" sz="2400" b="1" dirty="0">
                <a:solidFill>
                  <a:schemeClr val="bg1"/>
                </a:solidFill>
              </a:rPr>
              <a:t>Hand</a:t>
            </a:r>
            <a:endParaRPr lang="en-US" sz="2400" dirty="0"/>
          </a:p>
        </p:txBody>
      </p:sp>
      <p:sp>
        <p:nvSpPr>
          <p:cNvPr id="8" name="Shape 6"/>
          <p:cNvSpPr/>
          <p:nvPr/>
        </p:nvSpPr>
        <p:spPr>
          <a:xfrm>
            <a:off x="2724912" y="2400300"/>
            <a:ext cx="747674" cy="0"/>
          </a:xfrm>
          <a:prstGeom prst="line">
            <a:avLst/>
          </a:prstGeom>
          <a:noFill/>
          <a:ln w="28575">
            <a:solidFill>
              <a:schemeClr val="tx2"/>
            </a:solidFill>
            <a:prstDash val="solid"/>
            <a:tailEnd type="triangle"/>
          </a:ln>
        </p:spPr>
      </p:sp>
      <p:sp>
        <p:nvSpPr>
          <p:cNvPr id="9" name="Edge Vicon, live"/>
          <p:cNvSpPr txBox="1"/>
          <p:nvPr/>
        </p:nvSpPr>
        <p:spPr>
          <a:xfrm>
            <a:off x="1727149" y="3127248"/>
            <a:ext cx="2743200" cy="594360"/>
          </a:xfrm>
          <a:prstGeom prst="roundRect">
            <a:avLst>
              <a:gd name="adj" fmla="val 18462"/>
            </a:avLst>
          </a:prstGeom>
          <a:solidFill>
            <a:schemeClr val="accent2"/>
          </a:solidFill>
          <a:ln/>
        </p:spPr>
        <p:txBody>
          <a:bodyPr wrap="square" lIns="508" tIns="508" rIns="508" bIns="508" rtlCol="0" anchor="ctr"/>
          <a:lstStyle/>
          <a:p>
            <a:pPr algn="ctr" indent="0" marL="0">
              <a:buNone/>
            </a:pPr>
            <a:r>
              <a:rPr lang="en-US" sz="2000" b="1" dirty="0">
                <a:solidFill>
                  <a:schemeClr val="bg1"/>
                </a:solidFill>
              </a:rPr>
              <a:t>Vicon, live</a:t>
            </a:r>
            <a:endParaRPr lang="en-US" sz="2000" dirty="0"/>
          </a:p>
        </p:txBody>
      </p:sp>
      <p:sp>
        <p:nvSpPr>
          <p:cNvPr id="10" name="Shape 8"/>
          <p:cNvSpPr/>
          <p:nvPr/>
        </p:nvSpPr>
        <p:spPr>
          <a:xfrm>
            <a:off x="5722010" y="2400300"/>
            <a:ext cx="747674" cy="0"/>
          </a:xfrm>
          <a:prstGeom prst="line">
            <a:avLst/>
          </a:prstGeom>
          <a:noFill/>
          <a:ln w="28575">
            <a:solidFill>
              <a:schemeClr val="tx2"/>
            </a:solidFill>
            <a:prstDash val="solid"/>
            <a:tailEnd type="triangle"/>
          </a:ln>
        </p:spPr>
      </p:sp>
      <p:sp>
        <p:nvSpPr>
          <p:cNvPr id="11" name="Edge fixed offset"/>
          <p:cNvSpPr txBox="1"/>
          <p:nvPr/>
        </p:nvSpPr>
        <p:spPr>
          <a:xfrm>
            <a:off x="4724248" y="3127248"/>
            <a:ext cx="2743200" cy="594360"/>
          </a:xfrm>
          <a:prstGeom prst="roundRect">
            <a:avLst>
              <a:gd name="adj" fmla="val 18462"/>
            </a:avLst>
          </a:prstGeom>
          <a:solidFill>
            <a:schemeClr val="bg2"/>
          </a:solidFill>
          <a:ln/>
        </p:spPr>
        <p:txBody>
          <a:bodyPr wrap="square" lIns="508" tIns="508" rIns="508" bIns="508" rtlCol="0" anchor="ctr"/>
          <a:lstStyle/>
          <a:p>
            <a:pPr algn="ctr" indent="0" marL="0">
              <a:buNone/>
            </a:pPr>
            <a:r>
              <a:rPr lang="en-US" sz="2000" b="1" dirty="0">
                <a:solidFill>
                  <a:schemeClr val="tx2"/>
                </a:solidFill>
              </a:rPr>
              <a:t>fixed offset</a:t>
            </a:r>
            <a:endParaRPr lang="en-US" sz="2000" dirty="0"/>
          </a:p>
        </p:txBody>
      </p:sp>
      <p:sp>
        <p:nvSpPr>
          <p:cNvPr id="12" name="Shape 10"/>
          <p:cNvSpPr/>
          <p:nvPr/>
        </p:nvSpPr>
        <p:spPr>
          <a:xfrm>
            <a:off x="8719109" y="2400300"/>
            <a:ext cx="747674" cy="0"/>
          </a:xfrm>
          <a:prstGeom prst="line">
            <a:avLst/>
          </a:prstGeom>
          <a:noFill/>
          <a:ln w="28575">
            <a:solidFill>
              <a:schemeClr val="tx2"/>
            </a:solidFill>
            <a:prstDash val="solid"/>
            <a:tailEnd type="triangle"/>
          </a:ln>
        </p:spPr>
      </p:sp>
      <p:sp>
        <p:nvSpPr>
          <p:cNvPr id="13" name="Edge forward kinematics"/>
          <p:cNvSpPr txBox="1"/>
          <p:nvPr/>
        </p:nvSpPr>
        <p:spPr>
          <a:xfrm>
            <a:off x="7721346" y="3127248"/>
            <a:ext cx="2743200" cy="594360"/>
          </a:xfrm>
          <a:prstGeom prst="roundRect">
            <a:avLst>
              <a:gd name="adj" fmla="val 18462"/>
            </a:avLst>
          </a:prstGeom>
          <a:solidFill>
            <a:schemeClr val="accent5"/>
          </a:solidFill>
          <a:ln/>
        </p:spPr>
        <p:txBody>
          <a:bodyPr wrap="square" lIns="508" tIns="508" rIns="508" bIns="508" rtlCol="0" anchor="ctr"/>
          <a:lstStyle/>
          <a:p>
            <a:pPr algn="ctr" indent="0" marL="0">
              <a:buNone/>
            </a:pPr>
            <a:r>
              <a:rPr lang="en-US" sz="2000" b="1" dirty="0">
                <a:solidFill>
                  <a:schemeClr val="tx2"/>
                </a:solidFill>
              </a:rPr>
              <a:t>forward kinematics</a:t>
            </a:r>
            <a:endParaRPr lang="en-US" sz="2000" dirty="0"/>
          </a:p>
        </p:txBody>
      </p:sp>
      <p:sp>
        <p:nvSpPr>
          <p:cNvPr id="14" name="Equation card"/>
          <p:cNvSpPr/>
          <p:nvPr/>
        </p:nvSpPr>
        <p:spPr>
          <a:xfrm>
            <a:off x="548640" y="4069080"/>
            <a:ext cx="11094415" cy="1097280"/>
          </a:xfrm>
          <a:prstGeom prst="roundRect">
            <a:avLst>
              <a:gd name="adj" fmla="val 11667"/>
            </a:avLst>
          </a:prstGeom>
          <a:solidFill>
            <a:schemeClr val="bg2"/>
          </a:solidFill>
          <a:ln/>
        </p:spPr>
      </p:sp>
      <p:sp>
        <p:nvSpPr>
          <p:cNvPr id="15" name="Control law"/>
          <p:cNvSpPr txBox="1"/>
          <p:nvPr/>
        </p:nvSpPr>
        <p:spPr>
          <a:xfrm>
            <a:off x="548640" y="4069080"/>
            <a:ext cx="11094415" cy="1097280"/>
          </a:xfrm>
          <a:prstGeom prst="rect">
            <a:avLst/>
          </a:prstGeom>
          <a:noFill/>
          <a:ln/>
        </p:spPr>
        <p:txBody>
          <a:bodyPr wrap="square" lIns="0" tIns="0" rIns="0" bIns="0" rtlCol="0" anchor="ctr"/>
          <a:lstStyle/>
          <a:p>
            <a:pPr algn="ctr" indent="0" marL="0">
              <a:buNone/>
            </a:pPr>
            <a:r>
              <a:rPr lang="en-US" sz="4000" b="1" dirty="0">
                <a:solidFill>
                  <a:schemeClr val="tx2"/>
                </a:solidFill>
              </a:rPr>
              <a:t>q̇ = </a:t>
            </a:r>
            <a:pPr algn="ctr" indent="0" marL="0">
              <a:buNone/>
            </a:pPr>
            <a:r>
              <a:rPr lang="en-US" sz="4000" b="1" dirty="0">
                <a:solidFill>
                  <a:schemeClr val="accent1"/>
                </a:solidFill>
              </a:rPr>
              <a:t>J</a:t>
            </a:r>
            <a:pPr algn="ctr" indent="0" marL="0">
              <a:buNone/>
            </a:pPr>
            <a:r>
              <a:rPr lang="en-US" sz="4000" b="1" baseline="30000" dirty="0">
                <a:solidFill>
                  <a:schemeClr val="accent1"/>
                </a:solidFill>
              </a:rPr>
              <a:t>+</a:t>
            </a:r>
            <a:pPr algn="ctr" indent="0" marL="0">
              <a:buNone/>
            </a:pPr>
            <a:r>
              <a:rPr lang="en-US" sz="4000" b="1" baseline="-40000" dirty="0">
                <a:solidFill>
                  <a:schemeClr val="accent1"/>
                </a:solidFill>
              </a:rPr>
              <a:t>λ</a:t>
            </a:r>
            <a:pPr algn="ctr" indent="0" marL="0">
              <a:buNone/>
            </a:pPr>
            <a:r>
              <a:rPr lang="en-US" sz="4000" b="1" dirty="0">
                <a:solidFill>
                  <a:schemeClr val="accent2"/>
                </a:solidFill>
              </a:rPr>
              <a:t> (K</a:t>
            </a:r>
            <a:pPr algn="ctr" indent="0" marL="0">
              <a:buNone/>
            </a:pPr>
            <a:r>
              <a:rPr lang="en-US" sz="4000" b="1" baseline="-40000" dirty="0">
                <a:solidFill>
                  <a:schemeClr val="accent2"/>
                </a:solidFill>
              </a:rPr>
              <a:t>p</a:t>
            </a:r>
            <a:pPr algn="ctr" indent="0" marL="0">
              <a:buNone/>
            </a:pPr>
            <a:r>
              <a:rPr lang="en-US" sz="4000" b="1" dirty="0">
                <a:solidFill>
                  <a:schemeClr val="accent2"/>
                </a:solidFill>
              </a:rPr>
              <a:t>·e + </a:t>
            </a:r>
            <a:pPr algn="ctr" indent="0" marL="0">
              <a:buNone/>
            </a:pPr>
            <a:r>
              <a:rPr lang="en-US" sz="4000" b="1" dirty="0">
                <a:solidFill>
                  <a:schemeClr val="accent3"/>
                </a:solidFill>
              </a:rPr>
              <a:t>K</a:t>
            </a:r>
            <a:pPr algn="ctr" indent="0" marL="0">
              <a:buNone/>
            </a:pPr>
            <a:r>
              <a:rPr lang="en-US" sz="4000" b="1" baseline="-40000" dirty="0">
                <a:solidFill>
                  <a:schemeClr val="accent3"/>
                </a:solidFill>
              </a:rPr>
              <a:t>d</a:t>
            </a:r>
            <a:pPr algn="ctr" indent="0" marL="0">
              <a:buNone/>
            </a:pPr>
            <a:r>
              <a:rPr lang="en-US" sz="4000" b="1" dirty="0">
                <a:solidFill>
                  <a:schemeClr val="accent3"/>
                </a:solidFill>
              </a:rPr>
              <a:t>·ė</a:t>
            </a:r>
            <a:pPr algn="ctr" indent="0" marL="0">
              <a:buNone/>
            </a:pPr>
            <a:r>
              <a:rPr lang="en-US" sz="4000" b="1" dirty="0">
                <a:solidFill>
                  <a:schemeClr val="accent2"/>
                </a:solidFill>
              </a:rPr>
              <a:t>)</a:t>
            </a:r>
            <a:pPr algn="ctr" indent="0" marL="0">
              <a:buNone/>
            </a:pPr>
            <a:r>
              <a:rPr lang="en-US" sz="4000" b="1" dirty="0">
                <a:solidFill>
                  <a:schemeClr val="tx2"/>
                </a:solidFill>
              </a:rPr>
              <a:t> + </a:t>
            </a:r>
            <a:pPr algn="ctr" indent="0" marL="0">
              <a:buNone/>
            </a:pPr>
            <a:r>
              <a:rPr lang="en-US" sz="4000" b="1" dirty="0">
                <a:solidFill>
                  <a:schemeClr val="accent4"/>
                </a:solidFill>
              </a:rPr>
              <a:t>(I − J</a:t>
            </a:r>
            <a:pPr algn="ctr" indent="0" marL="0">
              <a:buNone/>
            </a:pPr>
            <a:r>
              <a:rPr lang="en-US" sz="4000" b="1" baseline="30000" dirty="0">
                <a:solidFill>
                  <a:schemeClr val="accent4"/>
                </a:solidFill>
              </a:rPr>
              <a:t>+</a:t>
            </a:r>
            <a:pPr algn="ctr" indent="0" marL="0">
              <a:buNone/>
            </a:pPr>
            <a:r>
              <a:rPr lang="en-US" sz="4000" b="1" dirty="0">
                <a:solidFill>
                  <a:schemeClr val="accent4"/>
                </a:solidFill>
              </a:rPr>
              <a:t>J)·q̇</a:t>
            </a:r>
            <a:pPr algn="ctr" indent="0" marL="0">
              <a:buNone/>
            </a:pPr>
            <a:r>
              <a:rPr lang="en-US" sz="4000" b="1" baseline="-40000" dirty="0">
                <a:solidFill>
                  <a:schemeClr val="accent4"/>
                </a:solidFill>
              </a:rPr>
              <a:t>0</a:t>
            </a:r>
            <a:endParaRPr lang="en-US" sz="4000" dirty="0"/>
          </a:p>
        </p:txBody>
      </p:sp>
      <p:sp>
        <p:nvSpPr>
          <p:cNvPr id="16" name="Velocity-term marker"/>
          <p:cNvSpPr/>
          <p:nvPr/>
        </p:nvSpPr>
        <p:spPr>
          <a:xfrm>
            <a:off x="5989320" y="5422392"/>
            <a:ext cx="182880" cy="155448"/>
          </a:xfrm>
          <a:prstGeom prst="triangle">
            <a:avLst/>
          </a:prstGeom>
          <a:solidFill>
            <a:schemeClr val="accent3"/>
          </a:solidFill>
          <a:ln/>
        </p:spPr>
      </p:sp>
      <p:sp>
        <p:nvSpPr>
          <p:cNvPr id="17" name="Velocity-term label"/>
          <p:cNvSpPr txBox="1"/>
          <p:nvPr/>
        </p:nvSpPr>
        <p:spPr>
          <a:xfrm>
            <a:off x="6263640" y="5349240"/>
            <a:ext cx="2194560" cy="365760"/>
          </a:xfrm>
          <a:prstGeom prst="rect">
            <a:avLst/>
          </a:prstGeom>
          <a:noFill/>
          <a:ln/>
        </p:spPr>
        <p:txBody>
          <a:bodyPr wrap="square" lIns="0" tIns="0" rIns="0" bIns="0" rtlCol="0" anchor="ctr"/>
          <a:lstStyle/>
          <a:p>
            <a:pPr indent="0" marL="0">
              <a:buNone/>
            </a:pPr>
            <a:r>
              <a:rPr lang="en-US" sz="2000" dirty="0">
                <a:solidFill>
                  <a:schemeClr val="accent3"/>
                </a:solidFill>
              </a:rPr>
              <a:t>velocity term</a:t>
            </a:r>
            <a:endParaRPr lang="en-US" sz="2000" dirty="0"/>
          </a:p>
        </p:txBody>
      </p:sp>
      <p:sp>
        <p:nvSpPr>
          <p:cNvPr id="18" name="Control-law gloss"/>
          <p:cNvSpPr txBox="1"/>
          <p:nvPr/>
        </p:nvSpPr>
        <p:spPr>
          <a:xfrm>
            <a:off x="548640" y="5349240"/>
            <a:ext cx="4937760" cy="365760"/>
          </a:xfrm>
          <a:prstGeom prst="rect">
            <a:avLst/>
          </a:prstGeom>
          <a:noFill/>
          <a:ln/>
        </p:spPr>
        <p:txBody>
          <a:bodyPr wrap="square" lIns="0" tIns="0" rIns="0" bIns="0" rtlCol="0" anchor="ctr"/>
          <a:lstStyle/>
          <a:p>
            <a:pPr algn="r" indent="0" marL="0">
              <a:buNone/>
            </a:pPr>
            <a:r>
              <a:rPr lang="en-US" sz="2000" dirty="0">
                <a:solidFill>
                  <a:schemeClr val="accent4"/>
                </a:solidFill>
              </a:rPr>
              <a:t>room-frame error → joint speeds</a:t>
            </a:r>
            <a:endParaRPr lang="en-US" sz="20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tion tag"/>
          <p:cNvSpPr txBox="1"/>
          <p:nvPr/>
        </p:nvSpPr>
        <p:spPr>
          <a:xfrm>
            <a:off x="548640" y="402336"/>
            <a:ext cx="3006547"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APPROACH &amp; SOLUTION</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Simulation first: my controller in a physics engine</a:t>
            </a:r>
            <a:endParaRPr lang="en-US" sz="3200" dirty="0"/>
          </a:p>
        </p:txBody>
      </p:sp>
      <p:sp>
        <p:nvSpPr>
          <p:cNvPr id="4" name="Frame hold_pose.gif"/>
          <p:cNvSpPr/>
          <p:nvPr/>
        </p:nvSpPr>
        <p:spPr>
          <a:xfrm>
            <a:off x="548640" y="1783080"/>
            <a:ext cx="7656928" cy="4480560"/>
          </a:xfrm>
          <a:prstGeom prst="roundRect">
            <a:avLst>
              <a:gd name="adj" fmla="val 2449"/>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5" name="hold_pose.gif" descr="Simulation: arms locked, reactive controller, reactive controller with feedforward">    </p:cNvPr>
          <p:cNvPicPr>
            <a:picLocks noChangeAspect="1"/>
          </p:cNvPicPr>
          <p:nvPr/>
        </p:nvPicPr>
        <p:blipFill>
          <a:blip r:embed="rId1"/>
          <a:stretch>
            <a:fillRect/>
          </a:stretch>
        </p:blipFill>
        <p:spPr>
          <a:xfrm>
            <a:off x="621792" y="1856232"/>
            <a:ext cx="7510624" cy="4334256"/>
          </a:xfrm>
          <a:prstGeom prst="rect">
            <a:avLst/>
          </a:prstGeom>
        </p:spPr>
      </p:pic>
      <p:sp>
        <p:nvSpPr>
          <p:cNvPr id="6" name="Sim header"/>
          <p:cNvSpPr txBox="1"/>
          <p:nvPr/>
        </p:nvSpPr>
        <p:spPr>
          <a:xfrm>
            <a:off x="8617048" y="1783080"/>
            <a:ext cx="3026007" cy="365760"/>
          </a:xfrm>
          <a:prstGeom prst="rect">
            <a:avLst/>
          </a:prstGeom>
          <a:noFill/>
          <a:ln/>
        </p:spPr>
        <p:txBody>
          <a:bodyPr wrap="square" lIns="0" tIns="0" rIns="0" bIns="0" rtlCol="0" anchor="t"/>
          <a:lstStyle/>
          <a:p>
            <a:pPr indent="0" marL="0">
              <a:buNone/>
            </a:pPr>
            <a:r>
              <a:rPr lang="en-US" sz="1800" b="1" dirty="0">
                <a:solidFill>
                  <a:schemeClr val="accent4"/>
                </a:solidFill>
              </a:rPr>
              <a:t>Hand error, RMS over 8 s</a:t>
            </a:r>
            <a:endParaRPr lang="en-US" sz="1800" dirty="0"/>
          </a:p>
        </p:txBody>
      </p:sp>
      <p:sp>
        <p:nvSpPr>
          <p:cNvPr id="7" name="Stat 31.0 mm"/>
          <p:cNvSpPr txBox="1"/>
          <p:nvPr/>
        </p:nvSpPr>
        <p:spPr>
          <a:xfrm>
            <a:off x="8617048" y="2331720"/>
            <a:ext cx="3026007" cy="777240"/>
          </a:xfrm>
          <a:prstGeom prst="rect">
            <a:avLst/>
          </a:prstGeom>
          <a:noFill/>
          <a:ln/>
        </p:spPr>
        <p:txBody>
          <a:bodyPr wrap="square" lIns="0" tIns="0" rIns="0" bIns="0" rtlCol="0" anchor="ctr"/>
          <a:lstStyle/>
          <a:p>
            <a:pPr algn="l" indent="0" marL="0">
              <a:buNone/>
            </a:pPr>
            <a:r>
              <a:rPr lang="en-US" sz="5400" b="1" dirty="0">
                <a:solidFill>
                  <a:schemeClr val="accent4"/>
                </a:solidFill>
              </a:rPr>
              <a:t>31.0 mm</a:t>
            </a:r>
            <a:endParaRPr lang="en-US" sz="5400" dirty="0"/>
          </a:p>
        </p:txBody>
      </p:sp>
      <p:sp>
        <p:nvSpPr>
          <p:cNvPr id="8" name="Stat 31.0 mm label"/>
          <p:cNvSpPr txBox="1"/>
          <p:nvPr/>
        </p:nvSpPr>
        <p:spPr>
          <a:xfrm>
            <a:off x="8617048" y="3127248"/>
            <a:ext cx="3026007" cy="365760"/>
          </a:xfrm>
          <a:prstGeom prst="rect">
            <a:avLst/>
          </a:prstGeom>
          <a:noFill/>
          <a:ln/>
        </p:spPr>
        <p:txBody>
          <a:bodyPr wrap="square" lIns="0" tIns="0" rIns="0" bIns="0" rtlCol="0" anchor="t"/>
          <a:lstStyle/>
          <a:p>
            <a:pPr algn="l" indent="0" marL="0">
              <a:buNone/>
            </a:pPr>
            <a:r>
              <a:rPr lang="en-US" sz="2000" dirty="0">
                <a:solidFill>
                  <a:schemeClr val="tx1"/>
                </a:solidFill>
              </a:rPr>
              <a:t>arms locked</a:t>
            </a:r>
            <a:endParaRPr lang="en-US" sz="2000" dirty="0"/>
          </a:p>
        </p:txBody>
      </p:sp>
      <p:sp>
        <p:nvSpPr>
          <p:cNvPr id="9" name="Stat 6.7 mm"/>
          <p:cNvSpPr txBox="1"/>
          <p:nvPr/>
        </p:nvSpPr>
        <p:spPr>
          <a:xfrm>
            <a:off x="8617048" y="3703320"/>
            <a:ext cx="3026007" cy="777240"/>
          </a:xfrm>
          <a:prstGeom prst="rect">
            <a:avLst/>
          </a:prstGeom>
          <a:noFill/>
          <a:ln/>
        </p:spPr>
        <p:txBody>
          <a:bodyPr wrap="square" lIns="0" tIns="0" rIns="0" bIns="0" rtlCol="0" anchor="ctr"/>
          <a:lstStyle/>
          <a:p>
            <a:pPr algn="l" indent="0" marL="0">
              <a:buNone/>
            </a:pPr>
            <a:r>
              <a:rPr lang="en-US" sz="5400" b="1" dirty="0">
                <a:solidFill>
                  <a:schemeClr val="accent2"/>
                </a:solidFill>
              </a:rPr>
              <a:t>6.7 mm</a:t>
            </a:r>
            <a:endParaRPr lang="en-US" sz="5400" dirty="0"/>
          </a:p>
        </p:txBody>
      </p:sp>
      <p:sp>
        <p:nvSpPr>
          <p:cNvPr id="10" name="Stat 6.7 mm label"/>
          <p:cNvSpPr txBox="1"/>
          <p:nvPr/>
        </p:nvSpPr>
        <p:spPr>
          <a:xfrm>
            <a:off x="8617048" y="4498848"/>
            <a:ext cx="3026007" cy="365760"/>
          </a:xfrm>
          <a:prstGeom prst="rect">
            <a:avLst/>
          </a:prstGeom>
          <a:noFill/>
          <a:ln/>
        </p:spPr>
        <p:txBody>
          <a:bodyPr wrap="square" lIns="0" tIns="0" rIns="0" bIns="0" rtlCol="0" anchor="t"/>
          <a:lstStyle/>
          <a:p>
            <a:pPr algn="l" indent="0" marL="0">
              <a:buNone/>
            </a:pPr>
            <a:r>
              <a:rPr lang="en-US" sz="2000" dirty="0">
                <a:solidFill>
                  <a:schemeClr val="tx1"/>
                </a:solidFill>
              </a:rPr>
              <a:t>reactive</a:t>
            </a:r>
            <a:endParaRPr lang="en-US" sz="2000" dirty="0"/>
          </a:p>
        </p:txBody>
      </p:sp>
      <p:sp>
        <p:nvSpPr>
          <p:cNvPr id="11" name="Stat 2.6 mm"/>
          <p:cNvSpPr txBox="1"/>
          <p:nvPr/>
        </p:nvSpPr>
        <p:spPr>
          <a:xfrm>
            <a:off x="8617048" y="5074920"/>
            <a:ext cx="3026007" cy="777240"/>
          </a:xfrm>
          <a:prstGeom prst="rect">
            <a:avLst/>
          </a:prstGeom>
          <a:noFill/>
          <a:ln/>
        </p:spPr>
        <p:txBody>
          <a:bodyPr wrap="square" lIns="0" tIns="0" rIns="0" bIns="0" rtlCol="0" anchor="ctr"/>
          <a:lstStyle/>
          <a:p>
            <a:pPr algn="l" indent="0" marL="0">
              <a:buNone/>
            </a:pPr>
            <a:r>
              <a:rPr lang="en-US" sz="5400" b="1" dirty="0">
                <a:solidFill>
                  <a:schemeClr val="accent3"/>
                </a:solidFill>
              </a:rPr>
              <a:t>2.6 mm</a:t>
            </a:r>
            <a:endParaRPr lang="en-US" sz="5400" dirty="0"/>
          </a:p>
        </p:txBody>
      </p:sp>
      <p:sp>
        <p:nvSpPr>
          <p:cNvPr id="12" name="Stat 2.6 mm label"/>
          <p:cNvSpPr txBox="1"/>
          <p:nvPr/>
        </p:nvSpPr>
        <p:spPr>
          <a:xfrm>
            <a:off x="8617048" y="5870448"/>
            <a:ext cx="3026007" cy="365760"/>
          </a:xfrm>
          <a:prstGeom prst="rect">
            <a:avLst/>
          </a:prstGeom>
          <a:noFill/>
          <a:ln/>
        </p:spPr>
        <p:txBody>
          <a:bodyPr wrap="square" lIns="0" tIns="0" rIns="0" bIns="0" rtlCol="0" anchor="t"/>
          <a:lstStyle/>
          <a:p>
            <a:pPr algn="l" indent="0" marL="0">
              <a:buNone/>
            </a:pPr>
            <a:r>
              <a:rPr lang="en-US" sz="2000" dirty="0">
                <a:solidFill>
                  <a:schemeClr val="tx1"/>
                </a:solidFill>
              </a:rPr>
              <a:t>reactive + feedforward</a:t>
            </a:r>
            <a:endParaRPr lang="en-US" sz="20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ection tag"/>
          <p:cNvSpPr txBox="1"/>
          <p:nvPr/>
        </p:nvSpPr>
        <p:spPr>
          <a:xfrm>
            <a:off x="548640" y="402336"/>
            <a:ext cx="3006547"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APPROACH &amp; SOLUTION</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On real wearers: about 2/3 of walking motion removed</a:t>
            </a:r>
            <a:endParaRPr lang="en-US" sz="3200" dirty="0"/>
          </a:p>
        </p:txBody>
      </p:sp>
      <p:sp>
        <p:nvSpPr>
          <p:cNvPr id="4" name="Provenance"/>
          <p:cNvSpPr txBox="1"/>
          <p:nvPr/>
        </p:nvSpPr>
        <p:spPr>
          <a:xfrm>
            <a:off x="548640" y="1691640"/>
            <a:ext cx="11094415" cy="365760"/>
          </a:xfrm>
          <a:prstGeom prst="rect">
            <a:avLst/>
          </a:prstGeom>
          <a:noFill/>
          <a:ln/>
        </p:spPr>
        <p:txBody>
          <a:bodyPr wrap="square" lIns="0" tIns="0" rIns="0" bIns="0" rtlCol="0" anchor="t"/>
          <a:lstStyle/>
          <a:p>
            <a:pPr indent="0" marL="0">
              <a:buNone/>
            </a:pPr>
            <a:r>
              <a:rPr lang="en-US" sz="2000" dirty="0">
                <a:solidFill>
                  <a:schemeClr val="tx2"/>
                </a:solidFill>
              </a:rPr>
              <a:t>Trials: a 400 Hz controller on the lab machine. Analysis: mine.</a:t>
            </a:r>
            <a:endParaRPr lang="en-US" sz="2000" dirty="0"/>
          </a:p>
        </p:txBody>
      </p:sp>
      <p:sp>
        <p:nvSpPr>
          <p:cNvPr id="5" name="Frame hw_replay.gif"/>
          <p:cNvSpPr/>
          <p:nvPr/>
        </p:nvSpPr>
        <p:spPr>
          <a:xfrm>
            <a:off x="548640" y="2377440"/>
            <a:ext cx="7955280" cy="3341644"/>
          </a:xfrm>
          <a:prstGeom prst="roundRect">
            <a:avLst>
              <a:gd name="adj" fmla="val 3284"/>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6" name="hw_replay.gif" descr="One trial replayed: locked-arm path in grey, measured hand in blue">    </p:cNvPr>
          <p:cNvPicPr>
            <a:picLocks noChangeAspect="1"/>
          </p:cNvPicPr>
          <p:nvPr/>
        </p:nvPicPr>
        <p:blipFill>
          <a:blip r:embed="rId1"/>
          <a:stretch>
            <a:fillRect/>
          </a:stretch>
        </p:blipFill>
        <p:spPr>
          <a:xfrm>
            <a:off x="621792" y="2450592"/>
            <a:ext cx="7808976" cy="3195340"/>
          </a:xfrm>
          <a:prstGeom prst="rect">
            <a:avLst/>
          </a:prstGeom>
        </p:spPr>
      </p:pic>
      <p:sp>
        <p:nvSpPr>
          <p:cNvPr id="7" name="Stat 71%"/>
          <p:cNvSpPr txBox="1"/>
          <p:nvPr/>
        </p:nvSpPr>
        <p:spPr>
          <a:xfrm>
            <a:off x="8869680" y="2194560"/>
            <a:ext cx="2773375" cy="777240"/>
          </a:xfrm>
          <a:prstGeom prst="rect">
            <a:avLst/>
          </a:prstGeom>
          <a:noFill/>
          <a:ln/>
        </p:spPr>
        <p:txBody>
          <a:bodyPr wrap="square" lIns="0" tIns="0" rIns="0" bIns="0" rtlCol="0" anchor="ctr"/>
          <a:lstStyle/>
          <a:p>
            <a:pPr algn="l" indent="0" marL="0">
              <a:buNone/>
            </a:pPr>
            <a:r>
              <a:rPr lang="en-US" sz="6000" b="1" dirty="0">
                <a:solidFill>
                  <a:schemeClr val="accent2"/>
                </a:solidFill>
              </a:rPr>
              <a:t>71%</a:t>
            </a:r>
            <a:endParaRPr lang="en-US" sz="6000" dirty="0"/>
          </a:p>
        </p:txBody>
      </p:sp>
      <p:sp>
        <p:nvSpPr>
          <p:cNvPr id="8" name="Stat 71% label"/>
          <p:cNvSpPr txBox="1"/>
          <p:nvPr/>
        </p:nvSpPr>
        <p:spPr>
          <a:xfrm>
            <a:off x="8869680" y="2971800"/>
            <a:ext cx="2773375" cy="347472"/>
          </a:xfrm>
          <a:prstGeom prst="rect">
            <a:avLst/>
          </a:prstGeom>
          <a:noFill/>
          <a:ln/>
        </p:spPr>
        <p:txBody>
          <a:bodyPr wrap="square" lIns="0" tIns="0" rIns="0" bIns="0" rtlCol="0" anchor="t"/>
          <a:lstStyle/>
          <a:p>
            <a:pPr algn="l" indent="0" marL="0">
              <a:buNone/>
            </a:pPr>
            <a:r>
              <a:rPr lang="en-US" sz="2000" dirty="0">
                <a:solidFill>
                  <a:schemeClr val="tx1"/>
                </a:solidFill>
              </a:rPr>
              <a:t>0.5 m/s</a:t>
            </a:r>
            <a:endParaRPr lang="en-US" sz="2000" dirty="0"/>
          </a:p>
        </p:txBody>
      </p:sp>
      <p:sp>
        <p:nvSpPr>
          <p:cNvPr id="9" name="Stat 63%"/>
          <p:cNvSpPr txBox="1"/>
          <p:nvPr/>
        </p:nvSpPr>
        <p:spPr>
          <a:xfrm>
            <a:off x="8869680" y="3383280"/>
            <a:ext cx="2773375" cy="777240"/>
          </a:xfrm>
          <a:prstGeom prst="rect">
            <a:avLst/>
          </a:prstGeom>
          <a:noFill/>
          <a:ln/>
        </p:spPr>
        <p:txBody>
          <a:bodyPr wrap="square" lIns="0" tIns="0" rIns="0" bIns="0" rtlCol="0" anchor="ctr"/>
          <a:lstStyle/>
          <a:p>
            <a:pPr algn="l" indent="0" marL="0">
              <a:buNone/>
            </a:pPr>
            <a:r>
              <a:rPr lang="en-US" sz="6000" b="1" dirty="0">
                <a:solidFill>
                  <a:schemeClr val="accent2"/>
                </a:solidFill>
              </a:rPr>
              <a:t>63%</a:t>
            </a:r>
            <a:endParaRPr lang="en-US" sz="6000" dirty="0"/>
          </a:p>
        </p:txBody>
      </p:sp>
      <p:sp>
        <p:nvSpPr>
          <p:cNvPr id="10" name="Stat 63% label"/>
          <p:cNvSpPr txBox="1"/>
          <p:nvPr/>
        </p:nvSpPr>
        <p:spPr>
          <a:xfrm>
            <a:off x="8869680" y="4160520"/>
            <a:ext cx="2773375" cy="347472"/>
          </a:xfrm>
          <a:prstGeom prst="rect">
            <a:avLst/>
          </a:prstGeom>
          <a:noFill/>
          <a:ln/>
        </p:spPr>
        <p:txBody>
          <a:bodyPr wrap="square" lIns="0" tIns="0" rIns="0" bIns="0" rtlCol="0" anchor="t"/>
          <a:lstStyle/>
          <a:p>
            <a:pPr algn="l" indent="0" marL="0">
              <a:buNone/>
            </a:pPr>
            <a:r>
              <a:rPr lang="en-US" sz="2000" dirty="0">
                <a:solidFill>
                  <a:schemeClr val="tx1"/>
                </a:solidFill>
              </a:rPr>
              <a:t>1.0 m/s</a:t>
            </a:r>
            <a:endParaRPr lang="en-US" sz="2000" dirty="0"/>
          </a:p>
        </p:txBody>
      </p:sp>
      <p:sp>
        <p:nvSpPr>
          <p:cNvPr id="11" name="Stat 56%"/>
          <p:cNvSpPr txBox="1"/>
          <p:nvPr/>
        </p:nvSpPr>
        <p:spPr>
          <a:xfrm>
            <a:off x="8869680" y="4572000"/>
            <a:ext cx="2773375" cy="777240"/>
          </a:xfrm>
          <a:prstGeom prst="rect">
            <a:avLst/>
          </a:prstGeom>
          <a:noFill/>
          <a:ln/>
        </p:spPr>
        <p:txBody>
          <a:bodyPr wrap="square" lIns="0" tIns="0" rIns="0" bIns="0" rtlCol="0" anchor="ctr"/>
          <a:lstStyle/>
          <a:p>
            <a:pPr algn="l" indent="0" marL="0">
              <a:buNone/>
            </a:pPr>
            <a:r>
              <a:rPr lang="en-US" sz="6000" b="1" dirty="0">
                <a:solidFill>
                  <a:schemeClr val="accent2"/>
                </a:solidFill>
              </a:rPr>
              <a:t>56%</a:t>
            </a:r>
            <a:endParaRPr lang="en-US" sz="6000" dirty="0"/>
          </a:p>
        </p:txBody>
      </p:sp>
      <p:sp>
        <p:nvSpPr>
          <p:cNvPr id="12" name="Stat 56% label"/>
          <p:cNvSpPr txBox="1"/>
          <p:nvPr/>
        </p:nvSpPr>
        <p:spPr>
          <a:xfrm>
            <a:off x="8869680" y="5349240"/>
            <a:ext cx="2773375" cy="347472"/>
          </a:xfrm>
          <a:prstGeom prst="rect">
            <a:avLst/>
          </a:prstGeom>
          <a:noFill/>
          <a:ln/>
        </p:spPr>
        <p:txBody>
          <a:bodyPr wrap="square" lIns="0" tIns="0" rIns="0" bIns="0" rtlCol="0" anchor="t"/>
          <a:lstStyle/>
          <a:p>
            <a:pPr algn="l" indent="0" marL="0">
              <a:buNone/>
            </a:pPr>
            <a:r>
              <a:rPr lang="en-US" sz="2000" dirty="0">
                <a:solidFill>
                  <a:schemeClr val="tx1"/>
                </a:solidFill>
              </a:rPr>
              <a:t>1.5 m/s</a:t>
            </a:r>
            <a:endParaRPr lang="en-US" sz="2000" dirty="0"/>
          </a:p>
        </p:txBody>
      </p:sp>
      <p:sp>
        <p:nvSpPr>
          <p:cNvPr id="13" name="Results note"/>
          <p:cNvSpPr txBox="1"/>
          <p:nvPr/>
        </p:nvSpPr>
        <p:spPr>
          <a:xfrm>
            <a:off x="8869680" y="5779008"/>
            <a:ext cx="2773375" cy="320040"/>
          </a:xfrm>
          <a:prstGeom prst="rect">
            <a:avLst/>
          </a:prstGeom>
          <a:noFill/>
          <a:ln/>
        </p:spPr>
        <p:txBody>
          <a:bodyPr wrap="square" lIns="0" tIns="0" rIns="0" bIns="0" rtlCol="0" anchor="t"/>
          <a:lstStyle/>
          <a:p>
            <a:pPr indent="0" marL="0">
              <a:buNone/>
            </a:pPr>
            <a:r>
              <a:rPr lang="en-US" sz="1800" dirty="0">
                <a:solidFill>
                  <a:schemeClr val="accent4"/>
                </a:solidFill>
              </a:rPr>
              <a:t>Mean of 6 wearers</a:t>
            </a:r>
            <a:endParaRPr lang="en-US" sz="18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ection tag"/>
          <p:cNvSpPr txBox="1"/>
          <p:nvPr/>
        </p:nvSpPr>
        <p:spPr>
          <a:xfrm>
            <a:off x="548640" y="402336"/>
            <a:ext cx="356250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TRADE-OFFS &amp; CHALLENGES</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Turning up the gain barely helped</a:t>
            </a:r>
            <a:endParaRPr lang="en-US" sz="3200" dirty="0"/>
          </a:p>
        </p:txBody>
      </p:sp>
      <p:sp>
        <p:nvSpPr>
          <p:cNvPr id="4" name="Pilot set-up"/>
          <p:cNvSpPr txBox="1"/>
          <p:nvPr/>
        </p:nvSpPr>
        <p:spPr>
          <a:xfrm>
            <a:off x="548640" y="1828800"/>
            <a:ext cx="11094415" cy="457200"/>
          </a:xfrm>
          <a:prstGeom prst="rect">
            <a:avLst/>
          </a:prstGeom>
          <a:noFill/>
          <a:ln/>
        </p:spPr>
        <p:txBody>
          <a:bodyPr wrap="square" lIns="0" tIns="0" rIns="0" bIns="0" rtlCol="0" anchor="ctr"/>
          <a:lstStyle/>
          <a:p>
            <a:pPr algn="ctr" indent="0" marL="0">
              <a:buNone/>
            </a:pPr>
            <a:r>
              <a:rPr lang="en-US" sz="2200" dirty="0">
                <a:solidFill>
                  <a:schemeClr val="accent4"/>
                </a:solidFill>
              </a:rPr>
              <a:t>One-wearer pilot: K</a:t>
            </a:r>
            <a:pPr algn="ctr" indent="0" marL="0">
              <a:buNone/>
            </a:pPr>
            <a:r>
              <a:rPr lang="en-US" sz="2200" baseline="-40000" dirty="0">
                <a:solidFill>
                  <a:schemeClr val="accent4"/>
                </a:solidFill>
              </a:rPr>
              <a:t>d</a:t>
            </a:r>
            <a:pPr algn="ctr" indent="0" marL="0">
              <a:buNone/>
            </a:pPr>
            <a:r>
              <a:rPr lang="en-US" sz="2200" dirty="0">
                <a:solidFill>
                  <a:schemeClr val="accent4"/>
                </a:solidFill>
              </a:rPr>
              <a:t> 0.8 → 2.6. Response near 1 Hz fell:</a:t>
            </a:r>
            <a:endParaRPr lang="en-US" sz="2200" dirty="0"/>
          </a:p>
        </p:txBody>
      </p:sp>
      <p:sp>
        <p:nvSpPr>
          <p:cNvPr id="5" name="Stat 38%"/>
          <p:cNvSpPr txBox="1"/>
          <p:nvPr/>
        </p:nvSpPr>
        <p:spPr>
          <a:xfrm>
            <a:off x="1569568" y="2423160"/>
            <a:ext cx="4023360" cy="1737360"/>
          </a:xfrm>
          <a:prstGeom prst="rect">
            <a:avLst/>
          </a:prstGeom>
          <a:noFill/>
          <a:ln/>
        </p:spPr>
        <p:txBody>
          <a:bodyPr wrap="square" lIns="0" tIns="0" rIns="0" bIns="0" rtlCol="0" anchor="ctr"/>
          <a:lstStyle/>
          <a:p>
            <a:pPr algn="ctr" indent="0" marL="0">
              <a:buNone/>
            </a:pPr>
            <a:r>
              <a:rPr lang="en-US" sz="13000" b="1" dirty="0">
                <a:solidFill>
                  <a:schemeClr val="accent4"/>
                </a:solidFill>
              </a:rPr>
              <a:t>38%</a:t>
            </a:r>
            <a:endParaRPr lang="en-US" sz="13000" dirty="0"/>
          </a:p>
        </p:txBody>
      </p:sp>
      <p:sp>
        <p:nvSpPr>
          <p:cNvPr id="6" name="Stat 38% label"/>
          <p:cNvSpPr txBox="1"/>
          <p:nvPr/>
        </p:nvSpPr>
        <p:spPr>
          <a:xfrm>
            <a:off x="1569568" y="4178808"/>
            <a:ext cx="4023360" cy="457200"/>
          </a:xfrm>
          <a:prstGeom prst="rect">
            <a:avLst/>
          </a:prstGeom>
          <a:noFill/>
          <a:ln/>
        </p:spPr>
        <p:txBody>
          <a:bodyPr wrap="square" lIns="0" tIns="0" rIns="0" bIns="0" rtlCol="0" anchor="t"/>
          <a:lstStyle/>
          <a:p>
            <a:pPr algn="ctr" indent="0" marL="0">
              <a:buNone/>
            </a:pPr>
            <a:r>
              <a:rPr lang="en-US" sz="2400" dirty="0">
                <a:solidFill>
                  <a:schemeClr val="tx1"/>
                </a:solidFill>
              </a:rPr>
              <a:t>predicted</a:t>
            </a:r>
            <a:endParaRPr lang="en-US" sz="2400" dirty="0"/>
          </a:p>
        </p:txBody>
      </p:sp>
      <p:sp>
        <p:nvSpPr>
          <p:cNvPr id="7" name="Stat 9%"/>
          <p:cNvSpPr txBox="1"/>
          <p:nvPr/>
        </p:nvSpPr>
        <p:spPr>
          <a:xfrm>
            <a:off x="6598768" y="2423160"/>
            <a:ext cx="4023360" cy="1737360"/>
          </a:xfrm>
          <a:prstGeom prst="rect">
            <a:avLst/>
          </a:prstGeom>
          <a:noFill/>
          <a:ln/>
        </p:spPr>
        <p:txBody>
          <a:bodyPr wrap="square" lIns="0" tIns="0" rIns="0" bIns="0" rtlCol="0" anchor="ctr"/>
          <a:lstStyle/>
          <a:p>
            <a:pPr algn="ctr" indent="0" marL="0">
              <a:buNone/>
            </a:pPr>
            <a:r>
              <a:rPr lang="en-US" sz="13000" b="1" dirty="0">
                <a:solidFill>
                  <a:schemeClr val="accent3"/>
                </a:solidFill>
              </a:rPr>
              <a:t>9%</a:t>
            </a:r>
            <a:endParaRPr lang="en-US" sz="13000" dirty="0"/>
          </a:p>
        </p:txBody>
      </p:sp>
      <p:sp>
        <p:nvSpPr>
          <p:cNvPr id="8" name="Stat 9% label"/>
          <p:cNvSpPr txBox="1"/>
          <p:nvPr/>
        </p:nvSpPr>
        <p:spPr>
          <a:xfrm>
            <a:off x="6598768" y="4178808"/>
            <a:ext cx="4023360" cy="457200"/>
          </a:xfrm>
          <a:prstGeom prst="rect">
            <a:avLst/>
          </a:prstGeom>
          <a:noFill/>
          <a:ln/>
        </p:spPr>
        <p:txBody>
          <a:bodyPr wrap="square" lIns="0" tIns="0" rIns="0" bIns="0" rtlCol="0" anchor="t"/>
          <a:lstStyle/>
          <a:p>
            <a:pPr algn="ctr" indent="0" marL="0">
              <a:buNone/>
            </a:pPr>
            <a:r>
              <a:rPr lang="en-US" sz="2400" dirty="0">
                <a:solidFill>
                  <a:schemeClr val="tx1"/>
                </a:solidFill>
              </a:rPr>
              <a:t>measured</a:t>
            </a:r>
            <a:endParaRPr lang="en-US" sz="2400" dirty="0"/>
          </a:p>
        </p:txBody>
      </p:sp>
      <p:sp>
        <p:nvSpPr>
          <p:cNvPr id="9" name="Takeaway"/>
          <p:cNvSpPr txBox="1"/>
          <p:nvPr/>
        </p:nvSpPr>
        <p:spPr>
          <a:xfrm>
            <a:off x="548640" y="5212080"/>
            <a:ext cx="11094415" cy="594360"/>
          </a:xfrm>
          <a:prstGeom prst="rect">
            <a:avLst/>
          </a:prstGeom>
          <a:noFill/>
          <a:ln/>
        </p:spPr>
        <p:txBody>
          <a:bodyPr wrap="square" lIns="0" tIns="0" rIns="0" bIns="0" rtlCol="0" anchor="ctr"/>
          <a:lstStyle/>
          <a:p>
            <a:pPr algn="ctr" indent="0" marL="0">
              <a:buNone/>
            </a:pPr>
            <a:r>
              <a:rPr lang="en-US" sz="3000" b="1" dirty="0">
                <a:solidFill>
                  <a:schemeClr val="tx2"/>
                </a:solidFill>
              </a:rPr>
              <a:t>The velocity term was barely acting. Why?</a:t>
            </a:r>
            <a:endParaRPr lang="en-US" sz="30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ection tag"/>
          <p:cNvSpPr txBox="1"/>
          <p:nvPr/>
        </p:nvSpPr>
        <p:spPr>
          <a:xfrm>
            <a:off x="548640" y="402336"/>
            <a:ext cx="356250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TRADE-OFFS &amp; CHALLENGES</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Best explanation: the velocity arrives 61–71 ms late</a:t>
            </a:r>
            <a:endParaRPr lang="en-US" sz="3200" dirty="0"/>
          </a:p>
        </p:txBody>
      </p:sp>
      <p:sp>
        <p:nvSpPr>
          <p:cNvPr id="4" name="Kalman lag (36 ms)"/>
          <p:cNvSpPr/>
          <p:nvPr/>
        </p:nvSpPr>
        <p:spPr>
          <a:xfrm>
            <a:off x="548640" y="2103120"/>
            <a:ext cx="4075133" cy="1188720"/>
          </a:xfrm>
          <a:prstGeom prst="rect">
            <a:avLst/>
          </a:prstGeom>
          <a:solidFill>
            <a:schemeClr val="accent3"/>
          </a:solidFill>
          <a:ln/>
        </p:spPr>
      </p:sp>
      <p:pic>
        <p:nvPicPr>
          <p:cNvPr id="5" name="Kalman lag fade (36-46 ms)" descr="Kalman lag range, 36 to 46 ms">    </p:cNvPr>
          <p:cNvPicPr>
            <a:picLocks noChangeAspect="1"/>
          </p:cNvPicPr>
          <p:nvPr/>
        </p:nvPicPr>
        <p:blipFill>
          <a:blip r:embed="rId1"/>
          <a:stretch>
            <a:fillRect/>
          </a:stretch>
        </p:blipFill>
        <p:spPr>
          <a:xfrm>
            <a:off x="4605485" y="2103120"/>
            <a:ext cx="1126901" cy="1188720"/>
          </a:xfrm>
          <a:prstGeom prst="rect">
            <a:avLst/>
          </a:prstGeom>
        </p:spPr>
      </p:pic>
      <p:sp>
        <p:nvSpPr>
          <p:cNvPr id="6" name="Kalman label"/>
          <p:cNvSpPr txBox="1"/>
          <p:nvPr/>
        </p:nvSpPr>
        <p:spPr>
          <a:xfrm>
            <a:off x="548640" y="2103120"/>
            <a:ext cx="5183746" cy="1188720"/>
          </a:xfrm>
          <a:prstGeom prst="rect">
            <a:avLst/>
          </a:prstGeom>
          <a:noFill/>
          <a:ln/>
        </p:spPr>
        <p:txBody>
          <a:bodyPr wrap="square" lIns="0" tIns="0" rIns="0" bIns="0" rtlCol="0" anchor="ctr"/>
          <a:lstStyle/>
          <a:p>
            <a:pPr algn="ctr" indent="0" marL="0">
              <a:buNone/>
            </a:pPr>
            <a:r>
              <a:rPr lang="en-US" sz="2000" b="1" dirty="0">
                <a:solidFill>
                  <a:schemeClr val="bg1"/>
                </a:solidFill>
              </a:rPr>
              <a:t>Kalman filter 36–46 ms</a:t>
            </a:r>
            <a:endParaRPr lang="en-US" sz="2000" dirty="0"/>
          </a:p>
        </p:txBody>
      </p:sp>
      <p:sp>
        <p:nvSpPr>
          <p:cNvPr id="7" name="Delay segment sensing"/>
          <p:cNvSpPr/>
          <p:nvPr/>
        </p:nvSpPr>
        <p:spPr>
          <a:xfrm>
            <a:off x="5732386" y="2103120"/>
            <a:ext cx="1126901" cy="1188720"/>
          </a:xfrm>
          <a:prstGeom prst="rect">
            <a:avLst/>
          </a:prstGeom>
          <a:solidFill>
            <a:schemeClr val="accent3">
              <a:alpha val="75000"/>
            </a:schemeClr>
          </a:solidFill>
          <a:ln/>
        </p:spPr>
      </p:sp>
      <p:sp>
        <p:nvSpPr>
          <p:cNvPr id="8" name="Delay divider 1"/>
          <p:cNvSpPr/>
          <p:nvPr/>
        </p:nvSpPr>
        <p:spPr>
          <a:xfrm>
            <a:off x="5732386" y="2103120"/>
            <a:ext cx="0" cy="1188720"/>
          </a:xfrm>
          <a:prstGeom prst="line">
            <a:avLst/>
          </a:prstGeom>
          <a:noFill/>
          <a:ln w="31750">
            <a:solidFill>
              <a:schemeClr val="bg1"/>
            </a:solidFill>
            <a:prstDash val="solid"/>
          </a:ln>
        </p:spPr>
      </p:sp>
      <p:sp>
        <p:nvSpPr>
          <p:cNvPr id="9" name="Text 6"/>
          <p:cNvSpPr txBox="1"/>
          <p:nvPr/>
        </p:nvSpPr>
        <p:spPr>
          <a:xfrm>
            <a:off x="5732386" y="2103120"/>
            <a:ext cx="1126901" cy="1188720"/>
          </a:xfrm>
          <a:prstGeom prst="rect">
            <a:avLst/>
          </a:prstGeom>
          <a:noFill/>
          <a:ln/>
        </p:spPr>
        <p:txBody>
          <a:bodyPr wrap="square" lIns="0" tIns="0" rIns="0" bIns="0" rtlCol="0" anchor="ctr"/>
          <a:lstStyle/>
          <a:p>
            <a:pPr algn="ctr" indent="0" marL="0">
              <a:buNone/>
            </a:pPr>
            <a:r>
              <a:rPr lang="en-US" sz="2000" b="1" dirty="0">
                <a:solidFill>
                  <a:schemeClr val="tx2"/>
                </a:solidFill>
              </a:rPr>
              <a:t>sensing</a:t>
            </a:r>
            <a:endParaRPr lang="en-US" sz="2000" dirty="0"/>
          </a:p>
          <a:p>
            <a:pPr algn="ctr" indent="0" marL="0">
              <a:buNone/>
            </a:pPr>
            <a:r>
              <a:rPr lang="en-US" sz="2000" b="1" dirty="0">
                <a:solidFill>
                  <a:schemeClr val="tx2"/>
                </a:solidFill>
              </a:rPr>
              <a:t>~10 ms</a:t>
            </a:r>
            <a:endParaRPr lang="en-US" sz="2000" dirty="0"/>
          </a:p>
        </p:txBody>
      </p:sp>
      <p:sp>
        <p:nvSpPr>
          <p:cNvPr id="10" name="Delay segment joints"/>
          <p:cNvSpPr/>
          <p:nvPr/>
        </p:nvSpPr>
        <p:spPr>
          <a:xfrm>
            <a:off x="6859288" y="2103120"/>
            <a:ext cx="1690352" cy="1188720"/>
          </a:xfrm>
          <a:prstGeom prst="rect">
            <a:avLst/>
          </a:prstGeom>
          <a:solidFill>
            <a:schemeClr val="accent3">
              <a:alpha val="55000"/>
            </a:schemeClr>
          </a:solidFill>
          <a:ln/>
        </p:spPr>
      </p:sp>
      <p:sp>
        <p:nvSpPr>
          <p:cNvPr id="11" name="Delay divider 2"/>
          <p:cNvSpPr/>
          <p:nvPr/>
        </p:nvSpPr>
        <p:spPr>
          <a:xfrm>
            <a:off x="6859288" y="2103120"/>
            <a:ext cx="0" cy="1188720"/>
          </a:xfrm>
          <a:prstGeom prst="line">
            <a:avLst/>
          </a:prstGeom>
          <a:noFill/>
          <a:ln w="31750">
            <a:solidFill>
              <a:schemeClr val="bg1"/>
            </a:solidFill>
            <a:prstDash val="solid"/>
          </a:ln>
        </p:spPr>
      </p:sp>
      <p:sp>
        <p:nvSpPr>
          <p:cNvPr id="12" name="Text 9"/>
          <p:cNvSpPr txBox="1"/>
          <p:nvPr/>
        </p:nvSpPr>
        <p:spPr>
          <a:xfrm>
            <a:off x="6859288" y="2103120"/>
            <a:ext cx="1690352" cy="1188720"/>
          </a:xfrm>
          <a:prstGeom prst="rect">
            <a:avLst/>
          </a:prstGeom>
          <a:noFill/>
          <a:ln/>
        </p:spPr>
        <p:txBody>
          <a:bodyPr wrap="square" lIns="0" tIns="0" rIns="0" bIns="0" rtlCol="0" anchor="ctr"/>
          <a:lstStyle/>
          <a:p>
            <a:pPr algn="ctr" indent="0" marL="0">
              <a:buNone/>
            </a:pPr>
            <a:r>
              <a:rPr lang="en-US" sz="2000" b="1" dirty="0">
                <a:solidFill>
                  <a:schemeClr val="tx2"/>
                </a:solidFill>
              </a:rPr>
              <a:t>joints</a:t>
            </a:r>
            <a:endParaRPr lang="en-US" sz="2000" dirty="0"/>
          </a:p>
          <a:p>
            <a:pPr algn="ctr" indent="0" marL="0">
              <a:buNone/>
            </a:pPr>
            <a:r>
              <a:rPr lang="en-US" sz="2000" b="1" dirty="0">
                <a:solidFill>
                  <a:schemeClr val="tx2"/>
                </a:solidFill>
              </a:rPr>
              <a:t>~15 ms</a:t>
            </a:r>
            <a:endParaRPr lang="en-US" sz="2000" dirty="0"/>
          </a:p>
        </p:txBody>
      </p:sp>
      <p:sp>
        <p:nvSpPr>
          <p:cNvPr id="13" name="Delay total"/>
          <p:cNvSpPr txBox="1"/>
          <p:nvPr/>
        </p:nvSpPr>
        <p:spPr>
          <a:xfrm>
            <a:off x="8750808" y="2103120"/>
            <a:ext cx="2892247" cy="1188720"/>
          </a:xfrm>
          <a:prstGeom prst="rect">
            <a:avLst/>
          </a:prstGeom>
          <a:noFill/>
          <a:ln/>
        </p:spPr>
        <p:txBody>
          <a:bodyPr wrap="square" lIns="0" tIns="0" rIns="0" bIns="0" rtlCol="0" anchor="ctr"/>
          <a:lstStyle/>
          <a:p>
            <a:pPr indent="0" marL="0">
              <a:buNone/>
            </a:pPr>
            <a:r>
              <a:rPr lang="en-US" sz="4000" b="1" dirty="0">
                <a:solidFill>
                  <a:schemeClr val="accent3"/>
                </a:solidFill>
              </a:rPr>
              <a:t>= 61–71 ms</a:t>
            </a:r>
            <a:endParaRPr lang="en-US" sz="4000" dirty="0"/>
          </a:p>
        </p:txBody>
      </p:sp>
      <p:sp>
        <p:nvSpPr>
          <p:cNvPr id="14" name="Delay formula"/>
          <p:cNvSpPr txBox="1"/>
          <p:nvPr/>
        </p:nvSpPr>
        <p:spPr>
          <a:xfrm>
            <a:off x="548640" y="4023360"/>
            <a:ext cx="11094415" cy="685800"/>
          </a:xfrm>
          <a:prstGeom prst="rect">
            <a:avLst/>
          </a:prstGeom>
          <a:noFill/>
          <a:ln/>
        </p:spPr>
        <p:txBody>
          <a:bodyPr wrap="square" lIns="0" tIns="0" rIns="0" bIns="0" rtlCol="0" anchor="ctr"/>
          <a:lstStyle/>
          <a:p>
            <a:pPr indent="0" marL="0">
              <a:buNone/>
            </a:pPr>
            <a:r>
              <a:rPr lang="en-US" sz="3200" b="1" dirty="0">
                <a:solidFill>
                  <a:schemeClr val="tx2"/>
                </a:solidFill>
              </a:rPr>
              <a:t>Uncancelled: 2·sin(</a:t>
            </a:r>
            <a:pPr indent="0" marL="0">
              <a:buNone/>
            </a:pPr>
            <a:r>
              <a:rPr lang="en-US" sz="3200" b="1" i="1" dirty="0">
                <a:solidFill>
                  <a:schemeClr val="tx2"/>
                </a:solidFill>
              </a:rPr>
              <a:t>ωd</a:t>
            </a:r>
            <a:pPr indent="0" marL="0">
              <a:buNone/>
            </a:pPr>
            <a:r>
              <a:rPr lang="en-US" sz="3200" b="1" dirty="0">
                <a:solidFill>
                  <a:schemeClr val="tx2"/>
                </a:solidFill>
              </a:rPr>
              <a:t>/2) ≈ </a:t>
            </a:r>
            <a:pPr indent="0" marL="0">
              <a:buNone/>
            </a:pPr>
            <a:r>
              <a:rPr lang="en-US" sz="3200" b="1" dirty="0">
                <a:solidFill>
                  <a:schemeClr val="accent3"/>
                </a:solidFill>
              </a:rPr>
              <a:t>2/3</a:t>
            </a:r>
            <a:pPr indent="0" marL="0">
              <a:buNone/>
            </a:pPr>
            <a:r>
              <a:rPr lang="en-US" sz="3200" b="1" dirty="0">
                <a:solidFill>
                  <a:schemeClr val="tx2"/>
                </a:solidFill>
              </a:rPr>
              <a:t> at 1.8 Hz</a:t>
            </a:r>
            <a:endParaRPr lang="en-US" sz="3200" dirty="0"/>
          </a:p>
        </p:txBody>
      </p:sp>
      <p:sp>
        <p:nvSpPr>
          <p:cNvPr id="15" name="Evidence"/>
          <p:cNvSpPr txBox="1"/>
          <p:nvPr/>
        </p:nvSpPr>
        <p:spPr>
          <a:xfrm>
            <a:off x="548640" y="5029200"/>
            <a:ext cx="11094415" cy="411480"/>
          </a:xfrm>
          <a:prstGeom prst="rect">
            <a:avLst/>
          </a:prstGeom>
          <a:noFill/>
          <a:ln/>
        </p:spPr>
        <p:txBody>
          <a:bodyPr wrap="square" lIns="0" tIns="0" rIns="0" bIns="0" rtlCol="0" anchor="ctr"/>
          <a:lstStyle/>
          <a:p>
            <a:pPr indent="0" marL="0">
              <a:buNone/>
            </a:pPr>
            <a:r>
              <a:rPr lang="en-US" sz="2000" dirty="0">
                <a:solidFill>
                  <a:schemeClr val="accent4"/>
                </a:solidFill>
              </a:rPr>
              <a:t>Nothing fitted: beats no-velocity model, 6/6 wearers</a:t>
            </a:r>
            <a:endParaRPr lang="en-US" sz="20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ection tag"/>
          <p:cNvSpPr txBox="1"/>
          <p:nvPr/>
        </p:nvSpPr>
        <p:spPr>
          <a:xfrm>
            <a:off x="548640" y="402336"/>
            <a:ext cx="1199693"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IMPACT</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Impact, and what transfers</a:t>
            </a:r>
            <a:endParaRPr lang="en-US" sz="3200" dirty="0"/>
          </a:p>
        </p:txBody>
      </p:sp>
      <p:sp>
        <p:nvSpPr>
          <p:cNvPr id="4" name="Impact card"/>
          <p:cNvSpPr/>
          <p:nvPr/>
        </p:nvSpPr>
        <p:spPr>
          <a:xfrm>
            <a:off x="548640" y="1783080"/>
            <a:ext cx="4937760" cy="4480560"/>
          </a:xfrm>
          <a:prstGeom prst="roundRect">
            <a:avLst>
              <a:gd name="adj" fmla="val 2857"/>
            </a:avLst>
          </a:prstGeom>
          <a:solidFill>
            <a:schemeClr val="tx2"/>
          </a:solidFill>
          <a:ln/>
          <a:effectLst>
            <a:outerShdw sx="100000" sy="100000" kx="0" ky="0" algn="bl" rotWithShape="0" blurRad="127000" dist="38100" dir="5400000">
              <a:srgbClr val="000000">
                <a:alpha val="18000"/>
              </a:srgbClr>
            </a:outerShdw>
          </a:effectLst>
        </p:spPr>
      </p:sp>
      <p:sp>
        <p:nvSpPr>
          <p:cNvPr id="5" name="Impact stat"/>
          <p:cNvSpPr txBox="1"/>
          <p:nvPr/>
        </p:nvSpPr>
        <p:spPr>
          <a:xfrm>
            <a:off x="914400" y="2011680"/>
            <a:ext cx="4206240" cy="1508760"/>
          </a:xfrm>
          <a:prstGeom prst="rect">
            <a:avLst/>
          </a:prstGeom>
          <a:noFill/>
          <a:ln/>
        </p:spPr>
        <p:txBody>
          <a:bodyPr wrap="square" lIns="0" tIns="0" rIns="0" bIns="0" rtlCol="0" anchor="ctr"/>
          <a:lstStyle/>
          <a:p>
            <a:pPr indent="0" marL="0">
              <a:buNone/>
            </a:pPr>
            <a:r>
              <a:rPr lang="en-US" sz="12000" b="1" dirty="0">
                <a:solidFill>
                  <a:schemeClr val="bg1"/>
                </a:solidFill>
              </a:rPr>
              <a:t>2/3</a:t>
            </a:r>
            <a:endParaRPr lang="en-US" sz="12000" dirty="0"/>
          </a:p>
        </p:txBody>
      </p:sp>
      <p:sp>
        <p:nvSpPr>
          <p:cNvPr id="6" name="Impact label"/>
          <p:cNvSpPr txBox="1"/>
          <p:nvPr/>
        </p:nvSpPr>
        <p:spPr>
          <a:xfrm>
            <a:off x="914400" y="3611880"/>
            <a:ext cx="4206240" cy="868680"/>
          </a:xfrm>
          <a:prstGeom prst="rect">
            <a:avLst/>
          </a:prstGeom>
          <a:noFill/>
          <a:ln/>
        </p:spPr>
        <p:txBody>
          <a:bodyPr wrap="square" lIns="0" tIns="0" rIns="0" bIns="0" rtlCol="0" anchor="t"/>
          <a:lstStyle/>
          <a:p>
            <a:pPr indent="0" marL="0">
              <a:buNone/>
            </a:pPr>
            <a:r>
              <a:rPr lang="en-US" sz="2400" dirty="0">
                <a:solidFill>
                  <a:schemeClr val="bg1"/>
                </a:solidFill>
              </a:rPr>
              <a:t>walking motion removed</a:t>
            </a:r>
            <a:endParaRPr lang="en-US" sz="2400" dirty="0"/>
          </a:p>
          <a:p>
            <a:pPr indent="0" marL="0">
              <a:buNone/>
            </a:pPr>
            <a:r>
              <a:rPr lang="en-US" sz="2400" dirty="0">
                <a:solidFill>
                  <a:schemeClr val="bg1"/>
                </a:solidFill>
              </a:rPr>
              <a:t>on hardware</a:t>
            </a:r>
            <a:endParaRPr lang="en-US" sz="2400" dirty="0"/>
          </a:p>
        </p:txBody>
      </p:sp>
      <p:sp>
        <p:nvSpPr>
          <p:cNvPr id="7" name="Next-step panel"/>
          <p:cNvSpPr/>
          <p:nvPr/>
        </p:nvSpPr>
        <p:spPr>
          <a:xfrm>
            <a:off x="777240" y="5120640"/>
            <a:ext cx="4480560" cy="868680"/>
          </a:xfrm>
          <a:prstGeom prst="roundRect">
            <a:avLst>
              <a:gd name="adj" fmla="val 10526"/>
            </a:avLst>
          </a:prstGeom>
          <a:solidFill>
            <a:schemeClr val="accent1"/>
          </a:solidFill>
          <a:ln/>
        </p:spPr>
      </p:sp>
      <p:sp>
        <p:nvSpPr>
          <p:cNvPr id="8" name="Next step"/>
          <p:cNvSpPr txBox="1"/>
          <p:nvPr/>
        </p:nvSpPr>
        <p:spPr>
          <a:xfrm>
            <a:off x="1005840" y="5120640"/>
            <a:ext cx="4023360" cy="868680"/>
          </a:xfrm>
          <a:prstGeom prst="rect">
            <a:avLst/>
          </a:prstGeom>
          <a:noFill/>
          <a:ln/>
        </p:spPr>
        <p:txBody>
          <a:bodyPr wrap="square" lIns="0" tIns="0" rIns="0" bIns="0" rtlCol="0" anchor="ctr"/>
          <a:lstStyle/>
          <a:p>
            <a:pPr indent="0" marL="0">
              <a:buNone/>
            </a:pPr>
            <a:r>
              <a:rPr lang="en-US" sz="2200" b="1" dirty="0">
                <a:solidFill>
                  <a:schemeClr val="bg1"/>
                </a:solidFill>
              </a:rPr>
              <a:t>Next: </a:t>
            </a:r>
            <a:pPr indent="0" marL="0">
              <a:buNone/>
            </a:pPr>
            <a:r>
              <a:rPr lang="en-US" sz="2200" dirty="0">
                <a:solidFill>
                  <a:schemeClr val="bg1"/>
                </a:solidFill>
              </a:rPr>
              <a:t>faster estimator</a:t>
            </a:r>
            <a:endParaRPr lang="en-US" sz="2200" dirty="0"/>
          </a:p>
        </p:txBody>
      </p:sp>
      <p:sp>
        <p:nvSpPr>
          <p:cNvPr id="9" name="Transfer dot 1"/>
          <p:cNvSpPr/>
          <p:nvPr/>
        </p:nvSpPr>
        <p:spPr>
          <a:xfrm>
            <a:off x="6035040" y="2898648"/>
            <a:ext cx="146304" cy="146304"/>
          </a:xfrm>
          <a:prstGeom prst="ellipse">
            <a:avLst/>
          </a:prstGeom>
          <a:solidFill>
            <a:schemeClr val="accent6"/>
          </a:solidFill>
          <a:ln/>
        </p:spPr>
      </p:sp>
      <p:sp>
        <p:nvSpPr>
          <p:cNvPr id="10" name="Transfer 1"/>
          <p:cNvSpPr txBox="1"/>
          <p:nvPr/>
        </p:nvSpPr>
        <p:spPr>
          <a:xfrm>
            <a:off x="6400800" y="2766060"/>
            <a:ext cx="5242255" cy="411480"/>
          </a:xfrm>
          <a:prstGeom prst="rect">
            <a:avLst/>
          </a:prstGeom>
          <a:noFill/>
          <a:ln/>
        </p:spPr>
        <p:txBody>
          <a:bodyPr wrap="square" lIns="0" tIns="0" rIns="0" bIns="0" rtlCol="0" anchor="ctr"/>
          <a:lstStyle/>
          <a:p>
            <a:pPr indent="0" marL="0">
              <a:buNone/>
            </a:pPr>
            <a:r>
              <a:rPr lang="en-US" sz="2200" dirty="0">
                <a:solidFill>
                  <a:schemeClr val="accent4"/>
                </a:solidFill>
              </a:rPr>
              <a:t>Frames, calibration → camera extrinsics</a:t>
            </a:r>
            <a:endParaRPr lang="en-US" sz="2200" dirty="0"/>
          </a:p>
        </p:txBody>
      </p:sp>
      <p:sp>
        <p:nvSpPr>
          <p:cNvPr id="11" name="Transfer dot 2"/>
          <p:cNvSpPr/>
          <p:nvPr/>
        </p:nvSpPr>
        <p:spPr>
          <a:xfrm>
            <a:off x="6035040" y="3950208"/>
            <a:ext cx="146304" cy="146304"/>
          </a:xfrm>
          <a:prstGeom prst="ellipse">
            <a:avLst/>
          </a:prstGeom>
          <a:solidFill>
            <a:schemeClr val="accent6"/>
          </a:solidFill>
          <a:ln/>
        </p:spPr>
      </p:sp>
      <p:sp>
        <p:nvSpPr>
          <p:cNvPr id="12" name="Transfer 2"/>
          <p:cNvSpPr txBox="1"/>
          <p:nvPr/>
        </p:nvSpPr>
        <p:spPr>
          <a:xfrm>
            <a:off x="6400800" y="3817620"/>
            <a:ext cx="5242255" cy="411480"/>
          </a:xfrm>
          <a:prstGeom prst="rect">
            <a:avLst/>
          </a:prstGeom>
          <a:noFill/>
          <a:ln/>
        </p:spPr>
        <p:txBody>
          <a:bodyPr wrap="square" lIns="0" tIns="0" rIns="0" bIns="0" rtlCol="0" anchor="ctr"/>
          <a:lstStyle/>
          <a:p>
            <a:pPr indent="0" marL="0">
              <a:buNone/>
            </a:pPr>
            <a:r>
              <a:rPr lang="en-US" sz="2200" dirty="0">
                <a:solidFill>
                  <a:schemeClr val="accent4"/>
                </a:solidFill>
              </a:rPr>
              <a:t>Latency budget → sensor time-sync</a:t>
            </a:r>
            <a:endParaRPr lang="en-US" sz="2200" dirty="0"/>
          </a:p>
        </p:txBody>
      </p:sp>
      <p:sp>
        <p:nvSpPr>
          <p:cNvPr id="13" name="Transfer dot 3"/>
          <p:cNvSpPr/>
          <p:nvPr/>
        </p:nvSpPr>
        <p:spPr>
          <a:xfrm>
            <a:off x="6035040" y="5001768"/>
            <a:ext cx="146304" cy="146304"/>
          </a:xfrm>
          <a:prstGeom prst="ellipse">
            <a:avLst/>
          </a:prstGeom>
          <a:solidFill>
            <a:schemeClr val="accent6"/>
          </a:solidFill>
          <a:ln/>
        </p:spPr>
      </p:sp>
      <p:sp>
        <p:nvSpPr>
          <p:cNvPr id="14" name="Transfer 3"/>
          <p:cNvSpPr txBox="1"/>
          <p:nvPr/>
        </p:nvSpPr>
        <p:spPr>
          <a:xfrm>
            <a:off x="6400800" y="4869180"/>
            <a:ext cx="5242255" cy="411480"/>
          </a:xfrm>
          <a:prstGeom prst="rect">
            <a:avLst/>
          </a:prstGeom>
          <a:noFill/>
          <a:ln/>
        </p:spPr>
        <p:txBody>
          <a:bodyPr wrap="square" lIns="0" tIns="0" rIns="0" bIns="0" rtlCol="0" anchor="ctr"/>
          <a:lstStyle/>
          <a:p>
            <a:pPr indent="0" marL="0">
              <a:buNone/>
            </a:pPr>
            <a:r>
              <a:rPr lang="en-US" sz="2200" dirty="0">
                <a:solidFill>
                  <a:schemeClr val="accent4"/>
                </a:solidFill>
              </a:rPr>
              <a:t>Ground-truth the metric</a:t>
            </a:r>
            <a:endParaRPr lang="en-US" sz="22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914400"/>
          </a:xfrm>
          <a:prstGeom prst="rect">
            <a:avLst/>
          </a:prstGeom>
          <a:noFill/>
          <a:ln/>
        </p:spPr>
        <p:txBody>
          <a:bodyPr wrap="square" lIns="0" tIns="0" rIns="0" bIns="0" rtlCol="0" anchor="ctr"/>
          <a:lstStyle/>
          <a:p>
            <a:pPr algn="ctr" indent="0" marL="0">
              <a:buNone/>
            </a:pPr>
            <a:r>
              <a:rPr lang="en-US" sz="4400" b="1" dirty="0">
                <a:solidFill>
                  <a:schemeClr val="bg1"/>
                </a:solidFill>
                <a:latin typeface="Arial" pitchFamily="34" charset="0"/>
                <a:ea typeface="Arial" pitchFamily="34" charset="-122"/>
                <a:cs typeface="Arial" pitchFamily="34" charset="-120"/>
              </a:rPr>
              <a:t>Thank you. Questions?</a:t>
            </a:r>
            <a:endParaRPr lang="en-US" sz="4400" dirty="0"/>
          </a:p>
        </p:txBody>
      </p:sp>
      <p:sp>
        <p:nvSpPr>
          <p:cNvPr id="3" name="QR card 1"/>
          <p:cNvSpPr/>
          <p:nvPr/>
        </p:nvSpPr>
        <p:spPr>
          <a:xfrm>
            <a:off x="2209648" y="2148840"/>
            <a:ext cx="2286000" cy="2286000"/>
          </a:xfrm>
          <a:prstGeom prst="roundRect">
            <a:avLst>
              <a:gd name="adj" fmla="val 5600"/>
            </a:avLst>
          </a:prstGeom>
          <a:solidFill>
            <a:schemeClr val="bg1"/>
          </a:solidFill>
          <a:ln/>
        </p:spPr>
      </p:sp>
      <p:pic>
        <p:nvPicPr>
          <p:cNvPr id="4" name="QR github.com/fechachris4/msc_project" descr="QR code for https://github.com/fechachris4/msc_project">
            <a:hlinkClick r:id="rId2" tooltip="github.com/fechachris4/msc_project"/>
          </p:cNvPr>
          <p:cNvPicPr>
            <a:picLocks noChangeAspect="1"/>
          </p:cNvPicPr>
          <p:nvPr/>
        </p:nvPicPr>
        <p:blipFill>
          <a:blip r:embed="rId1"/>
          <a:stretch>
            <a:fillRect/>
          </a:stretch>
        </p:blipFill>
        <p:spPr>
          <a:xfrm>
            <a:off x="2319376" y="2258568"/>
            <a:ext cx="2066544" cy="2066544"/>
          </a:xfrm>
          <a:prstGeom prst="rect">
            <a:avLst/>
          </a:prstGeom>
        </p:spPr>
      </p:pic>
      <p:sp>
        <p:nvSpPr>
          <p:cNvPr id="5" name="Text 2"/>
          <p:cNvSpPr txBox="1"/>
          <p:nvPr/>
        </p:nvSpPr>
        <p:spPr>
          <a:xfrm>
            <a:off x="975208" y="4572000"/>
            <a:ext cx="4754880" cy="384048"/>
          </a:xfrm>
          <a:prstGeom prst="rect">
            <a:avLst/>
          </a:prstGeom>
          <a:noFill/>
          <a:ln/>
        </p:spPr>
        <p:txBody>
          <a:bodyPr wrap="square" lIns="0" tIns="0" rIns="0" bIns="0" rtlCol="0" anchor="t"/>
          <a:lstStyle/>
          <a:p>
            <a:pPr algn="ctr" indent="0" marL="0">
              <a:buNone/>
            </a:pPr>
            <a:r>
              <a:rPr lang="en-US" sz="2000" b="1" dirty="0">
                <a:solidFill>
                  <a:schemeClr val="bg1"/>
                </a:solidFill>
              </a:rPr>
              <a:t>Results, simulation, figures</a:t>
            </a:r>
            <a:endParaRPr lang="en-US" sz="2000" dirty="0"/>
          </a:p>
        </p:txBody>
      </p:sp>
      <p:sp>
        <p:nvSpPr>
          <p:cNvPr id="6" name="Text 3"/>
          <p:cNvSpPr txBox="1"/>
          <p:nvPr/>
        </p:nvSpPr>
        <p:spPr>
          <a:xfrm>
            <a:off x="975208" y="4983480"/>
            <a:ext cx="4754880" cy="347472"/>
          </a:xfrm>
          <a:prstGeom prst="rect">
            <a:avLst/>
          </a:prstGeom>
          <a:noFill/>
          <a:ln/>
        </p:spPr>
        <p:txBody>
          <a:bodyPr wrap="square" lIns="0" tIns="0" rIns="0" bIns="0" rtlCol="0" anchor="t"/>
          <a:lstStyle/>
          <a:p>
            <a:pPr algn="ctr" indent="0" marL="0">
              <a:buNone/>
            </a:pPr>
            <a:r>
              <a:rPr lang="en-US" sz="1800" u="sng" dirty="0">
                <a:solidFill>
                  <a:schemeClr val="accent2"/>
                </a:solidFill>
                <a:hlinkClick r:id="rId3" invalidUrl="" action="" tgtFrame="" tooltip="Results, simulation, figures" history="1" highlightClick="0" endSnd="0">
                  <a:extLst>
                    <a:ext uri="{A12FA001-AC4F-418D-AE19-62706E023703}">
                      <ahyp:hlinkClr xmlns:ahyp="http://schemas.microsoft.com/office/drawing/2018/hyperlinkcolor" val="tx"/>
                    </a:ext>
                  </a:extLst>
                </a:hlinkClick>
              </a:rPr>
              <a:t>github.com/fechachris4/msc_project</a:t>
            </a:r>
            <a:endParaRPr lang="en-US" sz="1800" dirty="0"/>
          </a:p>
        </p:txBody>
      </p:sp>
      <p:sp>
        <p:nvSpPr>
          <p:cNvPr id="7" name="QR card 2"/>
          <p:cNvSpPr/>
          <p:nvPr/>
        </p:nvSpPr>
        <p:spPr>
          <a:xfrm>
            <a:off x="7696048" y="2148840"/>
            <a:ext cx="2286000" cy="2286000"/>
          </a:xfrm>
          <a:prstGeom prst="roundRect">
            <a:avLst>
              <a:gd name="adj" fmla="val 5600"/>
            </a:avLst>
          </a:prstGeom>
          <a:solidFill>
            <a:schemeClr val="bg1"/>
          </a:solidFill>
          <a:ln/>
        </p:spPr>
      </p:sp>
      <p:pic>
        <p:nvPicPr>
          <p:cNvPr id="8" name="QR github.com/fechachris4/HumanSL_MAIN" descr="QR code for https://github.com/fechachris4/HumanSL_MAIN">
            <a:hlinkClick r:id="rId5" tooltip="github.com/fechachris4/HumanSL_MAIN"/>
          </p:cNvPr>
          <p:cNvPicPr>
            <a:picLocks noChangeAspect="1"/>
          </p:cNvPicPr>
          <p:nvPr/>
        </p:nvPicPr>
        <p:blipFill>
          <a:blip r:embed="rId4"/>
          <a:stretch>
            <a:fillRect/>
          </a:stretch>
        </p:blipFill>
        <p:spPr>
          <a:xfrm>
            <a:off x="7805776" y="2258568"/>
            <a:ext cx="2066544" cy="2066544"/>
          </a:xfrm>
          <a:prstGeom prst="rect">
            <a:avLst/>
          </a:prstGeom>
        </p:spPr>
      </p:pic>
      <p:sp>
        <p:nvSpPr>
          <p:cNvPr id="9" name="Text 5"/>
          <p:cNvSpPr txBox="1"/>
          <p:nvPr/>
        </p:nvSpPr>
        <p:spPr>
          <a:xfrm>
            <a:off x="6461608" y="4572000"/>
            <a:ext cx="4754880" cy="384048"/>
          </a:xfrm>
          <a:prstGeom prst="rect">
            <a:avLst/>
          </a:prstGeom>
          <a:noFill/>
          <a:ln/>
        </p:spPr>
        <p:txBody>
          <a:bodyPr wrap="square" lIns="0" tIns="0" rIns="0" bIns="0" rtlCol="0" anchor="t"/>
          <a:lstStyle/>
          <a:p>
            <a:pPr algn="ctr" indent="0" marL="0">
              <a:buNone/>
            </a:pPr>
            <a:r>
              <a:rPr lang="en-US" sz="2000" b="1" dirty="0">
                <a:solidFill>
                  <a:schemeClr val="bg1"/>
                </a:solidFill>
              </a:rPr>
              <a:t>C++ real-time controller</a:t>
            </a:r>
            <a:endParaRPr lang="en-US" sz="2000" dirty="0"/>
          </a:p>
        </p:txBody>
      </p:sp>
      <p:sp>
        <p:nvSpPr>
          <p:cNvPr id="10" name="Text 6"/>
          <p:cNvSpPr txBox="1"/>
          <p:nvPr/>
        </p:nvSpPr>
        <p:spPr>
          <a:xfrm>
            <a:off x="6461608" y="4983480"/>
            <a:ext cx="4754880" cy="347472"/>
          </a:xfrm>
          <a:prstGeom prst="rect">
            <a:avLst/>
          </a:prstGeom>
          <a:noFill/>
          <a:ln/>
        </p:spPr>
        <p:txBody>
          <a:bodyPr wrap="square" lIns="0" tIns="0" rIns="0" bIns="0" rtlCol="0" anchor="t"/>
          <a:lstStyle/>
          <a:p>
            <a:pPr algn="ctr" indent="0" marL="0">
              <a:buNone/>
            </a:pPr>
            <a:r>
              <a:rPr lang="en-US" sz="1800" u="sng" dirty="0">
                <a:solidFill>
                  <a:schemeClr val="accent2"/>
                </a:solidFill>
                <a:hlinkClick r:id="rId6" invalidUrl="" action="" tgtFrame="" tooltip="C++ real-time controller" history="1" highlightClick="0" endSnd="0">
                  <a:extLst>
                    <a:ext uri="{A12FA001-AC4F-418D-AE19-62706E023703}">
                      <ahyp:hlinkClr xmlns:ahyp="http://schemas.microsoft.com/office/drawing/2018/hyperlinkcolor" val="tx"/>
                    </a:ext>
                  </a:extLst>
                </a:hlinkClick>
              </a:rPr>
              <a:t>github.com/fechachris4/HumanSL_MAIN</a:t>
            </a:r>
            <a:endParaRPr lang="en-US" sz="1800" dirty="0"/>
          </a:p>
        </p:txBody>
      </p:sp>
      <p:sp>
        <p:nvSpPr>
          <p:cNvPr id="11" name="Email"/>
          <p:cNvSpPr txBox="1"/>
          <p:nvPr/>
        </p:nvSpPr>
        <p:spPr>
          <a:xfrm>
            <a:off x="548640" y="5669280"/>
            <a:ext cx="11094415" cy="411480"/>
          </a:xfrm>
          <a:prstGeom prst="rect">
            <a:avLst/>
          </a:prstGeom>
          <a:noFill/>
          <a:ln/>
        </p:spPr>
        <p:txBody>
          <a:bodyPr wrap="square" lIns="0" tIns="0" rIns="0" bIns="0" rtlCol="0" anchor="t"/>
          <a:lstStyle/>
          <a:p>
            <a:pPr algn="ctr" indent="0" marL="0">
              <a:buNone/>
            </a:pPr>
            <a:r>
              <a:rPr lang="en-US" sz="2200" b="1" u="sng" dirty="0">
                <a:solidFill>
                  <a:schemeClr val="bg1"/>
                </a:solidFill>
                <a:hlinkClick r:id="rId7" invalidUrl="" action="" tgtFrame="" tooltip="" history="1" highlightClick="0" endSnd="0">
                  <a:extLst>
                    <a:ext uri="{A12FA001-AC4F-418D-AE19-62706E023703}">
                      <ahyp:hlinkClr xmlns:ahyp="http://schemas.microsoft.com/office/drawing/2018/hyperlinkcolor" val="tx"/>
                    </a:ext>
                  </a:extLst>
                </a:hlinkClick>
              </a:rPr>
              <a:t>fecha412@gmail.com</a:t>
            </a:r>
            <a:endParaRPr lang="en-US" sz="2200" dirty="0"/>
          </a:p>
        </p:txBody>
      </p:sp>
    </p:spTree>
  </p:cSld>
  <p:clrMapOvr>
    <a:masterClrMapping/>
  </p:clrMapOvr>
</p:sld>
</file>

<file path=ppt/theme/theme1.xml><?xml version="1.0" encoding="utf-8"?>
<a:theme xmlns:a="http://schemas.openxmlformats.org/drawingml/2006/main" name="Imperial Lookalike">
  <a:themeElements>
    <a:clrScheme name="Imperial Lookalike">
      <a:dk1>
        <a:srgbClr val="1B2633"/>
      </a:dk1>
      <a:lt1>
        <a:srgbClr val="FFFFFF"/>
      </a:lt1>
      <a:dk2>
        <a:srgbClr val="002147"/>
      </a:dk2>
      <a:lt2>
        <a:srgbClr val="EBEEEE"/>
      </a:lt2>
      <a:accent1>
        <a:srgbClr val="003E74"/>
      </a:accent1>
      <a:accent2>
        <a:srgbClr val="0091D4"/>
      </a:accent2>
      <a:accent3>
        <a:srgbClr val="D24000"/>
      </a:accent3>
      <a:accent4>
        <a:srgbClr val="5B6770"/>
      </a:accent4>
      <a:accent5>
        <a:srgbClr val="DCEEF8"/>
      </a:accent5>
      <a:accent6>
        <a:srgbClr val="9AA3A8"/>
      </a:accent6>
      <a:hlink>
        <a:srgbClr val="0091D4"/>
      </a:hlink>
      <a:folHlink>
        <a:srgbClr val="003E74"/>
      </a:folHlink>
    </a:clrScheme>
    <a:fontScheme name="Imperial Lookalik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Imperial College London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World-Stable Supernumerary Effectors for Human Augmentation Under Locomotion-Scale Base Motion</dc:title>
  <dc:subject>MSc project talk</dc:subject>
  <dc:creator>Christian Akabueze</dc:creator>
  <cp:lastModifiedBy>Christian Akabueze</cp:lastModifiedBy>
  <cp:revision>1</cp:revision>
  <dcterms:created xsi:type="dcterms:W3CDTF">2026-10-12T06:19:58Z</dcterms:created>
  <dcterms:modified xsi:type="dcterms:W3CDTF">2026-10-12T06:19:58Z</dcterms:modified>
</cp:coreProperties>
</file>